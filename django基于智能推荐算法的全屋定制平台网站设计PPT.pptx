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2" d="100"/>
          <a:sy n="92" d="100"/>
        </p:scale>
        <p:origin x="156"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4/8/2025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PTIST_MASTER">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8" Type="http://schemas.openxmlformats.org/officeDocument/2006/relationships/tags" Target="../tags/tag8.xml"/><Relationship Id="rId13" Type="http://schemas.openxmlformats.org/officeDocument/2006/relationships/tags" Target="../tags/tag13.xml"/><Relationship Id="rId18" Type="http://schemas.openxmlformats.org/officeDocument/2006/relationships/image" Target="../media/image5.png"/><Relationship Id="rId3" Type="http://schemas.openxmlformats.org/officeDocument/2006/relationships/tags" Target="../tags/tag3.xml"/><Relationship Id="rId7" Type="http://schemas.openxmlformats.org/officeDocument/2006/relationships/tags" Target="../tags/tag7.xml"/><Relationship Id="rId12" Type="http://schemas.openxmlformats.org/officeDocument/2006/relationships/tags" Target="../tags/tag12.xml"/><Relationship Id="rId17" Type="http://schemas.openxmlformats.org/officeDocument/2006/relationships/notesSlide" Target="../notesSlides/notesSlide6.xml"/><Relationship Id="rId2" Type="http://schemas.openxmlformats.org/officeDocument/2006/relationships/tags" Target="../tags/tag2.xml"/><Relationship Id="rId16" Type="http://schemas.openxmlformats.org/officeDocument/2006/relationships/slideLayout" Target="../slideLayouts/slideLayout1.xml"/><Relationship Id="rId20" Type="http://schemas.openxmlformats.org/officeDocument/2006/relationships/image" Target="../media/image9.png"/><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tags" Target="../tags/tag11.xml"/><Relationship Id="rId5" Type="http://schemas.openxmlformats.org/officeDocument/2006/relationships/tags" Target="../tags/tag5.xml"/><Relationship Id="rId15" Type="http://schemas.openxmlformats.org/officeDocument/2006/relationships/tags" Target="../tags/tag15.xml"/><Relationship Id="rId10" Type="http://schemas.openxmlformats.org/officeDocument/2006/relationships/tags" Target="../tags/tag10.xml"/><Relationship Id="rId19" Type="http://schemas.openxmlformats.org/officeDocument/2006/relationships/image" Target="../media/image8.png"/><Relationship Id="rId4" Type="http://schemas.openxmlformats.org/officeDocument/2006/relationships/tags" Target="../tags/tag4.xml"/><Relationship Id="rId9" Type="http://schemas.openxmlformats.org/officeDocument/2006/relationships/tags" Target="../tags/tag9.xml"/><Relationship Id="rId14" Type="http://schemas.openxmlformats.org/officeDocument/2006/relationships/tags" Target="../tags/tag14.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12.jpeg"/></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14.jpeg"/><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1.xml"/><Relationship Id="rId5" Type="http://schemas.openxmlformats.org/officeDocument/2006/relationships/image" Target="../media/image16.png"/><Relationship Id="rId4" Type="http://schemas.openxmlformats.org/officeDocument/2006/relationships/image" Target="../media/image15.png"/></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17.jpeg"/></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18.jpeg"/></Relationships>
</file>

<file path=ppt/slides/_rels/slide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9.xml"/><Relationship Id="rId1" Type="http://schemas.openxmlformats.org/officeDocument/2006/relationships/slideLayout" Target="../slideLayouts/slideLayout1.xml"/><Relationship Id="rId5" Type="http://schemas.openxmlformats.org/officeDocument/2006/relationships/image" Target="../media/image16.png"/><Relationship Id="rId4" Type="http://schemas.openxmlformats.org/officeDocument/2006/relationships/image" Target="../media/image15.png"/></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2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image" Target="../media/image19.jpeg"/></Relationships>
</file>

<file path=ppt/slides/_rels/slide2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3.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2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4.xml"/><Relationship Id="rId1" Type="http://schemas.openxmlformats.org/officeDocument/2006/relationships/slideLayout" Target="../slideLayouts/slideLayout1.xml"/><Relationship Id="rId5" Type="http://schemas.openxmlformats.org/officeDocument/2006/relationships/image" Target="../media/image21.png"/><Relationship Id="rId4" Type="http://schemas.openxmlformats.org/officeDocument/2006/relationships/image" Target="../media/image20.png"/></Relationships>
</file>

<file path=ppt/slides/_rels/slide2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5.xml"/><Relationship Id="rId1" Type="http://schemas.openxmlformats.org/officeDocument/2006/relationships/slideLayout" Target="../slideLayouts/slideLayout1.xml"/><Relationship Id="rId4" Type="http://schemas.openxmlformats.org/officeDocument/2006/relationships/image" Target="../media/image22.jpeg"/></Relationships>
</file>

<file path=ppt/slides/_rels/slide2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6.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2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7.xml"/><Relationship Id="rId1" Type="http://schemas.openxmlformats.org/officeDocument/2006/relationships/slideLayout" Target="../slideLayouts/slideLayout1.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2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8.xml"/><Relationship Id="rId1" Type="http://schemas.openxmlformats.org/officeDocument/2006/relationships/slideLayout" Target="../slideLayouts/slideLayout1.xml"/><Relationship Id="rId4" Type="http://schemas.openxmlformats.org/officeDocument/2006/relationships/image" Target="../media/image26.jpeg"/></Relationships>
</file>

<file path=ppt/slides/_rels/slide2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9.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30.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image" Target="../media/image5.png"/><Relationship Id="rId7" Type="http://schemas.openxmlformats.org/officeDocument/2006/relationships/image" Target="../media/image30.png"/><Relationship Id="rId2" Type="http://schemas.openxmlformats.org/officeDocument/2006/relationships/notesSlide" Target="../notesSlides/notesSlide30.xml"/><Relationship Id="rId1" Type="http://schemas.openxmlformats.org/officeDocument/2006/relationships/slideLayout" Target="../slideLayouts/slideLayout1.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3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1.xml"/><Relationship Id="rId1" Type="http://schemas.openxmlformats.org/officeDocument/2006/relationships/slideLayout" Target="../slideLayouts/slideLayout1.xml"/><Relationship Id="rId4" Type="http://schemas.openxmlformats.org/officeDocument/2006/relationships/image" Target="../media/image32.jpeg"/></Relationships>
</file>

<file path=ppt/slides/_rels/slide3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2.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3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3.xml"/><Relationship Id="rId1" Type="http://schemas.openxmlformats.org/officeDocument/2006/relationships/slideLayout" Target="../slideLayouts/slideLayout1.xml"/><Relationship Id="rId6" Type="http://schemas.openxmlformats.org/officeDocument/2006/relationships/image" Target="../media/image35.jpeg"/><Relationship Id="rId5" Type="http://schemas.openxmlformats.org/officeDocument/2006/relationships/image" Target="../media/image34.jpeg"/><Relationship Id="rId4" Type="http://schemas.openxmlformats.org/officeDocument/2006/relationships/image" Target="../media/image33.jpeg"/></Relationships>
</file>

<file path=ppt/slides/_rels/slide3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4.xml"/><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10.png"/></Relationships>
</file>

<file path=ppt/slides/_rels/slide3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5.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36.xml.rels><?xml version="1.0" encoding="UTF-8" standalone="yes"?>
<Relationships xmlns="http://schemas.openxmlformats.org/package/2006/relationships"><Relationship Id="rId8" Type="http://schemas.openxmlformats.org/officeDocument/2006/relationships/image" Target="../media/image40.jpeg"/><Relationship Id="rId3" Type="http://schemas.openxmlformats.org/officeDocument/2006/relationships/image" Target="../media/image5.png"/><Relationship Id="rId7" Type="http://schemas.openxmlformats.org/officeDocument/2006/relationships/image" Target="../media/image39.png"/><Relationship Id="rId2" Type="http://schemas.openxmlformats.org/officeDocument/2006/relationships/notesSlide" Target="../notesSlides/notesSlide36.xml"/><Relationship Id="rId1" Type="http://schemas.openxmlformats.org/officeDocument/2006/relationships/slideLayout" Target="../slideLayouts/slideLayout1.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36.png"/></Relationships>
</file>

<file path=ppt/slides/_rels/slide3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7.xml"/><Relationship Id="rId1" Type="http://schemas.openxmlformats.org/officeDocument/2006/relationships/slideLayout" Target="../slideLayouts/slideLayout1.xml"/><Relationship Id="rId4" Type="http://schemas.openxmlformats.org/officeDocument/2006/relationships/image" Target="../media/image41.jpeg"/></Relationships>
</file>

<file path=ppt/slides/_rels/slide3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271145" y="1028700"/>
            <a:ext cx="4448810" cy="1444625"/>
          </a:xfrm>
          <a:prstGeom prst="rect">
            <a:avLst/>
          </a:prstGeom>
          <a:noFill/>
        </p:spPr>
        <p:txBody>
          <a:bodyPr wrap="square" lIns="95250" tIns="95250" rIns="95250" bIns="95250" rtlCol="0" anchor="t"/>
          <a:lstStyle/>
          <a:p>
            <a:pPr marL="0" indent="0">
              <a:lnSpc>
                <a:spcPct val="100000"/>
              </a:lnSpc>
              <a:spcBef>
                <a:spcPts val="375"/>
              </a:spcBef>
              <a:buNone/>
            </a:pPr>
            <a:r>
              <a:rPr lang="zh-CN" altLang="en-US" sz="2800" b="1" kern="0" spc="144"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基于智能推荐算法的全屋定制平台网站设计</a:t>
            </a:r>
            <a:endParaRPr lang="en-US" sz="2800" dirty="0"/>
          </a:p>
        </p:txBody>
      </p:sp>
      <p:sp>
        <p:nvSpPr>
          <p:cNvPr id="4" name="Text 2"/>
          <p:cNvSpPr/>
          <p:nvPr/>
        </p:nvSpPr>
        <p:spPr>
          <a:xfrm>
            <a:off x="474671" y="4105403"/>
            <a:ext cx="1991011" cy="457200"/>
          </a:xfrm>
          <a:prstGeom prst="rect">
            <a:avLst/>
          </a:prstGeom>
          <a:noFill/>
        </p:spPr>
        <p:txBody>
          <a:bodyPr wrap="square" lIns="95250" tIns="95250" rIns="95250" bIns="95250" rtlCol="0" anchor="t"/>
          <a:lstStyle/>
          <a:p>
            <a:pPr marL="0" indent="0">
              <a:lnSpc>
                <a:spcPct val="113000"/>
              </a:lnSpc>
              <a:spcBef>
                <a:spcPts val="375"/>
              </a:spcBef>
              <a:buNone/>
            </a:pPr>
            <a:r>
              <a:rPr lang="en-US" sz="1295" dirty="0">
                <a:solidFill>
                  <a:srgbClr val="FFFFFF">
                    <a:alpha val="40000"/>
                  </a:srgbClr>
                </a:solidFill>
                <a:latin typeface="微软雅黑" panose="020B0503020204020204" pitchFamily="34" charset="-122"/>
                <a:ea typeface="微软雅黑" panose="020B0503020204020204" pitchFamily="34" charset="-122"/>
                <a:cs typeface="微软雅黑" panose="020B0503020204020204" pitchFamily="34" charset="-120"/>
              </a:rPr>
              <a:t>汇报人: </a:t>
            </a:r>
            <a:endParaRPr lang="en-US" sz="1440" dirty="0"/>
          </a:p>
        </p:txBody>
      </p:sp>
      <p:sp>
        <p:nvSpPr>
          <p:cNvPr id="5" name="Text 3"/>
          <p:cNvSpPr/>
          <p:nvPr/>
        </p:nvSpPr>
        <p:spPr>
          <a:xfrm>
            <a:off x="474671" y="571772"/>
            <a:ext cx="2977286" cy="457200"/>
          </a:xfrm>
          <a:prstGeom prst="rect">
            <a:avLst/>
          </a:prstGeom>
          <a:noFill/>
        </p:spPr>
        <p:txBody>
          <a:bodyPr wrap="square" lIns="95250" tIns="95250" rIns="95250" bIns="95250" rtlCol="0" anchor="t"/>
          <a:lstStyle/>
          <a:p>
            <a:pPr marL="0" indent="0">
              <a:lnSpc>
                <a:spcPct val="113000"/>
              </a:lnSpc>
              <a:spcBef>
                <a:spcPts val="375"/>
              </a:spcBef>
              <a:buNone/>
            </a:pPr>
            <a:endParaRPr lang="en-US" sz="144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796641" y="1155230"/>
            <a:ext cx="2076092" cy="704088"/>
          </a:xfrm>
          <a:prstGeom prst="rect">
            <a:avLst/>
          </a:prstGeom>
          <a:noFill/>
        </p:spPr>
        <p:txBody>
          <a:bodyPr wrap="square" lIns="95250" tIns="95250" rIns="95250" bIns="95250" rtlCol="0" anchor="t"/>
          <a:lstStyle/>
          <a:p>
            <a:pPr marL="0" indent="0">
              <a:lnSpc>
                <a:spcPct val="113000"/>
              </a:lnSpc>
              <a:spcBef>
                <a:spcPts val="375"/>
              </a:spcBef>
              <a:buNone/>
            </a:pPr>
            <a:r>
              <a:rPr lang="en-US" sz="2735" b="1" dirty="0">
                <a:solidFill>
                  <a:srgbClr val="272245"/>
                </a:solidFill>
                <a:latin typeface="微软雅黑" panose="020B0503020204020204" pitchFamily="34" charset="-122"/>
                <a:ea typeface="微软雅黑" panose="020B0503020204020204" pitchFamily="34" charset="-122"/>
                <a:cs typeface="微软雅黑" panose="020B0503020204020204" pitchFamily="34" charset="-120"/>
              </a:rPr>
              <a:t>目录</a:t>
            </a:r>
            <a:endParaRPr lang="en-US" sz="1440" dirty="0"/>
          </a:p>
        </p:txBody>
      </p:sp>
      <p:sp>
        <p:nvSpPr>
          <p:cNvPr id="3" name="Text 1"/>
          <p:cNvSpPr/>
          <p:nvPr/>
        </p:nvSpPr>
        <p:spPr>
          <a:xfrm>
            <a:off x="1297460" y="2318619"/>
            <a:ext cx="3017520" cy="457200"/>
          </a:xfrm>
          <a:prstGeom prst="rect">
            <a:avLst/>
          </a:prstGeom>
          <a:noFill/>
        </p:spPr>
        <p:txBody>
          <a:bodyPr wrap="square" lIns="95250" tIns="95250" rIns="95250" bIns="95250" rtlCol="0" anchor="t"/>
          <a:lstStyle/>
          <a:p>
            <a:pPr marL="0" indent="0">
              <a:lnSpc>
                <a:spcPct val="113000"/>
              </a:lnSpc>
              <a:spcBef>
                <a:spcPts val="375"/>
              </a:spcBef>
              <a:buNone/>
            </a:pPr>
            <a:r>
              <a:rPr lang="en-US" sz="1295" dirty="0">
                <a:solidFill>
                  <a:srgbClr val="272245"/>
                </a:solidFill>
                <a:latin typeface="微软雅黑" panose="020B0503020204020204" pitchFamily="34" charset="-122"/>
                <a:ea typeface="微软雅黑" panose="020B0503020204020204" pitchFamily="34" charset="-122"/>
                <a:cs typeface="微软雅黑" panose="020B0503020204020204" pitchFamily="34" charset="-120"/>
              </a:rPr>
              <a:t>全屋定制平台概述</a:t>
            </a:r>
            <a:endParaRPr lang="en-US" sz="1440" dirty="0"/>
          </a:p>
        </p:txBody>
      </p:sp>
      <p:sp>
        <p:nvSpPr>
          <p:cNvPr id="4" name="Text 2"/>
          <p:cNvSpPr/>
          <p:nvPr/>
        </p:nvSpPr>
        <p:spPr>
          <a:xfrm>
            <a:off x="684812" y="2236323"/>
            <a:ext cx="713232" cy="594360"/>
          </a:xfrm>
          <a:prstGeom prst="rect">
            <a:avLst/>
          </a:prstGeom>
          <a:noFill/>
        </p:spPr>
        <p:txBody>
          <a:bodyPr wrap="square" lIns="95250" tIns="95250" rIns="95250" bIns="95250" rtlCol="0" anchor="t"/>
          <a:lstStyle/>
          <a:p>
            <a:pPr marL="0" indent="0" algn="ctr">
              <a:lnSpc>
                <a:spcPct val="113000"/>
              </a:lnSpc>
              <a:spcBef>
                <a:spcPts val="375"/>
              </a:spcBef>
              <a:buNone/>
            </a:pPr>
            <a:r>
              <a:rPr lang="en-US" sz="2160" b="1" dirty="0">
                <a:solidFill>
                  <a:srgbClr val="2A5899"/>
                </a:solidFill>
                <a:latin typeface="微软雅黑" panose="020B0503020204020204" pitchFamily="34" charset="-122"/>
                <a:ea typeface="微软雅黑" panose="020B0503020204020204" pitchFamily="34" charset="-122"/>
                <a:cs typeface="微软雅黑" panose="020B0503020204020204" pitchFamily="34" charset="-120"/>
              </a:rPr>
              <a:t>01</a:t>
            </a:r>
            <a:endParaRPr lang="en-US" sz="1440" dirty="0"/>
          </a:p>
        </p:txBody>
      </p:sp>
      <p:sp>
        <p:nvSpPr>
          <p:cNvPr id="5" name="Text 3"/>
          <p:cNvSpPr/>
          <p:nvPr/>
        </p:nvSpPr>
        <p:spPr>
          <a:xfrm>
            <a:off x="4422077" y="2318619"/>
            <a:ext cx="3017520" cy="457200"/>
          </a:xfrm>
          <a:prstGeom prst="rect">
            <a:avLst/>
          </a:prstGeom>
          <a:noFill/>
        </p:spPr>
        <p:txBody>
          <a:bodyPr wrap="square" lIns="95250" tIns="95250" rIns="95250" bIns="95250" rtlCol="0" anchor="t"/>
          <a:lstStyle/>
          <a:p>
            <a:pPr marL="0" indent="0">
              <a:lnSpc>
                <a:spcPct val="113000"/>
              </a:lnSpc>
              <a:spcBef>
                <a:spcPts val="375"/>
              </a:spcBef>
              <a:buNone/>
            </a:pPr>
            <a:r>
              <a:rPr lang="en-US" sz="1295" dirty="0">
                <a:solidFill>
                  <a:srgbClr val="272245"/>
                </a:solidFill>
                <a:latin typeface="微软雅黑" panose="020B0503020204020204" pitchFamily="34" charset="-122"/>
                <a:ea typeface="微软雅黑" panose="020B0503020204020204" pitchFamily="34" charset="-122"/>
                <a:cs typeface="微软雅黑" panose="020B0503020204020204" pitchFamily="34" charset="-120"/>
              </a:rPr>
              <a:t>关键技术介绍</a:t>
            </a:r>
            <a:endParaRPr lang="en-US" sz="1440" dirty="0"/>
          </a:p>
        </p:txBody>
      </p:sp>
      <p:sp>
        <p:nvSpPr>
          <p:cNvPr id="6" name="Text 4"/>
          <p:cNvSpPr/>
          <p:nvPr/>
        </p:nvSpPr>
        <p:spPr>
          <a:xfrm>
            <a:off x="3809429" y="2236323"/>
            <a:ext cx="713232" cy="594360"/>
          </a:xfrm>
          <a:prstGeom prst="rect">
            <a:avLst/>
          </a:prstGeom>
          <a:noFill/>
        </p:spPr>
        <p:txBody>
          <a:bodyPr wrap="square" lIns="95250" tIns="95250" rIns="95250" bIns="95250" rtlCol="0" anchor="t"/>
          <a:lstStyle/>
          <a:p>
            <a:pPr marL="0" indent="0" algn="ctr">
              <a:lnSpc>
                <a:spcPct val="113000"/>
              </a:lnSpc>
              <a:spcBef>
                <a:spcPts val="375"/>
              </a:spcBef>
              <a:buNone/>
            </a:pPr>
            <a:r>
              <a:rPr lang="en-US" sz="2160" b="1" dirty="0">
                <a:solidFill>
                  <a:srgbClr val="2A5899"/>
                </a:solidFill>
                <a:latin typeface="微软雅黑" panose="020B0503020204020204" pitchFamily="34" charset="-122"/>
                <a:ea typeface="微软雅黑" panose="020B0503020204020204" pitchFamily="34" charset="-122"/>
                <a:cs typeface="微软雅黑" panose="020B0503020204020204" pitchFamily="34" charset="-120"/>
              </a:rPr>
              <a:t>02</a:t>
            </a:r>
            <a:endParaRPr lang="en-US" sz="1440" dirty="0"/>
          </a:p>
        </p:txBody>
      </p:sp>
      <p:sp>
        <p:nvSpPr>
          <p:cNvPr id="7" name="Text 5"/>
          <p:cNvSpPr/>
          <p:nvPr/>
        </p:nvSpPr>
        <p:spPr>
          <a:xfrm>
            <a:off x="1297460" y="2915040"/>
            <a:ext cx="3017520" cy="457200"/>
          </a:xfrm>
          <a:prstGeom prst="rect">
            <a:avLst/>
          </a:prstGeom>
          <a:noFill/>
        </p:spPr>
        <p:txBody>
          <a:bodyPr wrap="square" lIns="95250" tIns="95250" rIns="95250" bIns="95250" rtlCol="0" anchor="t"/>
          <a:lstStyle/>
          <a:p>
            <a:pPr marL="0" indent="0">
              <a:lnSpc>
                <a:spcPct val="113000"/>
              </a:lnSpc>
              <a:spcBef>
                <a:spcPts val="375"/>
              </a:spcBef>
              <a:buNone/>
            </a:pPr>
            <a:r>
              <a:rPr lang="en-US" sz="1295" dirty="0">
                <a:solidFill>
                  <a:srgbClr val="272245"/>
                </a:solidFill>
                <a:latin typeface="微软雅黑" panose="020B0503020204020204" pitchFamily="34" charset="-122"/>
                <a:ea typeface="微软雅黑" panose="020B0503020204020204" pitchFamily="34" charset="-122"/>
                <a:cs typeface="微软雅黑" panose="020B0503020204020204" pitchFamily="34" charset="-120"/>
              </a:rPr>
              <a:t>系统分析与设计</a:t>
            </a:r>
            <a:endParaRPr lang="en-US" sz="1440" dirty="0"/>
          </a:p>
        </p:txBody>
      </p:sp>
      <p:sp>
        <p:nvSpPr>
          <p:cNvPr id="8" name="Text 6"/>
          <p:cNvSpPr/>
          <p:nvPr/>
        </p:nvSpPr>
        <p:spPr>
          <a:xfrm>
            <a:off x="684812" y="2832744"/>
            <a:ext cx="713232" cy="594360"/>
          </a:xfrm>
          <a:prstGeom prst="rect">
            <a:avLst/>
          </a:prstGeom>
          <a:noFill/>
        </p:spPr>
        <p:txBody>
          <a:bodyPr wrap="square" lIns="95250" tIns="95250" rIns="95250" bIns="95250" rtlCol="0" anchor="t"/>
          <a:lstStyle/>
          <a:p>
            <a:pPr marL="0" indent="0" algn="ctr">
              <a:lnSpc>
                <a:spcPct val="113000"/>
              </a:lnSpc>
              <a:spcBef>
                <a:spcPts val="375"/>
              </a:spcBef>
              <a:buNone/>
            </a:pPr>
            <a:r>
              <a:rPr lang="en-US" sz="2160" b="1" dirty="0">
                <a:solidFill>
                  <a:srgbClr val="2A5899"/>
                </a:solidFill>
                <a:latin typeface="微软雅黑" panose="020B0503020204020204" pitchFamily="34" charset="-122"/>
                <a:ea typeface="微软雅黑" panose="020B0503020204020204" pitchFamily="34" charset="-122"/>
                <a:cs typeface="微软雅黑" panose="020B0503020204020204" pitchFamily="34" charset="-120"/>
              </a:rPr>
              <a:t>03</a:t>
            </a:r>
            <a:endParaRPr lang="en-US" sz="1440" dirty="0"/>
          </a:p>
        </p:txBody>
      </p:sp>
      <p:sp>
        <p:nvSpPr>
          <p:cNvPr id="9" name="Text 7"/>
          <p:cNvSpPr/>
          <p:nvPr/>
        </p:nvSpPr>
        <p:spPr>
          <a:xfrm>
            <a:off x="4422077" y="2915040"/>
            <a:ext cx="3017520" cy="457200"/>
          </a:xfrm>
          <a:prstGeom prst="rect">
            <a:avLst/>
          </a:prstGeom>
          <a:noFill/>
        </p:spPr>
        <p:txBody>
          <a:bodyPr wrap="square" lIns="95250" tIns="95250" rIns="95250" bIns="95250" rtlCol="0" anchor="t"/>
          <a:lstStyle/>
          <a:p>
            <a:pPr marL="0" indent="0">
              <a:lnSpc>
                <a:spcPct val="113000"/>
              </a:lnSpc>
              <a:spcBef>
                <a:spcPts val="375"/>
              </a:spcBef>
              <a:buNone/>
            </a:pPr>
            <a:r>
              <a:rPr lang="en-US" sz="1295" dirty="0">
                <a:solidFill>
                  <a:srgbClr val="272245"/>
                </a:solidFill>
                <a:latin typeface="微软雅黑" panose="020B0503020204020204" pitchFamily="34" charset="-122"/>
                <a:ea typeface="微软雅黑" panose="020B0503020204020204" pitchFamily="34" charset="-122"/>
                <a:cs typeface="微软雅黑" panose="020B0503020204020204" pitchFamily="34" charset="-120"/>
              </a:rPr>
              <a:t>个性化推荐优势</a:t>
            </a:r>
            <a:endParaRPr lang="en-US" sz="1440" dirty="0"/>
          </a:p>
        </p:txBody>
      </p:sp>
      <p:sp>
        <p:nvSpPr>
          <p:cNvPr id="10" name="Text 8"/>
          <p:cNvSpPr/>
          <p:nvPr/>
        </p:nvSpPr>
        <p:spPr>
          <a:xfrm>
            <a:off x="3809429" y="2832744"/>
            <a:ext cx="713232" cy="594360"/>
          </a:xfrm>
          <a:prstGeom prst="rect">
            <a:avLst/>
          </a:prstGeom>
          <a:noFill/>
        </p:spPr>
        <p:txBody>
          <a:bodyPr wrap="square" lIns="95250" tIns="95250" rIns="95250" bIns="95250" rtlCol="0" anchor="t"/>
          <a:lstStyle/>
          <a:p>
            <a:pPr marL="0" indent="0" algn="ctr">
              <a:lnSpc>
                <a:spcPct val="113000"/>
              </a:lnSpc>
              <a:spcBef>
                <a:spcPts val="375"/>
              </a:spcBef>
              <a:buNone/>
            </a:pPr>
            <a:r>
              <a:rPr lang="en-US" sz="2160" b="1" dirty="0">
                <a:solidFill>
                  <a:srgbClr val="2A5899"/>
                </a:solidFill>
                <a:latin typeface="微软雅黑" panose="020B0503020204020204" pitchFamily="34" charset="-122"/>
                <a:ea typeface="微软雅黑" panose="020B0503020204020204" pitchFamily="34" charset="-122"/>
                <a:cs typeface="微软雅黑" panose="020B0503020204020204" pitchFamily="34" charset="-120"/>
              </a:rPr>
              <a:t>04</a:t>
            </a:r>
            <a:endParaRPr lang="en-US" sz="1440" dirty="0"/>
          </a:p>
        </p:txBody>
      </p:sp>
      <p:sp>
        <p:nvSpPr>
          <p:cNvPr id="11" name="Text 9"/>
          <p:cNvSpPr/>
          <p:nvPr/>
        </p:nvSpPr>
        <p:spPr>
          <a:xfrm>
            <a:off x="1297460" y="3511461"/>
            <a:ext cx="3017520" cy="457200"/>
          </a:xfrm>
          <a:prstGeom prst="rect">
            <a:avLst/>
          </a:prstGeom>
          <a:noFill/>
        </p:spPr>
        <p:txBody>
          <a:bodyPr wrap="square" lIns="95250" tIns="95250" rIns="95250" bIns="95250" rtlCol="0" anchor="t"/>
          <a:lstStyle/>
          <a:p>
            <a:pPr marL="0" indent="0">
              <a:lnSpc>
                <a:spcPct val="113000"/>
              </a:lnSpc>
              <a:spcBef>
                <a:spcPts val="375"/>
              </a:spcBef>
              <a:buNone/>
            </a:pPr>
            <a:r>
              <a:rPr lang="en-US" sz="1295" dirty="0">
                <a:solidFill>
                  <a:srgbClr val="272245"/>
                </a:solidFill>
                <a:latin typeface="微软雅黑" panose="020B0503020204020204" pitchFamily="34" charset="-122"/>
                <a:ea typeface="微软雅黑" panose="020B0503020204020204" pitchFamily="34" charset="-122"/>
                <a:cs typeface="微软雅黑" panose="020B0503020204020204" pitchFamily="34" charset="-120"/>
              </a:rPr>
              <a:t>国内外研究现状</a:t>
            </a:r>
            <a:endParaRPr lang="en-US" sz="1440" dirty="0"/>
          </a:p>
        </p:txBody>
      </p:sp>
      <p:sp>
        <p:nvSpPr>
          <p:cNvPr id="12" name="Text 10"/>
          <p:cNvSpPr/>
          <p:nvPr/>
        </p:nvSpPr>
        <p:spPr>
          <a:xfrm>
            <a:off x="684812" y="3429165"/>
            <a:ext cx="713232" cy="594360"/>
          </a:xfrm>
          <a:prstGeom prst="rect">
            <a:avLst/>
          </a:prstGeom>
          <a:noFill/>
        </p:spPr>
        <p:txBody>
          <a:bodyPr wrap="square" lIns="95250" tIns="95250" rIns="95250" bIns="95250" rtlCol="0" anchor="t"/>
          <a:lstStyle/>
          <a:p>
            <a:pPr marL="0" indent="0" algn="ctr">
              <a:lnSpc>
                <a:spcPct val="113000"/>
              </a:lnSpc>
              <a:spcBef>
                <a:spcPts val="375"/>
              </a:spcBef>
              <a:buNone/>
            </a:pPr>
            <a:r>
              <a:rPr lang="en-US" sz="2160" b="1" dirty="0">
                <a:solidFill>
                  <a:srgbClr val="2A5899"/>
                </a:solidFill>
                <a:latin typeface="微软雅黑" panose="020B0503020204020204" pitchFamily="34" charset="-122"/>
                <a:ea typeface="微软雅黑" panose="020B0503020204020204" pitchFamily="34" charset="-122"/>
                <a:cs typeface="微软雅黑" panose="020B0503020204020204" pitchFamily="34" charset="-120"/>
              </a:rPr>
              <a:t>05</a:t>
            </a:r>
            <a:endParaRPr lang="en-US" sz="1440" dirty="0"/>
          </a:p>
        </p:txBody>
      </p:sp>
      <p:sp>
        <p:nvSpPr>
          <p:cNvPr id="13" name="Text 11"/>
          <p:cNvSpPr/>
          <p:nvPr/>
        </p:nvSpPr>
        <p:spPr>
          <a:xfrm>
            <a:off x="4422077" y="3511461"/>
            <a:ext cx="3017520" cy="457200"/>
          </a:xfrm>
          <a:prstGeom prst="rect">
            <a:avLst/>
          </a:prstGeom>
          <a:noFill/>
        </p:spPr>
        <p:txBody>
          <a:bodyPr wrap="square" lIns="95250" tIns="95250" rIns="95250" bIns="95250" rtlCol="0" anchor="t"/>
          <a:lstStyle/>
          <a:p>
            <a:pPr marL="0" indent="0">
              <a:lnSpc>
                <a:spcPct val="113000"/>
              </a:lnSpc>
              <a:spcBef>
                <a:spcPts val="375"/>
              </a:spcBef>
              <a:buNone/>
            </a:pPr>
            <a:r>
              <a:rPr lang="en-US" sz="1295" dirty="0">
                <a:solidFill>
                  <a:srgbClr val="272245"/>
                </a:solidFill>
                <a:latin typeface="微软雅黑" panose="020B0503020204020204" pitchFamily="34" charset="-122"/>
                <a:ea typeface="微软雅黑" panose="020B0503020204020204" pitchFamily="34" charset="-122"/>
                <a:cs typeface="微软雅黑" panose="020B0503020204020204" pitchFamily="34" charset="-120"/>
              </a:rPr>
              <a:t>平台功能模块</a:t>
            </a:r>
            <a:endParaRPr lang="en-US" sz="1440" dirty="0"/>
          </a:p>
        </p:txBody>
      </p:sp>
      <p:sp>
        <p:nvSpPr>
          <p:cNvPr id="14" name="Text 12"/>
          <p:cNvSpPr/>
          <p:nvPr/>
        </p:nvSpPr>
        <p:spPr>
          <a:xfrm>
            <a:off x="3809429" y="3429165"/>
            <a:ext cx="713232" cy="594360"/>
          </a:xfrm>
          <a:prstGeom prst="rect">
            <a:avLst/>
          </a:prstGeom>
          <a:noFill/>
        </p:spPr>
        <p:txBody>
          <a:bodyPr wrap="square" lIns="95250" tIns="95250" rIns="95250" bIns="95250" rtlCol="0" anchor="t"/>
          <a:lstStyle/>
          <a:p>
            <a:pPr marL="0" indent="0" algn="ctr">
              <a:lnSpc>
                <a:spcPct val="113000"/>
              </a:lnSpc>
              <a:spcBef>
                <a:spcPts val="375"/>
              </a:spcBef>
              <a:buNone/>
            </a:pPr>
            <a:r>
              <a:rPr lang="en-US" sz="2160" b="1" dirty="0">
                <a:solidFill>
                  <a:srgbClr val="2A5899"/>
                </a:solidFill>
                <a:latin typeface="微软雅黑" panose="020B0503020204020204" pitchFamily="34" charset="-122"/>
                <a:ea typeface="微软雅黑" panose="020B0503020204020204" pitchFamily="34" charset="-122"/>
                <a:cs typeface="微软雅黑" panose="020B0503020204020204" pitchFamily="34" charset="-120"/>
              </a:rPr>
              <a:t>06</a:t>
            </a:r>
            <a:endParaRPr lang="en-US" sz="1440" dirty="0"/>
          </a:p>
        </p:txBody>
      </p:sp>
      <p:sp>
        <p:nvSpPr>
          <p:cNvPr id="15" name="Text 13"/>
          <p:cNvSpPr/>
          <p:nvPr/>
        </p:nvSpPr>
        <p:spPr>
          <a:xfrm>
            <a:off x="1297460" y="4107883"/>
            <a:ext cx="3017520" cy="457200"/>
          </a:xfrm>
          <a:prstGeom prst="rect">
            <a:avLst/>
          </a:prstGeom>
          <a:noFill/>
        </p:spPr>
        <p:txBody>
          <a:bodyPr wrap="square" lIns="95250" tIns="95250" rIns="95250" bIns="95250" rtlCol="0" anchor="t"/>
          <a:lstStyle/>
          <a:p>
            <a:pPr marL="0" indent="0">
              <a:lnSpc>
                <a:spcPct val="113000"/>
              </a:lnSpc>
              <a:spcBef>
                <a:spcPts val="375"/>
              </a:spcBef>
              <a:buNone/>
            </a:pPr>
            <a:r>
              <a:rPr lang="en-US" sz="1295" dirty="0">
                <a:solidFill>
                  <a:srgbClr val="272245"/>
                </a:solidFill>
                <a:latin typeface="微软雅黑" panose="020B0503020204020204" pitchFamily="34" charset="-122"/>
                <a:ea typeface="微软雅黑" panose="020B0503020204020204" pitchFamily="34" charset="-122"/>
                <a:cs typeface="微软雅黑" panose="020B0503020204020204" pitchFamily="34" charset="-120"/>
              </a:rPr>
              <a:t>管理系统开发</a:t>
            </a:r>
            <a:endParaRPr lang="en-US" sz="1440" dirty="0"/>
          </a:p>
        </p:txBody>
      </p:sp>
      <p:sp>
        <p:nvSpPr>
          <p:cNvPr id="16" name="Text 14"/>
          <p:cNvSpPr/>
          <p:nvPr/>
        </p:nvSpPr>
        <p:spPr>
          <a:xfrm>
            <a:off x="684812" y="4025587"/>
            <a:ext cx="713232" cy="594360"/>
          </a:xfrm>
          <a:prstGeom prst="rect">
            <a:avLst/>
          </a:prstGeom>
          <a:noFill/>
        </p:spPr>
        <p:txBody>
          <a:bodyPr wrap="square" lIns="95250" tIns="95250" rIns="95250" bIns="95250" rtlCol="0" anchor="t"/>
          <a:lstStyle/>
          <a:p>
            <a:pPr marL="0" indent="0" algn="ctr">
              <a:lnSpc>
                <a:spcPct val="113000"/>
              </a:lnSpc>
              <a:spcBef>
                <a:spcPts val="375"/>
              </a:spcBef>
              <a:buNone/>
            </a:pPr>
            <a:r>
              <a:rPr lang="en-US" sz="2160" b="1" dirty="0">
                <a:solidFill>
                  <a:srgbClr val="2A5899"/>
                </a:solidFill>
                <a:latin typeface="微软雅黑" panose="020B0503020204020204" pitchFamily="34" charset="-122"/>
                <a:ea typeface="微软雅黑" panose="020B0503020204020204" pitchFamily="34" charset="-122"/>
                <a:cs typeface="微软雅黑" panose="020B0503020204020204" pitchFamily="34" charset="-120"/>
              </a:rPr>
              <a:t>07</a:t>
            </a:r>
            <a:endParaRPr lang="en-US" sz="1440" dirty="0"/>
          </a:p>
        </p:txBody>
      </p:sp>
      <p:sp>
        <p:nvSpPr>
          <p:cNvPr id="17" name="Text 15"/>
          <p:cNvSpPr/>
          <p:nvPr/>
        </p:nvSpPr>
        <p:spPr>
          <a:xfrm>
            <a:off x="4422077" y="4107883"/>
            <a:ext cx="3017520" cy="457200"/>
          </a:xfrm>
          <a:prstGeom prst="rect">
            <a:avLst/>
          </a:prstGeom>
          <a:noFill/>
        </p:spPr>
        <p:txBody>
          <a:bodyPr wrap="square" lIns="95250" tIns="95250" rIns="95250" bIns="95250" rtlCol="0" anchor="t"/>
          <a:lstStyle/>
          <a:p>
            <a:pPr marL="0" indent="0">
              <a:lnSpc>
                <a:spcPct val="113000"/>
              </a:lnSpc>
              <a:spcBef>
                <a:spcPts val="375"/>
              </a:spcBef>
              <a:buNone/>
            </a:pPr>
            <a:r>
              <a:rPr lang="en-US" sz="1295" dirty="0">
                <a:solidFill>
                  <a:srgbClr val="272245"/>
                </a:solidFill>
                <a:latin typeface="微软雅黑" panose="020B0503020204020204" pitchFamily="34" charset="-122"/>
                <a:ea typeface="微软雅黑" panose="020B0503020204020204" pitchFamily="34" charset="-122"/>
                <a:cs typeface="微软雅黑" panose="020B0503020204020204" pitchFamily="34" charset="-120"/>
              </a:rPr>
              <a:t>需求分析重要性</a:t>
            </a:r>
            <a:endParaRPr lang="en-US" sz="1440" dirty="0"/>
          </a:p>
        </p:txBody>
      </p:sp>
      <p:sp>
        <p:nvSpPr>
          <p:cNvPr id="18" name="Text 16"/>
          <p:cNvSpPr/>
          <p:nvPr/>
        </p:nvSpPr>
        <p:spPr>
          <a:xfrm>
            <a:off x="3809429" y="4025587"/>
            <a:ext cx="713232" cy="594360"/>
          </a:xfrm>
          <a:prstGeom prst="rect">
            <a:avLst/>
          </a:prstGeom>
          <a:noFill/>
        </p:spPr>
        <p:txBody>
          <a:bodyPr wrap="square" lIns="95250" tIns="95250" rIns="95250" bIns="95250" rtlCol="0" anchor="t"/>
          <a:lstStyle/>
          <a:p>
            <a:pPr marL="0" indent="0" algn="ctr">
              <a:lnSpc>
                <a:spcPct val="113000"/>
              </a:lnSpc>
              <a:spcBef>
                <a:spcPts val="375"/>
              </a:spcBef>
              <a:buNone/>
            </a:pPr>
            <a:r>
              <a:rPr lang="en-US" sz="2160" b="1" dirty="0">
                <a:solidFill>
                  <a:srgbClr val="2A5899"/>
                </a:solidFill>
                <a:latin typeface="微软雅黑" panose="020B0503020204020204" pitchFamily="34" charset="-122"/>
                <a:ea typeface="微软雅黑" panose="020B0503020204020204" pitchFamily="34" charset="-122"/>
                <a:cs typeface="微软雅黑" panose="020B0503020204020204" pitchFamily="34" charset="-120"/>
              </a:rPr>
              <a:t>08</a:t>
            </a:r>
            <a:endParaRPr lang="en-US" sz="144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796641" y="1155230"/>
            <a:ext cx="2076092" cy="704088"/>
          </a:xfrm>
          <a:prstGeom prst="rect">
            <a:avLst/>
          </a:prstGeom>
          <a:noFill/>
        </p:spPr>
        <p:txBody>
          <a:bodyPr wrap="square" lIns="95250" tIns="95250" rIns="95250" bIns="95250" rtlCol="0" anchor="t"/>
          <a:lstStyle/>
          <a:p>
            <a:pPr marL="0" indent="0">
              <a:lnSpc>
                <a:spcPct val="113000"/>
              </a:lnSpc>
              <a:spcBef>
                <a:spcPts val="375"/>
              </a:spcBef>
              <a:buNone/>
            </a:pPr>
            <a:r>
              <a:rPr lang="en-US" sz="2735" b="1" dirty="0">
                <a:solidFill>
                  <a:srgbClr val="272245"/>
                </a:solidFill>
                <a:latin typeface="微软雅黑" panose="020B0503020204020204" pitchFamily="34" charset="-122"/>
                <a:ea typeface="微软雅黑" panose="020B0503020204020204" pitchFamily="34" charset="-122"/>
                <a:cs typeface="微软雅黑" panose="020B0503020204020204" pitchFamily="34" charset="-120"/>
              </a:rPr>
              <a:t>目录</a:t>
            </a:r>
            <a:endParaRPr lang="en-US" sz="1440" dirty="0"/>
          </a:p>
        </p:txBody>
      </p:sp>
      <p:sp>
        <p:nvSpPr>
          <p:cNvPr id="3" name="Text 1"/>
          <p:cNvSpPr/>
          <p:nvPr/>
        </p:nvSpPr>
        <p:spPr>
          <a:xfrm>
            <a:off x="1297460" y="2318619"/>
            <a:ext cx="3017520" cy="457200"/>
          </a:xfrm>
          <a:prstGeom prst="rect">
            <a:avLst/>
          </a:prstGeom>
          <a:noFill/>
        </p:spPr>
        <p:txBody>
          <a:bodyPr wrap="square" lIns="95250" tIns="95250" rIns="95250" bIns="95250" rtlCol="0" anchor="t"/>
          <a:lstStyle/>
          <a:p>
            <a:pPr marL="0" indent="0">
              <a:lnSpc>
                <a:spcPct val="113000"/>
              </a:lnSpc>
              <a:spcBef>
                <a:spcPts val="375"/>
              </a:spcBef>
              <a:buNone/>
            </a:pPr>
            <a:r>
              <a:rPr lang="en-US" sz="1295" dirty="0">
                <a:solidFill>
                  <a:srgbClr val="272245"/>
                </a:solidFill>
                <a:latin typeface="微软雅黑" panose="020B0503020204020204" pitchFamily="34" charset="-122"/>
                <a:ea typeface="微软雅黑" panose="020B0503020204020204" pitchFamily="34" charset="-122"/>
                <a:cs typeface="微软雅黑" panose="020B0503020204020204" pitchFamily="34" charset="-120"/>
              </a:rPr>
              <a:t>数据库表结构设计</a:t>
            </a:r>
            <a:endParaRPr lang="en-US" sz="1440" dirty="0"/>
          </a:p>
        </p:txBody>
      </p:sp>
      <p:sp>
        <p:nvSpPr>
          <p:cNvPr id="4" name="Text 2"/>
          <p:cNvSpPr/>
          <p:nvPr/>
        </p:nvSpPr>
        <p:spPr>
          <a:xfrm>
            <a:off x="684812" y="2236323"/>
            <a:ext cx="713232" cy="594360"/>
          </a:xfrm>
          <a:prstGeom prst="rect">
            <a:avLst/>
          </a:prstGeom>
          <a:noFill/>
        </p:spPr>
        <p:txBody>
          <a:bodyPr wrap="square" lIns="95250" tIns="95250" rIns="95250" bIns="95250" rtlCol="0" anchor="t"/>
          <a:lstStyle/>
          <a:p>
            <a:pPr marL="0" indent="0" algn="ctr">
              <a:lnSpc>
                <a:spcPct val="113000"/>
              </a:lnSpc>
              <a:spcBef>
                <a:spcPts val="375"/>
              </a:spcBef>
              <a:buNone/>
            </a:pPr>
            <a:r>
              <a:rPr lang="en-US" sz="2160" b="1" dirty="0">
                <a:solidFill>
                  <a:srgbClr val="2A5899"/>
                </a:solidFill>
                <a:latin typeface="微软雅黑" panose="020B0503020204020204" pitchFamily="34" charset="-122"/>
                <a:ea typeface="微软雅黑" panose="020B0503020204020204" pitchFamily="34" charset="-122"/>
                <a:cs typeface="微软雅黑" panose="020B0503020204020204" pitchFamily="34" charset="-120"/>
              </a:rPr>
              <a:t>09</a:t>
            </a:r>
            <a:endParaRPr lang="en-US" sz="1440" dirty="0"/>
          </a:p>
        </p:txBody>
      </p:sp>
      <p:sp>
        <p:nvSpPr>
          <p:cNvPr id="5" name="Text 3"/>
          <p:cNvSpPr/>
          <p:nvPr/>
        </p:nvSpPr>
        <p:spPr>
          <a:xfrm>
            <a:off x="4422077" y="2318619"/>
            <a:ext cx="3017520" cy="457200"/>
          </a:xfrm>
          <a:prstGeom prst="rect">
            <a:avLst/>
          </a:prstGeom>
          <a:noFill/>
        </p:spPr>
        <p:txBody>
          <a:bodyPr wrap="square" lIns="95250" tIns="95250" rIns="95250" bIns="95250" rtlCol="0" anchor="t"/>
          <a:lstStyle/>
          <a:p>
            <a:pPr marL="0" indent="0">
              <a:lnSpc>
                <a:spcPct val="113000"/>
              </a:lnSpc>
              <a:spcBef>
                <a:spcPts val="375"/>
              </a:spcBef>
              <a:buNone/>
            </a:pPr>
            <a:r>
              <a:rPr lang="en-US" sz="1295" dirty="0">
                <a:solidFill>
                  <a:srgbClr val="272245"/>
                </a:solidFill>
                <a:latin typeface="微软雅黑" panose="020B0503020204020204" pitchFamily="34" charset="-122"/>
                <a:ea typeface="微软雅黑" panose="020B0503020204020204" pitchFamily="34" charset="-122"/>
                <a:cs typeface="微软雅黑" panose="020B0503020204020204" pitchFamily="34" charset="-120"/>
              </a:rPr>
              <a:t>系统测试与保障</a:t>
            </a:r>
            <a:endParaRPr lang="en-US" sz="1440" dirty="0"/>
          </a:p>
        </p:txBody>
      </p:sp>
      <p:sp>
        <p:nvSpPr>
          <p:cNvPr id="6" name="Text 4"/>
          <p:cNvSpPr/>
          <p:nvPr/>
        </p:nvSpPr>
        <p:spPr>
          <a:xfrm>
            <a:off x="3809429" y="2236323"/>
            <a:ext cx="713232" cy="594360"/>
          </a:xfrm>
          <a:prstGeom prst="rect">
            <a:avLst/>
          </a:prstGeom>
          <a:noFill/>
        </p:spPr>
        <p:txBody>
          <a:bodyPr wrap="square" lIns="95250" tIns="95250" rIns="95250" bIns="95250" rtlCol="0" anchor="t"/>
          <a:lstStyle/>
          <a:p>
            <a:pPr marL="0" indent="0" algn="ctr">
              <a:lnSpc>
                <a:spcPct val="113000"/>
              </a:lnSpc>
              <a:spcBef>
                <a:spcPts val="375"/>
              </a:spcBef>
              <a:buNone/>
            </a:pPr>
            <a:r>
              <a:rPr lang="en-US" sz="2160" b="1" dirty="0">
                <a:solidFill>
                  <a:srgbClr val="2A5899"/>
                </a:solidFill>
                <a:latin typeface="微软雅黑" panose="020B0503020204020204" pitchFamily="34" charset="-122"/>
                <a:ea typeface="微软雅黑" panose="020B0503020204020204" pitchFamily="34" charset="-122"/>
                <a:cs typeface="微软雅黑" panose="020B0503020204020204" pitchFamily="34" charset="-120"/>
              </a:rPr>
              <a:t>10</a:t>
            </a:r>
            <a:endParaRPr lang="en-US" sz="144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246639" y="1071087"/>
            <a:ext cx="2055531" cy="1883664"/>
          </a:xfrm>
          <a:prstGeom prst="rect">
            <a:avLst/>
          </a:prstGeom>
          <a:noFill/>
        </p:spPr>
        <p:txBody>
          <a:bodyPr wrap="square" lIns="95250" tIns="95250" rIns="95250" bIns="95250" rtlCol="0" anchor="t"/>
          <a:lstStyle/>
          <a:p>
            <a:pPr marL="0" indent="0" algn="ctr">
              <a:lnSpc>
                <a:spcPct val="113000"/>
              </a:lnSpc>
              <a:spcBef>
                <a:spcPts val="375"/>
              </a:spcBef>
              <a:buNone/>
            </a:pPr>
            <a:r>
              <a:rPr lang="en-US" sz="8930" b="1" dirty="0">
                <a:solidFill>
                  <a:srgbClr val="2A5899"/>
                </a:solidFill>
                <a:latin typeface="微软雅黑" panose="020B0503020204020204" pitchFamily="34" charset="-122"/>
                <a:ea typeface="微软雅黑" panose="020B0503020204020204" pitchFamily="34" charset="-122"/>
                <a:cs typeface="微软雅黑" panose="020B0503020204020204" pitchFamily="34" charset="-120"/>
              </a:rPr>
              <a:t>01</a:t>
            </a:r>
            <a:endParaRPr lang="en-US" sz="1440" dirty="0"/>
          </a:p>
        </p:txBody>
      </p:sp>
      <p:sp>
        <p:nvSpPr>
          <p:cNvPr id="3" name="Text 1"/>
          <p:cNvSpPr/>
          <p:nvPr/>
        </p:nvSpPr>
        <p:spPr>
          <a:xfrm>
            <a:off x="497579" y="2595807"/>
            <a:ext cx="5218432" cy="813816"/>
          </a:xfrm>
          <a:prstGeom prst="rect">
            <a:avLst/>
          </a:prstGeom>
          <a:noFill/>
        </p:spPr>
        <p:txBody>
          <a:bodyPr wrap="square" lIns="95250" tIns="95250" rIns="95250" bIns="95250" rtlCol="0" anchor="t"/>
          <a:lstStyle/>
          <a:p>
            <a:pPr marL="0" indent="0">
              <a:lnSpc>
                <a:spcPct val="113000"/>
              </a:lnSpc>
              <a:spcBef>
                <a:spcPts val="375"/>
              </a:spcBef>
              <a:buNone/>
            </a:pPr>
            <a:r>
              <a:rPr lang="en-US" sz="3310" b="1" dirty="0">
                <a:solidFill>
                  <a:srgbClr val="272245"/>
                </a:solidFill>
                <a:latin typeface="微软雅黑" panose="020B0503020204020204" pitchFamily="34" charset="-122"/>
                <a:ea typeface="微软雅黑" panose="020B0503020204020204" pitchFamily="34" charset="-122"/>
                <a:cs typeface="微软雅黑" panose="020B0503020204020204" pitchFamily="34" charset="-120"/>
              </a:rPr>
              <a:t>全屋定制平台概述</a:t>
            </a:r>
            <a:endParaRPr lang="en-US" sz="1440" dirty="0"/>
          </a:p>
        </p:txBody>
      </p:sp>
      <p:pic>
        <p:nvPicPr>
          <p:cNvPr id="4" name="Image 0" descr="https://sgw-dx.xf-yun.com/api/v1/sparkdesk/_19052329831_fVPc9i1733712667757-005544323224029091.png?authorization=c2ltcGxlLWp3dCBhaz1zcGFya2Rlc2s4MDAwMDAwMDAwMDE7ZXhwPTMzMTA1MTI2Nzk7YWxnbz1obWFjLXNoYTI1NjtzaWc9a2pCNm01T2o4VEJER0o1Q3FOV2VJYUpvODByWkFQclRoZVRqRnpXRnY1Yz0=&amp;x_location=7YfmxI7B7uKO7jlRxIftd60Ye5D="/>
          <p:cNvPicPr>
            <a:picLocks noChangeAspect="1"/>
          </p:cNvPicPr>
          <p:nvPr/>
        </p:nvPicPr>
        <p:blipFill>
          <a:blip r:embed="rId4"/>
          <a:stretch>
            <a:fillRect/>
          </a:stretch>
        </p:blipFill>
        <p:spPr>
          <a:xfrm>
            <a:off x="590374" y="2550087"/>
            <a:ext cx="2848105" cy="18288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283641" y="190697"/>
            <a:ext cx="8088253" cy="566928"/>
          </a:xfrm>
          <a:prstGeom prst="rect">
            <a:avLst/>
          </a:prstGeom>
          <a:noFill/>
        </p:spPr>
        <p:txBody>
          <a:bodyPr wrap="square" lIns="95250" tIns="95250" rIns="95250" bIns="95250" rtlCol="0" anchor="t"/>
          <a:lstStyle/>
          <a:p>
            <a:pPr marL="0" indent="0">
              <a:lnSpc>
                <a:spcPct val="113000"/>
              </a:lnSpc>
              <a:spcBef>
                <a:spcPts val="375"/>
              </a:spcBef>
              <a:buNone/>
            </a:pPr>
            <a:r>
              <a:rPr lang="en-US" sz="2015"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功能丰富多样</a:t>
            </a:r>
            <a:endParaRPr lang="en-US" sz="1440" dirty="0"/>
          </a:p>
        </p:txBody>
      </p:sp>
      <p:pic>
        <p:nvPicPr>
          <p:cNvPr id="3" name="Image 0" descr="preencoded.png"/>
          <p:cNvPicPr>
            <a:picLocks noChangeAspect="1"/>
          </p:cNvPicPr>
          <p:nvPr/>
        </p:nvPicPr>
        <p:blipFill>
          <a:blip r:embed="rId4"/>
          <a:stretch>
            <a:fillRect/>
          </a:stretch>
        </p:blipFill>
        <p:spPr>
          <a:xfrm>
            <a:off x="4190301" y="2593543"/>
            <a:ext cx="637489" cy="2549957"/>
          </a:xfrm>
          <a:prstGeom prst="rect">
            <a:avLst/>
          </a:prstGeom>
        </p:spPr>
      </p:pic>
      <p:pic>
        <p:nvPicPr>
          <p:cNvPr id="4" name="Image 1" descr="preencoded.png"/>
          <p:cNvPicPr>
            <a:picLocks noChangeAspect="1"/>
          </p:cNvPicPr>
          <p:nvPr/>
        </p:nvPicPr>
        <p:blipFill>
          <a:blip r:embed="rId5"/>
          <a:stretch>
            <a:fillRect/>
          </a:stretch>
        </p:blipFill>
        <p:spPr>
          <a:xfrm>
            <a:off x="2333585" y="1892808"/>
            <a:ext cx="4632350" cy="2894990"/>
          </a:xfrm>
          <a:prstGeom prst="rect">
            <a:avLst/>
          </a:prstGeom>
        </p:spPr>
      </p:pic>
      <p:sp>
        <p:nvSpPr>
          <p:cNvPr id="5" name="Shape 1"/>
          <p:cNvSpPr/>
          <p:nvPr/>
        </p:nvSpPr>
        <p:spPr>
          <a:xfrm>
            <a:off x="3294250" y="2788878"/>
            <a:ext cx="480910" cy="480910"/>
          </a:xfrm>
          <a:custGeom>
            <a:avLst/>
            <a:gdLst/>
            <a:ahLst/>
            <a:cxnLst/>
            <a:rect l="l" t="t" r="r" b="b"/>
            <a:pathLst>
              <a:path w="480910" h="480910">
                <a:moveTo>
                  <a:pt x="240455" y="0"/>
                </a:moveTo>
                <a:moveTo>
                  <a:pt x="240455" y="0"/>
                </a:moveTo>
                <a:cubicBezTo>
                  <a:pt x="373166" y="0"/>
                  <a:pt x="480910" y="107744"/>
                  <a:pt x="480910" y="240455"/>
                </a:cubicBezTo>
                <a:cubicBezTo>
                  <a:pt x="480910" y="373166"/>
                  <a:pt x="373166" y="480910"/>
                  <a:pt x="240455" y="480910"/>
                </a:cubicBezTo>
                <a:cubicBezTo>
                  <a:pt x="107744" y="480910"/>
                  <a:pt x="0" y="373166"/>
                  <a:pt x="0" y="240455"/>
                </a:cubicBezTo>
                <a:cubicBezTo>
                  <a:pt x="0" y="107744"/>
                  <a:pt x="107744" y="0"/>
                  <a:pt x="240455" y="0"/>
                </a:cubicBezTo>
                <a:close/>
              </a:path>
            </a:pathLst>
          </a:custGeom>
          <a:solidFill>
            <a:srgbClr val="0084FF"/>
          </a:solidFill>
        </p:spPr>
      </p:sp>
      <p:sp>
        <p:nvSpPr>
          <p:cNvPr id="6" name="Shape 2"/>
          <p:cNvSpPr/>
          <p:nvPr/>
        </p:nvSpPr>
        <p:spPr>
          <a:xfrm>
            <a:off x="5378474" y="2777023"/>
            <a:ext cx="480910" cy="480910"/>
          </a:xfrm>
          <a:custGeom>
            <a:avLst/>
            <a:gdLst/>
            <a:ahLst/>
            <a:cxnLst/>
            <a:rect l="l" t="t" r="r" b="b"/>
            <a:pathLst>
              <a:path w="480910" h="480910">
                <a:moveTo>
                  <a:pt x="240455" y="0"/>
                </a:moveTo>
                <a:moveTo>
                  <a:pt x="240455" y="0"/>
                </a:moveTo>
                <a:cubicBezTo>
                  <a:pt x="373166" y="0"/>
                  <a:pt x="480910" y="107744"/>
                  <a:pt x="480910" y="240455"/>
                </a:cubicBezTo>
                <a:cubicBezTo>
                  <a:pt x="480910" y="373166"/>
                  <a:pt x="373166" y="480910"/>
                  <a:pt x="240455" y="480910"/>
                </a:cubicBezTo>
                <a:cubicBezTo>
                  <a:pt x="107744" y="480910"/>
                  <a:pt x="0" y="373166"/>
                  <a:pt x="0" y="240455"/>
                </a:cubicBezTo>
                <a:cubicBezTo>
                  <a:pt x="0" y="107744"/>
                  <a:pt x="107744" y="0"/>
                  <a:pt x="240455" y="0"/>
                </a:cubicBezTo>
                <a:close/>
              </a:path>
            </a:pathLst>
          </a:custGeom>
          <a:solidFill>
            <a:srgbClr val="0084FF"/>
          </a:solidFill>
        </p:spPr>
      </p:sp>
      <p:sp>
        <p:nvSpPr>
          <p:cNvPr id="7" name="Shape 3"/>
          <p:cNvSpPr/>
          <p:nvPr/>
        </p:nvSpPr>
        <p:spPr>
          <a:xfrm>
            <a:off x="4346880" y="2112633"/>
            <a:ext cx="480910" cy="480910"/>
          </a:xfrm>
          <a:custGeom>
            <a:avLst/>
            <a:gdLst/>
            <a:ahLst/>
            <a:cxnLst/>
            <a:rect l="l" t="t" r="r" b="b"/>
            <a:pathLst>
              <a:path w="480910" h="480910">
                <a:moveTo>
                  <a:pt x="240455" y="0"/>
                </a:moveTo>
                <a:moveTo>
                  <a:pt x="240455" y="0"/>
                </a:moveTo>
                <a:cubicBezTo>
                  <a:pt x="373166" y="0"/>
                  <a:pt x="480910" y="107744"/>
                  <a:pt x="480910" y="240455"/>
                </a:cubicBezTo>
                <a:cubicBezTo>
                  <a:pt x="480910" y="373166"/>
                  <a:pt x="373166" y="480910"/>
                  <a:pt x="240455" y="480910"/>
                </a:cubicBezTo>
                <a:cubicBezTo>
                  <a:pt x="107744" y="480910"/>
                  <a:pt x="0" y="373166"/>
                  <a:pt x="0" y="240455"/>
                </a:cubicBezTo>
                <a:cubicBezTo>
                  <a:pt x="0" y="107744"/>
                  <a:pt x="107744" y="0"/>
                  <a:pt x="240455" y="0"/>
                </a:cubicBezTo>
                <a:close/>
              </a:path>
            </a:pathLst>
          </a:custGeom>
          <a:solidFill>
            <a:srgbClr val="5196FF"/>
          </a:solidFill>
        </p:spPr>
      </p:sp>
      <p:sp>
        <p:nvSpPr>
          <p:cNvPr id="8" name="Text 4"/>
          <p:cNvSpPr/>
          <p:nvPr/>
        </p:nvSpPr>
        <p:spPr>
          <a:xfrm>
            <a:off x="257346" y="2353088"/>
            <a:ext cx="2841513" cy="374904"/>
          </a:xfrm>
          <a:prstGeom prst="rect">
            <a:avLst/>
          </a:prstGeom>
          <a:noFill/>
        </p:spPr>
        <p:txBody>
          <a:bodyPr wrap="square" lIns="95250" tIns="95250" rIns="95250" bIns="95250" rtlCol="0" anchor="t"/>
          <a:lstStyle/>
          <a:p>
            <a:pPr marL="0" indent="0" algn="r">
              <a:lnSpc>
                <a:spcPct val="100000"/>
              </a:lnSpc>
              <a:spcBef>
                <a:spcPts val="375"/>
              </a:spcBef>
              <a:buNone/>
            </a:pPr>
            <a:r>
              <a:rPr lang="en-US" sz="1585" b="1" dirty="0">
                <a:solidFill>
                  <a:srgbClr val="272245"/>
                </a:solidFill>
                <a:latin typeface="Noto Sans" pitchFamily="34" charset="0"/>
                <a:ea typeface="Noto Sans" pitchFamily="34" charset="-122"/>
                <a:cs typeface="Noto Sans" pitchFamily="34" charset="-120"/>
              </a:rPr>
              <a:t>多功能集成</a:t>
            </a:r>
            <a:endParaRPr lang="en-US" sz="1440" dirty="0"/>
          </a:p>
        </p:txBody>
      </p:sp>
      <p:sp>
        <p:nvSpPr>
          <p:cNvPr id="9" name="Text 5"/>
          <p:cNvSpPr/>
          <p:nvPr/>
        </p:nvSpPr>
        <p:spPr>
          <a:xfrm>
            <a:off x="257346" y="2853842"/>
            <a:ext cx="2681770" cy="813816"/>
          </a:xfrm>
          <a:prstGeom prst="rect">
            <a:avLst/>
          </a:prstGeom>
          <a:noFill/>
        </p:spPr>
        <p:txBody>
          <a:bodyPr wrap="square" lIns="95250" tIns="95250" rIns="95250" bIns="95250" rtlCol="0" anchor="t">
            <a:spAutoFit/>
          </a:bodyPr>
          <a:lstStyle/>
          <a:p>
            <a:pPr marL="0" indent="0" algn="r">
              <a:lnSpc>
                <a:spcPct val="100000"/>
              </a:lnSpc>
              <a:spcBef>
                <a:spcPts val="375"/>
              </a:spcBef>
              <a:buNone/>
            </a:pPr>
            <a:r>
              <a:rPr lang="en-US" sz="1150" dirty="0">
                <a:solidFill>
                  <a:srgbClr val="272245"/>
                </a:solidFill>
                <a:latin typeface="Noto Sans" pitchFamily="34" charset="0"/>
                <a:ea typeface="Noto Sans" pitchFamily="34" charset="-122"/>
                <a:cs typeface="Noto Sans" pitchFamily="34" charset="-120"/>
              </a:rPr>
              <a:t>现代设备趋向于将多种功能集于一体，如智能手机不仅能够通讯，还整合了相机、音乐播放器和导航系统，极大地方便了用户的日常生活。</a:t>
            </a:r>
            <a:endParaRPr lang="en-US" sz="1440" dirty="0"/>
          </a:p>
        </p:txBody>
      </p:sp>
      <p:sp>
        <p:nvSpPr>
          <p:cNvPr id="10" name="Text 6"/>
          <p:cNvSpPr/>
          <p:nvPr/>
        </p:nvSpPr>
        <p:spPr>
          <a:xfrm>
            <a:off x="1841548" y="825940"/>
            <a:ext cx="5492064" cy="384048"/>
          </a:xfrm>
          <a:prstGeom prst="rect">
            <a:avLst/>
          </a:prstGeom>
          <a:noFill/>
        </p:spPr>
        <p:txBody>
          <a:bodyPr wrap="square" lIns="95250" tIns="95250" rIns="95250" bIns="95250" rtlCol="0" anchor="t">
            <a:spAutoFit/>
          </a:bodyPr>
          <a:lstStyle/>
          <a:p>
            <a:pPr marL="0" indent="0" algn="ctr">
              <a:lnSpc>
                <a:spcPct val="100000"/>
              </a:lnSpc>
              <a:spcBef>
                <a:spcPts val="375"/>
              </a:spcBef>
              <a:buNone/>
            </a:pPr>
            <a:r>
              <a:rPr lang="en-US" sz="1585" b="1" dirty="0">
                <a:solidFill>
                  <a:srgbClr val="272245"/>
                </a:solidFill>
                <a:latin typeface="Noto Sans" pitchFamily="34" charset="0"/>
                <a:ea typeface="Noto Sans" pitchFamily="34" charset="-122"/>
                <a:cs typeface="Noto Sans" pitchFamily="34" charset="-120"/>
              </a:rPr>
              <a:t>用户定制化功能</a:t>
            </a:r>
            <a:endParaRPr lang="en-US" sz="1440" dirty="0"/>
          </a:p>
        </p:txBody>
      </p:sp>
      <p:sp>
        <p:nvSpPr>
          <p:cNvPr id="11" name="Text 7"/>
          <p:cNvSpPr/>
          <p:nvPr/>
        </p:nvSpPr>
        <p:spPr>
          <a:xfrm>
            <a:off x="1841548" y="1093569"/>
            <a:ext cx="5492064" cy="603504"/>
          </a:xfrm>
          <a:prstGeom prst="rect">
            <a:avLst/>
          </a:prstGeom>
          <a:noFill/>
        </p:spPr>
        <p:txBody>
          <a:bodyPr wrap="square" lIns="95250" tIns="95250" rIns="95250" bIns="95250" rtlCol="0" anchor="t">
            <a:spAutoFit/>
          </a:bodyPr>
          <a:lstStyle/>
          <a:p>
            <a:pPr marL="0" indent="0" algn="ctr">
              <a:lnSpc>
                <a:spcPct val="100000"/>
              </a:lnSpc>
              <a:spcBef>
                <a:spcPts val="375"/>
              </a:spcBef>
              <a:buNone/>
            </a:pPr>
            <a:r>
              <a:rPr lang="en-US" sz="1150" dirty="0">
                <a:solidFill>
                  <a:srgbClr val="272245"/>
                </a:solidFill>
                <a:latin typeface="Noto Sans" pitchFamily="34" charset="0"/>
                <a:ea typeface="Noto Sans" pitchFamily="34" charset="-122"/>
                <a:cs typeface="Noto Sans" pitchFamily="34" charset="-120"/>
              </a:rPr>
              <a:t>随着技术的发展，软件和应用程序开始提供更加个性化的定制选项，用户可以根据自己的需求调整界面布局、功能设置，使得使用体验更加符合个人喜好。</a:t>
            </a:r>
            <a:endParaRPr lang="en-US" sz="1440" dirty="0"/>
          </a:p>
        </p:txBody>
      </p:sp>
      <p:sp>
        <p:nvSpPr>
          <p:cNvPr id="12" name="Text 8"/>
          <p:cNvSpPr/>
          <p:nvPr/>
        </p:nvSpPr>
        <p:spPr>
          <a:xfrm>
            <a:off x="6108882" y="2353088"/>
            <a:ext cx="2810116" cy="374904"/>
          </a:xfrm>
          <a:prstGeom prst="rect">
            <a:avLst/>
          </a:prstGeom>
          <a:noFill/>
        </p:spPr>
        <p:txBody>
          <a:bodyPr wrap="square" lIns="95250" tIns="95250" rIns="95250" bIns="95250" rtlCol="0" anchor="t"/>
          <a:lstStyle/>
          <a:p>
            <a:pPr marL="0" indent="0">
              <a:lnSpc>
                <a:spcPct val="100000"/>
              </a:lnSpc>
              <a:spcBef>
                <a:spcPts val="375"/>
              </a:spcBef>
              <a:buNone/>
            </a:pPr>
            <a:r>
              <a:rPr lang="en-US" sz="1585" b="1" dirty="0">
                <a:solidFill>
                  <a:srgbClr val="272245"/>
                </a:solidFill>
                <a:latin typeface="Noto Sans" pitchFamily="34" charset="0"/>
                <a:ea typeface="Noto Sans" pitchFamily="34" charset="-122"/>
                <a:cs typeface="Noto Sans" pitchFamily="34" charset="-120"/>
              </a:rPr>
              <a:t>跨平台兼容性</a:t>
            </a:r>
            <a:endParaRPr lang="en-US" sz="1440" dirty="0"/>
          </a:p>
        </p:txBody>
      </p:sp>
      <p:sp>
        <p:nvSpPr>
          <p:cNvPr id="13" name="Text 9"/>
          <p:cNvSpPr/>
          <p:nvPr/>
        </p:nvSpPr>
        <p:spPr>
          <a:xfrm>
            <a:off x="6108882" y="2853842"/>
            <a:ext cx="2777773" cy="813816"/>
          </a:xfrm>
          <a:prstGeom prst="rect">
            <a:avLst/>
          </a:prstGeom>
          <a:noFill/>
        </p:spPr>
        <p:txBody>
          <a:bodyPr wrap="square" lIns="95250" tIns="95250" rIns="95250" bIns="95250" rtlCol="0" anchor="t">
            <a:spAutoFit/>
          </a:bodyPr>
          <a:lstStyle/>
          <a:p>
            <a:pPr marL="0" indent="0">
              <a:lnSpc>
                <a:spcPct val="100000"/>
              </a:lnSpc>
              <a:spcBef>
                <a:spcPts val="375"/>
              </a:spcBef>
              <a:buNone/>
            </a:pPr>
            <a:r>
              <a:rPr lang="en-US" sz="1150" dirty="0">
                <a:solidFill>
                  <a:srgbClr val="272245"/>
                </a:solidFill>
                <a:latin typeface="Noto Sans" pitchFamily="34" charset="0"/>
                <a:ea typeface="Noto Sans" pitchFamily="34" charset="-122"/>
                <a:cs typeface="Noto Sans" pitchFamily="34" charset="-120"/>
              </a:rPr>
              <a:t>为了适应不同用户的需求，许多软件和服务现在支持跨平台操作，无论是在Windows、MacOS还是移动操作系统上，用户都能获得一致的使用体验。</a:t>
            </a:r>
            <a:endParaRPr lang="en-US" sz="1440" dirty="0"/>
          </a:p>
        </p:txBody>
      </p:sp>
      <p:sp>
        <p:nvSpPr>
          <p:cNvPr id="14" name="Text 10"/>
          <p:cNvSpPr/>
          <p:nvPr/>
        </p:nvSpPr>
        <p:spPr>
          <a:xfrm>
            <a:off x="3294250" y="2773301"/>
            <a:ext cx="480910" cy="512064"/>
          </a:xfrm>
          <a:prstGeom prst="rect">
            <a:avLst/>
          </a:prstGeom>
          <a:noFill/>
        </p:spPr>
        <p:txBody>
          <a:bodyPr wrap="square" lIns="95250" tIns="95250" rIns="95250" bIns="95250" rtlCol="0" anchor="t">
            <a:spAutoFit/>
          </a:bodyPr>
          <a:lstStyle/>
          <a:p>
            <a:pPr marL="0" indent="0" algn="ctr">
              <a:lnSpc>
                <a:spcPct val="113000"/>
              </a:lnSpc>
              <a:spcBef>
                <a:spcPts val="375"/>
              </a:spcBef>
              <a:buNone/>
            </a:pPr>
            <a:r>
              <a:rPr lang="en-US" sz="1730" b="1" dirty="0">
                <a:solidFill>
                  <a:srgbClr val="FFFFFF"/>
                </a:solidFill>
                <a:latin typeface="Noto Sans" pitchFamily="34" charset="0"/>
                <a:ea typeface="Noto Sans" pitchFamily="34" charset="-122"/>
                <a:cs typeface="Noto Sans" pitchFamily="34" charset="-120"/>
              </a:rPr>
              <a:t>01</a:t>
            </a:r>
            <a:endParaRPr lang="en-US" sz="1440" dirty="0"/>
          </a:p>
        </p:txBody>
      </p:sp>
      <p:sp>
        <p:nvSpPr>
          <p:cNvPr id="15" name="Text 11"/>
          <p:cNvSpPr/>
          <p:nvPr/>
        </p:nvSpPr>
        <p:spPr>
          <a:xfrm>
            <a:off x="5378474" y="2761446"/>
            <a:ext cx="480910" cy="512064"/>
          </a:xfrm>
          <a:prstGeom prst="rect">
            <a:avLst/>
          </a:prstGeom>
          <a:noFill/>
        </p:spPr>
        <p:txBody>
          <a:bodyPr wrap="square" lIns="95250" tIns="95250" rIns="95250" bIns="95250" rtlCol="0" anchor="t">
            <a:spAutoFit/>
          </a:bodyPr>
          <a:lstStyle/>
          <a:p>
            <a:pPr marL="0" indent="0" algn="ctr">
              <a:lnSpc>
                <a:spcPct val="113000"/>
              </a:lnSpc>
              <a:spcBef>
                <a:spcPts val="375"/>
              </a:spcBef>
              <a:buNone/>
            </a:pPr>
            <a:r>
              <a:rPr lang="en-US" sz="1730" b="1" dirty="0">
                <a:solidFill>
                  <a:srgbClr val="FFFFFF"/>
                </a:solidFill>
                <a:latin typeface="Noto Sans" pitchFamily="34" charset="0"/>
                <a:ea typeface="Noto Sans" pitchFamily="34" charset="-122"/>
                <a:cs typeface="Noto Sans" pitchFamily="34" charset="-120"/>
              </a:rPr>
              <a:t>03</a:t>
            </a:r>
            <a:endParaRPr lang="en-US" sz="1440" dirty="0"/>
          </a:p>
        </p:txBody>
      </p:sp>
      <p:sp>
        <p:nvSpPr>
          <p:cNvPr id="16" name="Text 12"/>
          <p:cNvSpPr/>
          <p:nvPr/>
        </p:nvSpPr>
        <p:spPr>
          <a:xfrm>
            <a:off x="4346880" y="2097056"/>
            <a:ext cx="480910" cy="512064"/>
          </a:xfrm>
          <a:prstGeom prst="rect">
            <a:avLst/>
          </a:prstGeom>
          <a:noFill/>
        </p:spPr>
        <p:txBody>
          <a:bodyPr wrap="square" lIns="95250" tIns="95250" rIns="95250" bIns="95250" rtlCol="0" anchor="t">
            <a:spAutoFit/>
          </a:bodyPr>
          <a:lstStyle/>
          <a:p>
            <a:pPr marL="0" indent="0" algn="ctr">
              <a:lnSpc>
                <a:spcPct val="113000"/>
              </a:lnSpc>
              <a:spcBef>
                <a:spcPts val="375"/>
              </a:spcBef>
              <a:buNone/>
            </a:pPr>
            <a:r>
              <a:rPr lang="en-US" sz="1730" b="1" dirty="0">
                <a:solidFill>
                  <a:srgbClr val="FFFFFF"/>
                </a:solidFill>
                <a:latin typeface="Noto Sans" pitchFamily="34" charset="0"/>
                <a:ea typeface="Noto Sans" pitchFamily="34" charset="-122"/>
                <a:cs typeface="Noto Sans" pitchFamily="34" charset="-120"/>
              </a:rPr>
              <a:t>02</a:t>
            </a:r>
            <a:endParaRPr lang="en-US" sz="144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18">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283641" y="190697"/>
            <a:ext cx="8088253" cy="566928"/>
          </a:xfrm>
          <a:prstGeom prst="rect">
            <a:avLst/>
          </a:prstGeom>
          <a:noFill/>
        </p:spPr>
        <p:txBody>
          <a:bodyPr wrap="square" lIns="95250" tIns="95250" rIns="95250" bIns="95250" rtlCol="0" anchor="t"/>
          <a:lstStyle/>
          <a:p>
            <a:pPr marL="0" indent="0">
              <a:lnSpc>
                <a:spcPct val="113000"/>
              </a:lnSpc>
              <a:spcBef>
                <a:spcPts val="375"/>
              </a:spcBef>
              <a:buNone/>
            </a:pPr>
            <a:r>
              <a:rPr lang="en-US" sz="2015"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精准推送方案</a:t>
            </a:r>
            <a:endParaRPr lang="en-US" sz="1440" dirty="0"/>
          </a:p>
        </p:txBody>
      </p:sp>
      <p:sp>
        <p:nvSpPr>
          <p:cNvPr id="3" name="Text 1"/>
          <p:cNvSpPr/>
          <p:nvPr>
            <p:custDataLst>
              <p:tags r:id="rId1"/>
            </p:custDataLst>
          </p:nvPr>
        </p:nvSpPr>
        <p:spPr>
          <a:xfrm>
            <a:off x="289912" y="789429"/>
            <a:ext cx="1913307" cy="566928"/>
          </a:xfrm>
          <a:prstGeom prst="rect">
            <a:avLst/>
          </a:prstGeom>
          <a:noFill/>
        </p:spPr>
        <p:txBody>
          <a:bodyPr wrap="square" lIns="95250" tIns="95250" rIns="95250" bIns="95250" rtlCol="0" anchor="t">
            <a:spAutoFit/>
          </a:bodyPr>
          <a:lstStyle/>
          <a:p>
            <a:pPr marL="0" indent="0">
              <a:lnSpc>
                <a:spcPct val="113000"/>
              </a:lnSpc>
              <a:spcBef>
                <a:spcPts val="375"/>
              </a:spcBef>
              <a:buNone/>
            </a:pPr>
            <a:r>
              <a:rPr lang="en-US" sz="2015" b="1" i="1" dirty="0">
                <a:solidFill>
                  <a:srgbClr val="2A5899"/>
                </a:solidFill>
                <a:latin typeface="Noto Sans" pitchFamily="34" charset="0"/>
                <a:ea typeface="Noto Sans" pitchFamily="34" charset="-122"/>
                <a:cs typeface="Noto Sans" pitchFamily="34" charset="-120"/>
              </a:rPr>
              <a:t>Part 01</a:t>
            </a:r>
            <a:endParaRPr lang="en-US" sz="1440" dirty="0"/>
          </a:p>
        </p:txBody>
      </p:sp>
      <p:pic>
        <p:nvPicPr>
          <p:cNvPr id="4" name="Image 0" descr="preencoded.png"/>
          <p:cNvPicPr>
            <a:picLocks noChangeAspect="1"/>
          </p:cNvPicPr>
          <p:nvPr>
            <p:custDataLst>
              <p:tags r:id="rId2"/>
            </p:custDataLst>
          </p:nvPr>
        </p:nvPicPr>
        <p:blipFill>
          <a:blip r:embed="rId19">
            <a:alphaModFix amt="30000"/>
          </a:blip>
          <a:stretch>
            <a:fillRect/>
          </a:stretch>
        </p:blipFill>
        <p:spPr>
          <a:xfrm>
            <a:off x="289912" y="1387272"/>
            <a:ext cx="2657487" cy="2657487"/>
          </a:xfrm>
          <a:prstGeom prst="rect">
            <a:avLst/>
          </a:prstGeom>
        </p:spPr>
      </p:pic>
      <p:pic>
        <p:nvPicPr>
          <p:cNvPr id="5" name="Image 1" descr="preencoded.png"/>
          <p:cNvPicPr>
            <a:picLocks noChangeAspect="1"/>
          </p:cNvPicPr>
          <p:nvPr>
            <p:custDataLst>
              <p:tags r:id="rId3"/>
            </p:custDataLst>
          </p:nvPr>
        </p:nvPicPr>
        <p:blipFill>
          <a:blip r:embed="rId19"/>
          <a:stretch>
            <a:fillRect/>
          </a:stretch>
        </p:blipFill>
        <p:spPr>
          <a:xfrm>
            <a:off x="289912" y="1277517"/>
            <a:ext cx="2657487" cy="2657487"/>
          </a:xfrm>
          <a:prstGeom prst="rect">
            <a:avLst/>
          </a:prstGeom>
        </p:spPr>
      </p:pic>
      <p:sp>
        <p:nvSpPr>
          <p:cNvPr id="6" name="Text 2"/>
          <p:cNvSpPr/>
          <p:nvPr>
            <p:custDataLst>
              <p:tags r:id="rId4"/>
            </p:custDataLst>
          </p:nvPr>
        </p:nvSpPr>
        <p:spPr>
          <a:xfrm>
            <a:off x="6197236" y="840229"/>
            <a:ext cx="1913307" cy="566928"/>
          </a:xfrm>
          <a:prstGeom prst="rect">
            <a:avLst/>
          </a:prstGeom>
          <a:noFill/>
        </p:spPr>
        <p:txBody>
          <a:bodyPr wrap="square" lIns="95250" tIns="95250" rIns="95250" bIns="95250" rtlCol="0" anchor="t">
            <a:spAutoFit/>
          </a:bodyPr>
          <a:lstStyle/>
          <a:p>
            <a:pPr marL="0" indent="0">
              <a:lnSpc>
                <a:spcPct val="113000"/>
              </a:lnSpc>
              <a:spcBef>
                <a:spcPts val="375"/>
              </a:spcBef>
              <a:buNone/>
            </a:pPr>
            <a:r>
              <a:rPr lang="en-US" sz="2015" b="1" i="1" dirty="0">
                <a:solidFill>
                  <a:srgbClr val="2A5899"/>
                </a:solidFill>
                <a:latin typeface="Noto Sans" pitchFamily="34" charset="0"/>
                <a:ea typeface="Noto Sans" pitchFamily="34" charset="-122"/>
                <a:cs typeface="Noto Sans" pitchFamily="34" charset="-120"/>
              </a:rPr>
              <a:t>Part 03</a:t>
            </a:r>
            <a:endParaRPr lang="en-US" sz="1440" dirty="0"/>
          </a:p>
        </p:txBody>
      </p:sp>
      <p:pic>
        <p:nvPicPr>
          <p:cNvPr id="7" name="Image 2" descr="preencoded.png"/>
          <p:cNvPicPr>
            <a:picLocks noChangeAspect="1"/>
          </p:cNvPicPr>
          <p:nvPr>
            <p:custDataLst>
              <p:tags r:id="rId5"/>
            </p:custDataLst>
          </p:nvPr>
        </p:nvPicPr>
        <p:blipFill>
          <a:blip r:embed="rId19">
            <a:alphaModFix amt="30000"/>
          </a:blip>
          <a:stretch>
            <a:fillRect/>
          </a:stretch>
        </p:blipFill>
        <p:spPr>
          <a:xfrm>
            <a:off x="6196601" y="1387272"/>
            <a:ext cx="2657487" cy="2657487"/>
          </a:xfrm>
          <a:prstGeom prst="rect">
            <a:avLst/>
          </a:prstGeom>
        </p:spPr>
      </p:pic>
      <p:pic>
        <p:nvPicPr>
          <p:cNvPr id="8" name="Image 3" descr="preencoded.png"/>
          <p:cNvPicPr>
            <a:picLocks noChangeAspect="1"/>
          </p:cNvPicPr>
          <p:nvPr>
            <p:custDataLst>
              <p:tags r:id="rId6"/>
            </p:custDataLst>
          </p:nvPr>
        </p:nvPicPr>
        <p:blipFill>
          <a:blip r:embed="rId19"/>
          <a:stretch>
            <a:fillRect/>
          </a:stretch>
        </p:blipFill>
        <p:spPr>
          <a:xfrm>
            <a:off x="6196601" y="1277517"/>
            <a:ext cx="2657487" cy="2657487"/>
          </a:xfrm>
          <a:prstGeom prst="rect">
            <a:avLst/>
          </a:prstGeom>
        </p:spPr>
      </p:pic>
      <p:sp>
        <p:nvSpPr>
          <p:cNvPr id="9" name="Text 3"/>
          <p:cNvSpPr/>
          <p:nvPr>
            <p:custDataLst>
              <p:tags r:id="rId7"/>
            </p:custDataLst>
          </p:nvPr>
        </p:nvSpPr>
        <p:spPr>
          <a:xfrm>
            <a:off x="3238268" y="1391726"/>
            <a:ext cx="1913307" cy="566928"/>
          </a:xfrm>
          <a:prstGeom prst="rect">
            <a:avLst/>
          </a:prstGeom>
          <a:noFill/>
        </p:spPr>
        <p:txBody>
          <a:bodyPr wrap="square" lIns="95250" tIns="95250" rIns="95250" bIns="95250" rtlCol="0" anchor="t">
            <a:spAutoFit/>
          </a:bodyPr>
          <a:lstStyle/>
          <a:p>
            <a:pPr marL="0" indent="0">
              <a:lnSpc>
                <a:spcPct val="113000"/>
              </a:lnSpc>
              <a:spcBef>
                <a:spcPts val="375"/>
              </a:spcBef>
              <a:buNone/>
            </a:pPr>
            <a:r>
              <a:rPr lang="en-US" sz="2015" b="1" i="1" dirty="0">
                <a:solidFill>
                  <a:srgbClr val="459DF3"/>
                </a:solidFill>
                <a:latin typeface="Noto Sans" pitchFamily="34" charset="0"/>
                <a:ea typeface="Noto Sans" pitchFamily="34" charset="-122"/>
                <a:cs typeface="Noto Sans" pitchFamily="34" charset="-120"/>
              </a:rPr>
              <a:t>Part 02</a:t>
            </a:r>
            <a:endParaRPr lang="en-US" sz="1440" dirty="0"/>
          </a:p>
        </p:txBody>
      </p:sp>
      <p:pic>
        <p:nvPicPr>
          <p:cNvPr id="10" name="Image 4" descr="preencoded.png"/>
          <p:cNvPicPr>
            <a:picLocks noChangeAspect="1"/>
          </p:cNvPicPr>
          <p:nvPr>
            <p:custDataLst>
              <p:tags r:id="rId8"/>
            </p:custDataLst>
          </p:nvPr>
        </p:nvPicPr>
        <p:blipFill>
          <a:blip r:embed="rId20">
            <a:alphaModFix amt="30000"/>
          </a:blip>
          <a:stretch>
            <a:fillRect/>
          </a:stretch>
        </p:blipFill>
        <p:spPr>
          <a:xfrm>
            <a:off x="3238268" y="1945755"/>
            <a:ext cx="2657487" cy="2657487"/>
          </a:xfrm>
          <a:prstGeom prst="rect">
            <a:avLst/>
          </a:prstGeom>
        </p:spPr>
      </p:pic>
      <p:pic>
        <p:nvPicPr>
          <p:cNvPr id="11" name="Image 5" descr="preencoded.png"/>
          <p:cNvPicPr>
            <a:picLocks noChangeAspect="1"/>
          </p:cNvPicPr>
          <p:nvPr>
            <p:custDataLst>
              <p:tags r:id="rId9"/>
            </p:custDataLst>
          </p:nvPr>
        </p:nvPicPr>
        <p:blipFill>
          <a:blip r:embed="rId20"/>
          <a:stretch>
            <a:fillRect/>
          </a:stretch>
        </p:blipFill>
        <p:spPr>
          <a:xfrm>
            <a:off x="3238268" y="1835999"/>
            <a:ext cx="2657487" cy="2657487"/>
          </a:xfrm>
          <a:prstGeom prst="rect">
            <a:avLst/>
          </a:prstGeom>
        </p:spPr>
      </p:pic>
      <p:sp>
        <p:nvSpPr>
          <p:cNvPr id="12" name="Text 4"/>
          <p:cNvSpPr/>
          <p:nvPr>
            <p:custDataLst>
              <p:tags r:id="rId10"/>
            </p:custDataLst>
          </p:nvPr>
        </p:nvSpPr>
        <p:spPr>
          <a:xfrm>
            <a:off x="289912" y="1497028"/>
            <a:ext cx="2556049" cy="409089"/>
          </a:xfrm>
          <a:prstGeom prst="rect">
            <a:avLst/>
          </a:prstGeom>
          <a:noFill/>
        </p:spPr>
        <p:txBody>
          <a:bodyPr wrap="square" lIns="95250" tIns="95250" rIns="95250" bIns="95250" rtlCol="0" anchor="ctr"/>
          <a:lstStyle/>
          <a:p>
            <a:pPr marL="0" indent="0">
              <a:lnSpc>
                <a:spcPct val="100000"/>
              </a:lnSpc>
              <a:spcBef>
                <a:spcPts val="375"/>
              </a:spcBef>
              <a:buNone/>
            </a:pPr>
            <a:r>
              <a:rPr lang="en-US" sz="1585" b="1" dirty="0">
                <a:solidFill>
                  <a:srgbClr val="FFFFFF"/>
                </a:solidFill>
                <a:latin typeface="Noto Sans" pitchFamily="34" charset="0"/>
                <a:ea typeface="Noto Sans" pitchFamily="34" charset="-122"/>
                <a:cs typeface="Noto Sans" pitchFamily="34" charset="-120"/>
              </a:rPr>
              <a:t>智能推荐算法核心</a:t>
            </a:r>
            <a:endParaRPr lang="en-US" sz="1440" dirty="0"/>
          </a:p>
        </p:txBody>
      </p:sp>
      <p:sp>
        <p:nvSpPr>
          <p:cNvPr id="13" name="Text 5"/>
          <p:cNvSpPr/>
          <p:nvPr>
            <p:custDataLst>
              <p:tags r:id="rId11"/>
            </p:custDataLst>
          </p:nvPr>
        </p:nvSpPr>
        <p:spPr>
          <a:xfrm>
            <a:off x="289912" y="1996307"/>
            <a:ext cx="2657487" cy="813816"/>
          </a:xfrm>
          <a:prstGeom prst="rect">
            <a:avLst/>
          </a:prstGeom>
          <a:noFill/>
        </p:spPr>
        <p:txBody>
          <a:bodyPr wrap="square" lIns="95250" tIns="95250" rIns="95250" bIns="95250" rtlCol="0" anchor="t">
            <a:spAutoFit/>
          </a:bodyPr>
          <a:lstStyle/>
          <a:p>
            <a:pPr marL="0" indent="0">
              <a:lnSpc>
                <a:spcPct val="100000"/>
              </a:lnSpc>
              <a:spcBef>
                <a:spcPts val="375"/>
              </a:spcBef>
              <a:buNone/>
            </a:pPr>
            <a:r>
              <a:rPr lang="en-US" sz="1150" dirty="0">
                <a:solidFill>
                  <a:srgbClr val="FFFFFF"/>
                </a:solidFill>
                <a:latin typeface="Noto Sans" pitchFamily="34" charset="0"/>
                <a:ea typeface="Noto Sans" pitchFamily="34" charset="-122"/>
                <a:cs typeface="Noto Sans" pitchFamily="34" charset="-120"/>
              </a:rPr>
              <a:t>精准推送方案的核心在于智能推荐算法，该算法通过分析用户的浏览历史、偏好设置和购买行为等多维度数据，实现个性化的内容推送。</a:t>
            </a:r>
            <a:endParaRPr lang="en-US" sz="1440" dirty="0"/>
          </a:p>
        </p:txBody>
      </p:sp>
      <p:sp>
        <p:nvSpPr>
          <p:cNvPr id="14" name="Text 6"/>
          <p:cNvSpPr/>
          <p:nvPr>
            <p:custDataLst>
              <p:tags r:id="rId12"/>
            </p:custDataLst>
          </p:nvPr>
        </p:nvSpPr>
        <p:spPr>
          <a:xfrm>
            <a:off x="3238268" y="2105399"/>
            <a:ext cx="2556049" cy="409089"/>
          </a:xfrm>
          <a:prstGeom prst="rect">
            <a:avLst/>
          </a:prstGeom>
          <a:noFill/>
        </p:spPr>
        <p:txBody>
          <a:bodyPr wrap="square" lIns="95250" tIns="95250" rIns="95250" bIns="95250" rtlCol="0" anchor="ctr"/>
          <a:lstStyle/>
          <a:p>
            <a:pPr marL="0" indent="0">
              <a:lnSpc>
                <a:spcPct val="100000"/>
              </a:lnSpc>
              <a:spcBef>
                <a:spcPts val="375"/>
              </a:spcBef>
              <a:buNone/>
            </a:pPr>
            <a:r>
              <a:rPr lang="en-US" sz="1585" b="1" dirty="0">
                <a:solidFill>
                  <a:srgbClr val="FFFFFF"/>
                </a:solidFill>
                <a:latin typeface="Noto Sans" pitchFamily="34" charset="0"/>
                <a:ea typeface="Noto Sans" pitchFamily="34" charset="-122"/>
                <a:cs typeface="Noto Sans" pitchFamily="34" charset="-120"/>
              </a:rPr>
              <a:t>技术手段与应用</a:t>
            </a:r>
            <a:endParaRPr lang="en-US" sz="1440" dirty="0"/>
          </a:p>
        </p:txBody>
      </p:sp>
      <p:sp>
        <p:nvSpPr>
          <p:cNvPr id="15" name="Text 7"/>
          <p:cNvSpPr/>
          <p:nvPr>
            <p:custDataLst>
              <p:tags r:id="rId13"/>
            </p:custDataLst>
          </p:nvPr>
        </p:nvSpPr>
        <p:spPr>
          <a:xfrm>
            <a:off x="3238268" y="2554790"/>
            <a:ext cx="2657487" cy="813816"/>
          </a:xfrm>
          <a:prstGeom prst="rect">
            <a:avLst/>
          </a:prstGeom>
          <a:noFill/>
        </p:spPr>
        <p:txBody>
          <a:bodyPr wrap="square" lIns="95250" tIns="95250" rIns="95250" bIns="95250" rtlCol="0" anchor="t">
            <a:spAutoFit/>
          </a:bodyPr>
          <a:lstStyle/>
          <a:p>
            <a:pPr marL="0" indent="0">
              <a:lnSpc>
                <a:spcPct val="100000"/>
              </a:lnSpc>
              <a:spcBef>
                <a:spcPts val="375"/>
              </a:spcBef>
              <a:buNone/>
            </a:pPr>
            <a:r>
              <a:rPr lang="en-US" sz="1150" dirty="0">
                <a:solidFill>
                  <a:srgbClr val="FFFFFF"/>
                </a:solidFill>
                <a:latin typeface="Noto Sans" pitchFamily="34" charset="0"/>
                <a:ea typeface="Noto Sans" pitchFamily="34" charset="-122"/>
                <a:cs typeface="Noto Sans" pitchFamily="34" charset="-120"/>
              </a:rPr>
              <a:t>平台采用协同过滤、内容推荐和混合推荐等先进技术手段，确保推送的设计方案、装修材料和家具商品能够精准匹配用户需求。</a:t>
            </a:r>
            <a:endParaRPr lang="en-US" sz="1440" dirty="0"/>
          </a:p>
        </p:txBody>
      </p:sp>
      <p:sp>
        <p:nvSpPr>
          <p:cNvPr id="16" name="Text 8"/>
          <p:cNvSpPr/>
          <p:nvPr>
            <p:custDataLst>
              <p:tags r:id="rId14"/>
            </p:custDataLst>
          </p:nvPr>
        </p:nvSpPr>
        <p:spPr>
          <a:xfrm>
            <a:off x="6196601" y="1497028"/>
            <a:ext cx="2556049" cy="409089"/>
          </a:xfrm>
          <a:prstGeom prst="rect">
            <a:avLst/>
          </a:prstGeom>
          <a:noFill/>
        </p:spPr>
        <p:txBody>
          <a:bodyPr wrap="square" lIns="95250" tIns="95250" rIns="95250" bIns="95250" rtlCol="0" anchor="ctr"/>
          <a:lstStyle/>
          <a:p>
            <a:pPr marL="0" indent="0">
              <a:lnSpc>
                <a:spcPct val="100000"/>
              </a:lnSpc>
              <a:spcBef>
                <a:spcPts val="375"/>
              </a:spcBef>
              <a:buNone/>
            </a:pPr>
            <a:r>
              <a:rPr lang="en-US" sz="1585" b="1" dirty="0">
                <a:solidFill>
                  <a:srgbClr val="FFFFFF"/>
                </a:solidFill>
                <a:latin typeface="Noto Sans" pitchFamily="34" charset="0"/>
                <a:ea typeface="Noto Sans" pitchFamily="34" charset="-122"/>
                <a:cs typeface="Noto Sans" pitchFamily="34" charset="-120"/>
              </a:rPr>
              <a:t>一站式服务平台</a:t>
            </a:r>
            <a:endParaRPr lang="en-US" sz="1440" dirty="0"/>
          </a:p>
        </p:txBody>
      </p:sp>
      <p:sp>
        <p:nvSpPr>
          <p:cNvPr id="17" name="Text 9"/>
          <p:cNvSpPr/>
          <p:nvPr>
            <p:custDataLst>
              <p:tags r:id="rId15"/>
            </p:custDataLst>
          </p:nvPr>
        </p:nvSpPr>
        <p:spPr>
          <a:xfrm>
            <a:off x="6196601" y="1996307"/>
            <a:ext cx="2657487" cy="813816"/>
          </a:xfrm>
          <a:prstGeom prst="rect">
            <a:avLst/>
          </a:prstGeom>
          <a:noFill/>
        </p:spPr>
        <p:txBody>
          <a:bodyPr wrap="square" lIns="95250" tIns="95250" rIns="95250" bIns="95250" rtlCol="0" anchor="t">
            <a:spAutoFit/>
          </a:bodyPr>
          <a:lstStyle/>
          <a:p>
            <a:pPr marL="0" indent="0">
              <a:lnSpc>
                <a:spcPct val="100000"/>
              </a:lnSpc>
              <a:spcBef>
                <a:spcPts val="375"/>
              </a:spcBef>
              <a:buNone/>
            </a:pPr>
            <a:r>
              <a:rPr lang="en-US" sz="1150" dirty="0">
                <a:solidFill>
                  <a:srgbClr val="FFFFFF"/>
                </a:solidFill>
                <a:latin typeface="Noto Sans" pitchFamily="34" charset="0"/>
                <a:ea typeface="Noto Sans" pitchFamily="34" charset="-122"/>
                <a:cs typeface="Noto Sans" pitchFamily="34" charset="-120"/>
              </a:rPr>
              <a:t>除了精准推送外，平台还整合了家装、工装、设计专区、装修资讯等多个模块，为用户提供从设计到实施的一站式服务，极大地提升了用户体验和决策效率。</a:t>
            </a:r>
            <a:endParaRPr lang="en-US" sz="144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283641" y="190697"/>
            <a:ext cx="8088253" cy="566928"/>
          </a:xfrm>
          <a:prstGeom prst="rect">
            <a:avLst/>
          </a:prstGeom>
          <a:noFill/>
        </p:spPr>
        <p:txBody>
          <a:bodyPr wrap="square" lIns="95250" tIns="95250" rIns="95250" bIns="95250" rtlCol="0" anchor="t"/>
          <a:lstStyle/>
          <a:p>
            <a:pPr marL="0" indent="0">
              <a:lnSpc>
                <a:spcPct val="113000"/>
              </a:lnSpc>
              <a:spcBef>
                <a:spcPts val="375"/>
              </a:spcBef>
              <a:buNone/>
            </a:pPr>
            <a:r>
              <a:rPr lang="en-US" sz="2015"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满足个性化需求</a:t>
            </a:r>
            <a:endParaRPr lang="en-US" sz="1440" dirty="0"/>
          </a:p>
        </p:txBody>
      </p:sp>
      <p:pic>
        <p:nvPicPr>
          <p:cNvPr id="3" name="Image 0" descr="preencoded.png"/>
          <p:cNvPicPr>
            <a:picLocks noChangeAspect="1"/>
          </p:cNvPicPr>
          <p:nvPr/>
        </p:nvPicPr>
        <p:blipFill>
          <a:blip r:embed="rId4">
            <a:alphaModFix amt="40000"/>
          </a:blip>
          <a:stretch>
            <a:fillRect/>
          </a:stretch>
        </p:blipFill>
        <p:spPr>
          <a:xfrm>
            <a:off x="2602916" y="1833635"/>
            <a:ext cx="6312484" cy="2662437"/>
          </a:xfrm>
          <a:prstGeom prst="rect">
            <a:avLst/>
          </a:prstGeom>
        </p:spPr>
      </p:pic>
      <p:sp>
        <p:nvSpPr>
          <p:cNvPr id="4" name="Shape 1"/>
          <p:cNvSpPr/>
          <p:nvPr/>
        </p:nvSpPr>
        <p:spPr>
          <a:xfrm>
            <a:off x="287145" y="1457198"/>
            <a:ext cx="2975372" cy="3038875"/>
          </a:xfrm>
          <a:custGeom>
            <a:avLst/>
            <a:gdLst/>
            <a:ahLst/>
            <a:cxnLst/>
            <a:rect l="l" t="t" r="r" b="b"/>
            <a:pathLst>
              <a:path w="2975372" h="3038875">
                <a:moveTo>
                  <a:pt x="426003" y="0"/>
                </a:moveTo>
                <a:moveTo>
                  <a:pt x="426003" y="0"/>
                </a:moveTo>
                <a:lnTo>
                  <a:pt x="2549369" y="0"/>
                </a:lnTo>
                <a:quadBezTo>
                  <a:pt x="2975372" y="0"/>
                  <a:pt x="2975372" y="426003"/>
                </a:quadBezTo>
                <a:lnTo>
                  <a:pt x="2975372" y="2612872"/>
                </a:lnTo>
                <a:quadBezTo>
                  <a:pt x="2975372" y="3038875"/>
                  <a:pt x="2549369" y="3038875"/>
                </a:quadBezTo>
                <a:lnTo>
                  <a:pt x="426003" y="3038875"/>
                </a:lnTo>
                <a:quadBezTo>
                  <a:pt x="0" y="3038875"/>
                  <a:pt x="0" y="2612872"/>
                </a:quadBezTo>
                <a:lnTo>
                  <a:pt x="0" y="426003"/>
                </a:lnTo>
                <a:quadBezTo>
                  <a:pt x="0" y="0"/>
                  <a:pt x="426003" y="0"/>
                </a:quadBezTo>
                <a:close/>
              </a:path>
            </a:pathLst>
          </a:custGeom>
          <a:solidFill>
            <a:srgbClr val="FFFFFF"/>
          </a:solidFill>
          <a:ln w="19050">
            <a:solidFill>
              <a:srgbClr val="2A5899"/>
            </a:solidFill>
            <a:prstDash val="solid"/>
          </a:ln>
        </p:spPr>
      </p:sp>
      <p:sp>
        <p:nvSpPr>
          <p:cNvPr id="5" name="Shape 2"/>
          <p:cNvSpPr/>
          <p:nvPr/>
        </p:nvSpPr>
        <p:spPr>
          <a:xfrm>
            <a:off x="580006" y="1073576"/>
            <a:ext cx="2431855" cy="649248"/>
          </a:xfrm>
          <a:custGeom>
            <a:avLst/>
            <a:gdLst/>
            <a:ahLst/>
            <a:cxnLst/>
            <a:rect l="l" t="t" r="r" b="b"/>
            <a:pathLst>
              <a:path w="2431855" h="649248">
                <a:moveTo>
                  <a:pt x="161595" y="0"/>
                </a:moveTo>
                <a:moveTo>
                  <a:pt x="161595" y="0"/>
                </a:moveTo>
                <a:lnTo>
                  <a:pt x="2270260" y="0"/>
                </a:lnTo>
                <a:quadBezTo>
                  <a:pt x="2431855" y="0"/>
                  <a:pt x="2431855" y="161595"/>
                </a:quadBezTo>
                <a:lnTo>
                  <a:pt x="2431855" y="487653"/>
                </a:lnTo>
                <a:quadBezTo>
                  <a:pt x="2431855" y="649248"/>
                  <a:pt x="2270260" y="649248"/>
                </a:quadBezTo>
                <a:lnTo>
                  <a:pt x="161595" y="649248"/>
                </a:lnTo>
                <a:quadBezTo>
                  <a:pt x="0" y="649248"/>
                  <a:pt x="0" y="487653"/>
                </a:quadBezTo>
                <a:lnTo>
                  <a:pt x="0" y="161595"/>
                </a:lnTo>
                <a:quadBezTo>
                  <a:pt x="0" y="0"/>
                  <a:pt x="161595" y="0"/>
                </a:quadBezTo>
                <a:close/>
              </a:path>
            </a:pathLst>
          </a:custGeom>
          <a:solidFill>
            <a:srgbClr val="0084FF"/>
          </a:solidFill>
        </p:spPr>
      </p:sp>
      <p:sp>
        <p:nvSpPr>
          <p:cNvPr id="6" name="Shape 3"/>
          <p:cNvSpPr/>
          <p:nvPr/>
        </p:nvSpPr>
        <p:spPr>
          <a:xfrm>
            <a:off x="3380991" y="1932994"/>
            <a:ext cx="5422275" cy="493149"/>
          </a:xfrm>
          <a:custGeom>
            <a:avLst/>
            <a:gdLst/>
            <a:ahLst/>
            <a:cxnLst/>
            <a:rect l="l" t="t" r="r" b="b"/>
            <a:pathLst>
              <a:path w="5422275" h="493149">
                <a:moveTo>
                  <a:pt x="163994" y="0"/>
                </a:moveTo>
                <a:moveTo>
                  <a:pt x="163994" y="0"/>
                </a:moveTo>
                <a:lnTo>
                  <a:pt x="5258282" y="0"/>
                </a:lnTo>
                <a:quadBezTo>
                  <a:pt x="5422275" y="0"/>
                  <a:pt x="5422275" y="138948"/>
                </a:quadBezTo>
                <a:lnTo>
                  <a:pt x="5422275" y="354201"/>
                </a:lnTo>
                <a:quadBezTo>
                  <a:pt x="5422275" y="493149"/>
                  <a:pt x="5258282" y="493149"/>
                </a:quadBezTo>
                <a:lnTo>
                  <a:pt x="163994" y="493149"/>
                </a:lnTo>
                <a:quadBezTo>
                  <a:pt x="0" y="493149"/>
                  <a:pt x="0" y="354201"/>
                </a:quadBezTo>
                <a:lnTo>
                  <a:pt x="0" y="138948"/>
                </a:lnTo>
                <a:quadBezTo>
                  <a:pt x="0" y="0"/>
                  <a:pt x="163994" y="0"/>
                </a:quadBezTo>
                <a:close/>
              </a:path>
            </a:pathLst>
          </a:custGeom>
          <a:solidFill>
            <a:srgbClr val="FFFFFF"/>
          </a:solidFill>
        </p:spPr>
      </p:sp>
      <p:pic>
        <p:nvPicPr>
          <p:cNvPr id="7" name="Image 1" descr="preencoded.png"/>
          <p:cNvPicPr>
            <a:picLocks noChangeAspect="1"/>
          </p:cNvPicPr>
          <p:nvPr/>
        </p:nvPicPr>
        <p:blipFill>
          <a:blip r:embed="rId5"/>
          <a:stretch>
            <a:fillRect/>
          </a:stretch>
        </p:blipFill>
        <p:spPr>
          <a:xfrm>
            <a:off x="3685190" y="2061925"/>
            <a:ext cx="254203" cy="254203"/>
          </a:xfrm>
          <a:prstGeom prst="rect">
            <a:avLst/>
          </a:prstGeom>
        </p:spPr>
      </p:pic>
      <p:sp>
        <p:nvSpPr>
          <p:cNvPr id="8" name="Shape 4"/>
          <p:cNvSpPr/>
          <p:nvPr/>
        </p:nvSpPr>
        <p:spPr>
          <a:xfrm>
            <a:off x="3380991" y="3155397"/>
            <a:ext cx="5422275" cy="493149"/>
          </a:xfrm>
          <a:custGeom>
            <a:avLst/>
            <a:gdLst/>
            <a:ahLst/>
            <a:cxnLst/>
            <a:rect l="l" t="t" r="r" b="b"/>
            <a:pathLst>
              <a:path w="5422275" h="493149">
                <a:moveTo>
                  <a:pt x="163994" y="0"/>
                </a:moveTo>
                <a:moveTo>
                  <a:pt x="163994" y="0"/>
                </a:moveTo>
                <a:lnTo>
                  <a:pt x="5258282" y="0"/>
                </a:lnTo>
                <a:quadBezTo>
                  <a:pt x="5422275" y="0"/>
                  <a:pt x="5422275" y="138948"/>
                </a:quadBezTo>
                <a:lnTo>
                  <a:pt x="5422275" y="354201"/>
                </a:lnTo>
                <a:quadBezTo>
                  <a:pt x="5422275" y="493149"/>
                  <a:pt x="5258282" y="493149"/>
                </a:quadBezTo>
                <a:lnTo>
                  <a:pt x="163994" y="493149"/>
                </a:lnTo>
                <a:quadBezTo>
                  <a:pt x="0" y="493149"/>
                  <a:pt x="0" y="354201"/>
                </a:quadBezTo>
                <a:lnTo>
                  <a:pt x="0" y="138948"/>
                </a:lnTo>
                <a:quadBezTo>
                  <a:pt x="0" y="0"/>
                  <a:pt x="163994" y="0"/>
                </a:quadBezTo>
                <a:close/>
              </a:path>
            </a:pathLst>
          </a:custGeom>
          <a:solidFill>
            <a:srgbClr val="FFFFFF"/>
          </a:solidFill>
        </p:spPr>
      </p:sp>
      <p:pic>
        <p:nvPicPr>
          <p:cNvPr id="9" name="Image 2" descr="preencoded.png"/>
          <p:cNvPicPr>
            <a:picLocks noChangeAspect="1"/>
          </p:cNvPicPr>
          <p:nvPr/>
        </p:nvPicPr>
        <p:blipFill>
          <a:blip r:embed="rId5"/>
          <a:stretch>
            <a:fillRect/>
          </a:stretch>
        </p:blipFill>
        <p:spPr>
          <a:xfrm>
            <a:off x="3685190" y="3284327"/>
            <a:ext cx="254203" cy="254203"/>
          </a:xfrm>
          <a:prstGeom prst="rect">
            <a:avLst/>
          </a:prstGeom>
        </p:spPr>
      </p:pic>
      <p:sp>
        <p:nvSpPr>
          <p:cNvPr id="10" name="Text 5"/>
          <p:cNvSpPr/>
          <p:nvPr/>
        </p:nvSpPr>
        <p:spPr>
          <a:xfrm>
            <a:off x="580006" y="1210748"/>
            <a:ext cx="2431855" cy="374904"/>
          </a:xfrm>
          <a:prstGeom prst="rect">
            <a:avLst/>
          </a:prstGeom>
          <a:noFill/>
        </p:spPr>
        <p:txBody>
          <a:bodyPr wrap="square" lIns="95250" tIns="95250" rIns="95250" bIns="95250" rtlCol="0" anchor="ctr"/>
          <a:lstStyle/>
          <a:p>
            <a:pPr marL="0" indent="0" algn="ctr">
              <a:lnSpc>
                <a:spcPct val="100000"/>
              </a:lnSpc>
              <a:spcBef>
                <a:spcPts val="375"/>
              </a:spcBef>
              <a:buNone/>
            </a:pPr>
            <a:r>
              <a:rPr lang="en-US" sz="1585" b="1" dirty="0">
                <a:solidFill>
                  <a:srgbClr val="FFFFFF"/>
                </a:solidFill>
                <a:latin typeface="Noto Sans" pitchFamily="34" charset="0"/>
                <a:ea typeface="Noto Sans" pitchFamily="34" charset="-122"/>
                <a:cs typeface="Noto Sans" pitchFamily="34" charset="-120"/>
              </a:rPr>
              <a:t>深度理解用户需求</a:t>
            </a:r>
            <a:endParaRPr lang="en-US" sz="1440" dirty="0"/>
          </a:p>
        </p:txBody>
      </p:sp>
      <p:sp>
        <p:nvSpPr>
          <p:cNvPr id="11" name="Text 6"/>
          <p:cNvSpPr/>
          <p:nvPr/>
        </p:nvSpPr>
        <p:spPr>
          <a:xfrm>
            <a:off x="484365" y="2226827"/>
            <a:ext cx="2580932" cy="1499616"/>
          </a:xfrm>
          <a:prstGeom prst="rect">
            <a:avLst/>
          </a:prstGeom>
          <a:noFill/>
        </p:spPr>
        <p:txBody>
          <a:bodyPr wrap="square" lIns="95250" tIns="95250" rIns="95250" bIns="95250" rtlCol="0" anchor="ctr"/>
          <a:lstStyle/>
          <a:p>
            <a:pPr marL="0" indent="0" algn="ctr">
              <a:lnSpc>
                <a:spcPct val="101000"/>
              </a:lnSpc>
              <a:spcBef>
                <a:spcPts val="375"/>
              </a:spcBef>
              <a:buNone/>
            </a:pPr>
            <a:r>
              <a:rPr lang="en-US" sz="1150" dirty="0">
                <a:solidFill>
                  <a:srgbClr val="272245"/>
                </a:solidFill>
                <a:latin typeface="Noto Sans" pitchFamily="34" charset="0"/>
                <a:ea typeface="Noto Sans" pitchFamily="34" charset="-122"/>
                <a:cs typeface="Noto Sans" pitchFamily="34" charset="-120"/>
              </a:rPr>
              <a:t>通过分析用户的浏览行为、偏好设置和历史订单等数据，平台能够精准把握用户个性化需求，提供量身定制的设计方案。</a:t>
            </a:r>
            <a:endParaRPr lang="en-US" sz="1440" dirty="0"/>
          </a:p>
        </p:txBody>
      </p:sp>
      <p:sp>
        <p:nvSpPr>
          <p:cNvPr id="12" name="Text 7"/>
          <p:cNvSpPr/>
          <p:nvPr/>
        </p:nvSpPr>
        <p:spPr>
          <a:xfrm>
            <a:off x="4028865" y="1997002"/>
            <a:ext cx="4683645" cy="374904"/>
          </a:xfrm>
          <a:prstGeom prst="rect">
            <a:avLst/>
          </a:prstGeom>
          <a:noFill/>
        </p:spPr>
        <p:txBody>
          <a:bodyPr wrap="square" lIns="95250" tIns="95250" rIns="95250" bIns="95250" rtlCol="0" anchor="ctr"/>
          <a:lstStyle/>
          <a:p>
            <a:pPr marL="0" indent="0">
              <a:lnSpc>
                <a:spcPct val="100000"/>
              </a:lnSpc>
              <a:spcBef>
                <a:spcPts val="375"/>
              </a:spcBef>
              <a:buNone/>
            </a:pPr>
            <a:r>
              <a:rPr lang="en-US" sz="1585" b="1" dirty="0">
                <a:solidFill>
                  <a:srgbClr val="2A5899"/>
                </a:solidFill>
                <a:latin typeface="Noto Sans" pitchFamily="34" charset="0"/>
                <a:ea typeface="Noto Sans" pitchFamily="34" charset="-122"/>
                <a:cs typeface="Noto Sans" pitchFamily="34" charset="-120"/>
              </a:rPr>
              <a:t>精准推送个性化方案</a:t>
            </a:r>
            <a:endParaRPr lang="en-US" sz="1440" dirty="0"/>
          </a:p>
        </p:txBody>
      </p:sp>
      <p:sp>
        <p:nvSpPr>
          <p:cNvPr id="13" name="Text 8"/>
          <p:cNvSpPr/>
          <p:nvPr/>
        </p:nvSpPr>
        <p:spPr>
          <a:xfrm>
            <a:off x="3523549" y="2440225"/>
            <a:ext cx="5279717" cy="603504"/>
          </a:xfrm>
          <a:prstGeom prst="rect">
            <a:avLst/>
          </a:prstGeom>
          <a:noFill/>
        </p:spPr>
        <p:txBody>
          <a:bodyPr wrap="square" lIns="95250" tIns="95250" rIns="95250" bIns="95250" rtlCol="0" anchor="t">
            <a:spAutoFit/>
          </a:bodyPr>
          <a:lstStyle/>
          <a:p>
            <a:pPr marL="0" indent="0">
              <a:lnSpc>
                <a:spcPct val="100000"/>
              </a:lnSpc>
              <a:spcBef>
                <a:spcPts val="375"/>
              </a:spcBef>
              <a:buNone/>
            </a:pPr>
            <a:r>
              <a:rPr lang="en-US" sz="1010" dirty="0">
                <a:solidFill>
                  <a:srgbClr val="272245"/>
                </a:solidFill>
                <a:latin typeface="Noto Sans" pitchFamily="34" charset="0"/>
                <a:ea typeface="Noto Sans" pitchFamily="34" charset="-122"/>
                <a:cs typeface="Noto Sans" pitchFamily="34" charset="-120"/>
              </a:rPr>
              <a:t>利用智能推荐算法，平台可以向用户推送符合其期望的装修材料和家具商品，节省用户寻找合适产品的时间和精力。</a:t>
            </a:r>
            <a:endParaRPr lang="en-US" sz="1440" dirty="0"/>
          </a:p>
        </p:txBody>
      </p:sp>
      <p:sp>
        <p:nvSpPr>
          <p:cNvPr id="14" name="Text 9"/>
          <p:cNvSpPr/>
          <p:nvPr/>
        </p:nvSpPr>
        <p:spPr>
          <a:xfrm>
            <a:off x="4028865" y="3219405"/>
            <a:ext cx="4683645" cy="374904"/>
          </a:xfrm>
          <a:prstGeom prst="rect">
            <a:avLst/>
          </a:prstGeom>
          <a:noFill/>
        </p:spPr>
        <p:txBody>
          <a:bodyPr wrap="square" lIns="95250" tIns="95250" rIns="95250" bIns="95250" rtlCol="0" anchor="ctr"/>
          <a:lstStyle/>
          <a:p>
            <a:pPr marL="0" indent="0">
              <a:lnSpc>
                <a:spcPct val="100000"/>
              </a:lnSpc>
              <a:spcBef>
                <a:spcPts val="375"/>
              </a:spcBef>
              <a:buNone/>
            </a:pPr>
            <a:r>
              <a:rPr lang="en-US" sz="1585" b="1" dirty="0">
                <a:solidFill>
                  <a:srgbClr val="2A5899"/>
                </a:solidFill>
                <a:latin typeface="Noto Sans" pitchFamily="34" charset="0"/>
                <a:ea typeface="Noto Sans" pitchFamily="34" charset="-122"/>
                <a:cs typeface="Noto Sans" pitchFamily="34" charset="-120"/>
              </a:rPr>
              <a:t>激发设计灵感与思路</a:t>
            </a:r>
            <a:endParaRPr lang="en-US" sz="1440" dirty="0"/>
          </a:p>
        </p:txBody>
      </p:sp>
      <p:sp>
        <p:nvSpPr>
          <p:cNvPr id="15" name="Text 10"/>
          <p:cNvSpPr/>
          <p:nvPr/>
        </p:nvSpPr>
        <p:spPr>
          <a:xfrm>
            <a:off x="3523549" y="3662627"/>
            <a:ext cx="5279717" cy="603504"/>
          </a:xfrm>
          <a:prstGeom prst="rect">
            <a:avLst/>
          </a:prstGeom>
          <a:noFill/>
        </p:spPr>
        <p:txBody>
          <a:bodyPr wrap="square" lIns="95250" tIns="95250" rIns="95250" bIns="95250" rtlCol="0" anchor="t">
            <a:spAutoFit/>
          </a:bodyPr>
          <a:lstStyle/>
          <a:p>
            <a:pPr marL="0" indent="0">
              <a:lnSpc>
                <a:spcPct val="100000"/>
              </a:lnSpc>
              <a:spcBef>
                <a:spcPts val="375"/>
              </a:spcBef>
              <a:buNone/>
            </a:pPr>
            <a:r>
              <a:rPr lang="en-US" sz="1010" dirty="0">
                <a:solidFill>
                  <a:srgbClr val="272245"/>
                </a:solidFill>
                <a:latin typeface="Noto Sans" pitchFamily="34" charset="0"/>
                <a:ea typeface="Noto Sans" pitchFamily="34" charset="-122"/>
                <a:cs typeface="Noto Sans" pitchFamily="34" charset="-120"/>
              </a:rPr>
              <a:t>平台不仅帮助消费者快速找到满意的定制方案，还能通过展示多样化的设计案例，激发他们的创意思考，拓展设计视野。</a:t>
            </a:r>
            <a:endParaRPr lang="en-US" sz="144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246639" y="1071087"/>
            <a:ext cx="2055531" cy="1883664"/>
          </a:xfrm>
          <a:prstGeom prst="rect">
            <a:avLst/>
          </a:prstGeom>
          <a:noFill/>
        </p:spPr>
        <p:txBody>
          <a:bodyPr wrap="square" lIns="95250" tIns="95250" rIns="95250" bIns="95250" rtlCol="0" anchor="t"/>
          <a:lstStyle/>
          <a:p>
            <a:pPr marL="0" indent="0" algn="ctr">
              <a:lnSpc>
                <a:spcPct val="113000"/>
              </a:lnSpc>
              <a:spcBef>
                <a:spcPts val="375"/>
              </a:spcBef>
              <a:buNone/>
            </a:pPr>
            <a:r>
              <a:rPr lang="en-US" sz="8930" b="1" dirty="0">
                <a:solidFill>
                  <a:srgbClr val="2A5899"/>
                </a:solidFill>
                <a:latin typeface="微软雅黑" panose="020B0503020204020204" pitchFamily="34" charset="-122"/>
                <a:ea typeface="微软雅黑" panose="020B0503020204020204" pitchFamily="34" charset="-122"/>
                <a:cs typeface="微软雅黑" panose="020B0503020204020204" pitchFamily="34" charset="-120"/>
              </a:rPr>
              <a:t>02</a:t>
            </a:r>
            <a:endParaRPr lang="en-US" sz="1440" dirty="0"/>
          </a:p>
        </p:txBody>
      </p:sp>
      <p:sp>
        <p:nvSpPr>
          <p:cNvPr id="3" name="Text 1"/>
          <p:cNvSpPr/>
          <p:nvPr/>
        </p:nvSpPr>
        <p:spPr>
          <a:xfrm>
            <a:off x="497579" y="2595807"/>
            <a:ext cx="5218432" cy="813816"/>
          </a:xfrm>
          <a:prstGeom prst="rect">
            <a:avLst/>
          </a:prstGeom>
          <a:noFill/>
        </p:spPr>
        <p:txBody>
          <a:bodyPr wrap="square" lIns="95250" tIns="95250" rIns="95250" bIns="95250" rtlCol="0" anchor="t"/>
          <a:lstStyle/>
          <a:p>
            <a:pPr marL="0" indent="0">
              <a:lnSpc>
                <a:spcPct val="113000"/>
              </a:lnSpc>
              <a:spcBef>
                <a:spcPts val="375"/>
              </a:spcBef>
              <a:buNone/>
            </a:pPr>
            <a:r>
              <a:rPr lang="en-US" sz="3310" b="1" dirty="0">
                <a:solidFill>
                  <a:srgbClr val="272245"/>
                </a:solidFill>
                <a:latin typeface="微软雅黑" panose="020B0503020204020204" pitchFamily="34" charset="-122"/>
                <a:ea typeface="微软雅黑" panose="020B0503020204020204" pitchFamily="34" charset="-122"/>
                <a:cs typeface="微软雅黑" panose="020B0503020204020204" pitchFamily="34" charset="-120"/>
              </a:rPr>
              <a:t>关键技术介绍</a:t>
            </a:r>
            <a:endParaRPr lang="en-US" sz="1440" dirty="0"/>
          </a:p>
        </p:txBody>
      </p:sp>
      <p:pic>
        <p:nvPicPr>
          <p:cNvPr id="4" name="Image 0" descr="https://sgw-dx.xf-yun.com/api/v1/sparkdesk/_19052329831_fVPc9i1733712667757-005544323224029091.png?authorization=c2ltcGxlLWp3dCBhaz1zcGFya2Rlc2s4MDAwMDAwMDAwMDE7ZXhwPTMzMTA1MTI2Nzk7YWxnbz1obWFjLXNoYTI1NjtzaWc9a2pCNm01T2o4VEJER0o1Q3FOV2VJYUpvODByWkFQclRoZVRqRnpXRnY1Yz0=&amp;x_location=7YfmxI7B7uKO7jlRxIftd60Ye5D="/>
          <p:cNvPicPr>
            <a:picLocks noChangeAspect="1"/>
          </p:cNvPicPr>
          <p:nvPr/>
        </p:nvPicPr>
        <p:blipFill>
          <a:blip r:embed="rId4"/>
          <a:stretch>
            <a:fillRect/>
          </a:stretch>
        </p:blipFill>
        <p:spPr>
          <a:xfrm>
            <a:off x="590374" y="2550087"/>
            <a:ext cx="2848105" cy="18288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283641" y="190697"/>
            <a:ext cx="8088253" cy="566928"/>
          </a:xfrm>
          <a:prstGeom prst="rect">
            <a:avLst/>
          </a:prstGeom>
          <a:noFill/>
        </p:spPr>
        <p:txBody>
          <a:bodyPr wrap="square" lIns="95250" tIns="95250" rIns="95250" bIns="95250" rtlCol="0" anchor="t"/>
          <a:lstStyle/>
          <a:p>
            <a:pPr marL="0" indent="0">
              <a:lnSpc>
                <a:spcPct val="113000"/>
              </a:lnSpc>
              <a:spcBef>
                <a:spcPts val="375"/>
              </a:spcBef>
              <a:buNone/>
            </a:pPr>
            <a:r>
              <a:rPr lang="en-US" sz="2015"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Python语言应用</a:t>
            </a:r>
            <a:endParaRPr lang="en-US" sz="1440" dirty="0"/>
          </a:p>
        </p:txBody>
      </p:sp>
      <p:sp>
        <p:nvSpPr>
          <p:cNvPr id="3" name="Shape 1"/>
          <p:cNvSpPr/>
          <p:nvPr/>
        </p:nvSpPr>
        <p:spPr>
          <a:xfrm>
            <a:off x="275547" y="2510489"/>
            <a:ext cx="1950182" cy="2207440"/>
          </a:xfrm>
          <a:custGeom>
            <a:avLst/>
            <a:gdLst/>
            <a:ahLst/>
            <a:cxnLst/>
            <a:rect l="l" t="t" r="r" b="b"/>
            <a:pathLst>
              <a:path w="1950182" h="2207440">
                <a:moveTo>
                  <a:pt x="0" y="0"/>
                </a:moveTo>
                <a:moveTo>
                  <a:pt x="0" y="0"/>
                </a:moveTo>
                <a:lnTo>
                  <a:pt x="1950182" y="0"/>
                </a:lnTo>
                <a:lnTo>
                  <a:pt x="1950182" y="2207440"/>
                </a:lnTo>
                <a:lnTo>
                  <a:pt x="0" y="2207440"/>
                </a:lnTo>
                <a:close/>
              </a:path>
            </a:pathLst>
          </a:custGeom>
          <a:solidFill>
            <a:srgbClr val="0084FF"/>
          </a:solidFill>
        </p:spPr>
      </p:sp>
      <p:sp>
        <p:nvSpPr>
          <p:cNvPr id="4" name="Shape 2"/>
          <p:cNvSpPr/>
          <p:nvPr/>
        </p:nvSpPr>
        <p:spPr>
          <a:xfrm>
            <a:off x="2310798" y="2030496"/>
            <a:ext cx="1950182" cy="2687432"/>
          </a:xfrm>
          <a:custGeom>
            <a:avLst/>
            <a:gdLst/>
            <a:ahLst/>
            <a:cxnLst/>
            <a:rect l="l" t="t" r="r" b="b"/>
            <a:pathLst>
              <a:path w="1950182" h="2687432">
                <a:moveTo>
                  <a:pt x="0" y="0"/>
                </a:moveTo>
                <a:moveTo>
                  <a:pt x="0" y="0"/>
                </a:moveTo>
                <a:lnTo>
                  <a:pt x="1950182" y="0"/>
                </a:lnTo>
                <a:lnTo>
                  <a:pt x="1950182" y="2687432"/>
                </a:lnTo>
                <a:lnTo>
                  <a:pt x="0" y="2687432"/>
                </a:lnTo>
                <a:close/>
              </a:path>
            </a:pathLst>
          </a:custGeom>
          <a:solidFill>
            <a:srgbClr val="0084FF"/>
          </a:solidFill>
        </p:spPr>
      </p:sp>
      <p:sp>
        <p:nvSpPr>
          <p:cNvPr id="5" name="Shape 3"/>
          <p:cNvSpPr/>
          <p:nvPr/>
        </p:nvSpPr>
        <p:spPr>
          <a:xfrm>
            <a:off x="4346048" y="1483296"/>
            <a:ext cx="1950308" cy="3234633"/>
          </a:xfrm>
          <a:custGeom>
            <a:avLst/>
            <a:gdLst/>
            <a:ahLst/>
            <a:cxnLst/>
            <a:rect l="l" t="t" r="r" b="b"/>
            <a:pathLst>
              <a:path w="1950308" h="3234633">
                <a:moveTo>
                  <a:pt x="0" y="0"/>
                </a:moveTo>
                <a:moveTo>
                  <a:pt x="0" y="0"/>
                </a:moveTo>
                <a:lnTo>
                  <a:pt x="1950308" y="0"/>
                </a:lnTo>
                <a:lnTo>
                  <a:pt x="1950308" y="3234633"/>
                </a:lnTo>
                <a:lnTo>
                  <a:pt x="0" y="3234633"/>
                </a:lnTo>
                <a:close/>
              </a:path>
            </a:pathLst>
          </a:custGeom>
          <a:solidFill>
            <a:srgbClr val="0084FF"/>
          </a:solidFill>
        </p:spPr>
      </p:sp>
      <p:sp>
        <p:nvSpPr>
          <p:cNvPr id="6" name="Text 4"/>
          <p:cNvSpPr/>
          <p:nvPr/>
        </p:nvSpPr>
        <p:spPr>
          <a:xfrm>
            <a:off x="275547" y="2510489"/>
            <a:ext cx="1950182" cy="797696"/>
          </a:xfrm>
          <a:prstGeom prst="rect">
            <a:avLst/>
          </a:prstGeom>
          <a:noFill/>
        </p:spPr>
        <p:txBody>
          <a:bodyPr wrap="square" lIns="95250" tIns="95250" rIns="95250" bIns="95250" rtlCol="0" anchor="ctr"/>
          <a:lstStyle/>
          <a:p>
            <a:pPr marL="0" indent="0">
              <a:lnSpc>
                <a:spcPct val="100000"/>
              </a:lnSpc>
              <a:spcBef>
                <a:spcPts val="375"/>
              </a:spcBef>
              <a:buNone/>
            </a:pPr>
            <a:r>
              <a:rPr lang="en-US" sz="1585" b="1" dirty="0">
                <a:solidFill>
                  <a:srgbClr val="FFFFFF"/>
                </a:solidFill>
                <a:latin typeface="Noto Sans" pitchFamily="34" charset="0"/>
                <a:ea typeface="Noto Sans" pitchFamily="34" charset="-122"/>
                <a:cs typeface="Noto Sans" pitchFamily="34" charset="-120"/>
              </a:rPr>
              <a:t>Python的语法清晰性</a:t>
            </a:r>
            <a:endParaRPr lang="en-US" sz="1440" dirty="0"/>
          </a:p>
        </p:txBody>
      </p:sp>
      <p:pic>
        <p:nvPicPr>
          <p:cNvPr id="7" name="Image 0" descr="https://sgw-dx.xf-yun.com/api/v1/sparkdesk/_174411698733767155a941da041b2b2bbb920488b2d64.jpg?authorization=c2ltcGxlLWp3dCBhaz1zcGFya2Rlc2s4MDAwMDAwMDAwMDE7ZXhwPTMzMjA5MTY5ODc7YWxnbz1obWFjLXNoYTI1NjtzaWc9dnVaR0xuVXZVcE1kMkltOWlSMW5welh4Q29jdXFadlh0RUphejRkRXJlST0=&amp;x_location=7YfmxI7B7uKO7jlRxIftd6UoePD="/>
          <p:cNvPicPr>
            <a:picLocks noChangeAspect="1"/>
          </p:cNvPicPr>
          <p:nvPr/>
        </p:nvPicPr>
        <p:blipFill>
          <a:blip r:embed="rId4"/>
          <a:srcRect l="16667" r="16667"/>
          <a:stretch>
            <a:fillRect/>
          </a:stretch>
        </p:blipFill>
        <p:spPr>
          <a:xfrm>
            <a:off x="6381425" y="987386"/>
            <a:ext cx="2487028" cy="3730543"/>
          </a:xfrm>
          <a:prstGeom prst="rect">
            <a:avLst/>
          </a:prstGeom>
        </p:spPr>
      </p:pic>
      <p:sp>
        <p:nvSpPr>
          <p:cNvPr id="8" name="Text 5"/>
          <p:cNvSpPr/>
          <p:nvPr/>
        </p:nvSpPr>
        <p:spPr>
          <a:xfrm>
            <a:off x="275547" y="3220684"/>
            <a:ext cx="1950182" cy="1024128"/>
          </a:xfrm>
          <a:prstGeom prst="rect">
            <a:avLst/>
          </a:prstGeom>
          <a:noFill/>
        </p:spPr>
        <p:txBody>
          <a:bodyPr wrap="square" lIns="95250" tIns="95250" rIns="95250" bIns="95250" rtlCol="0" anchor="t">
            <a:spAutoFit/>
          </a:bodyPr>
          <a:lstStyle/>
          <a:p>
            <a:pPr marL="0" indent="0">
              <a:lnSpc>
                <a:spcPct val="100000"/>
              </a:lnSpc>
              <a:spcBef>
                <a:spcPts val="375"/>
              </a:spcBef>
              <a:buNone/>
            </a:pPr>
            <a:r>
              <a:rPr lang="en-US" sz="1150" dirty="0">
                <a:solidFill>
                  <a:srgbClr val="FFFFFF"/>
                </a:solidFill>
                <a:latin typeface="Noto Sans" pitchFamily="34" charset="0"/>
                <a:ea typeface="Noto Sans" pitchFamily="34" charset="-122"/>
                <a:cs typeface="Noto Sans" pitchFamily="34" charset="-120"/>
              </a:rPr>
              <a:t>Python以其简洁明了的语法结构著称，这使得开发者能够快速编写和理解代码，极大地提高了开发效率，尤其在管理系统的开发中显得尤为重要。</a:t>
            </a:r>
            <a:endParaRPr lang="en-US" sz="1440" dirty="0"/>
          </a:p>
        </p:txBody>
      </p:sp>
      <p:sp>
        <p:nvSpPr>
          <p:cNvPr id="9" name="Text 6"/>
          <p:cNvSpPr/>
          <p:nvPr/>
        </p:nvSpPr>
        <p:spPr>
          <a:xfrm>
            <a:off x="2310798" y="2134379"/>
            <a:ext cx="1950182" cy="752219"/>
          </a:xfrm>
          <a:prstGeom prst="rect">
            <a:avLst/>
          </a:prstGeom>
          <a:noFill/>
        </p:spPr>
        <p:txBody>
          <a:bodyPr wrap="square" lIns="95250" tIns="95250" rIns="95250" bIns="95250" rtlCol="0" anchor="ctr"/>
          <a:lstStyle/>
          <a:p>
            <a:pPr marL="0" indent="0">
              <a:lnSpc>
                <a:spcPct val="100000"/>
              </a:lnSpc>
              <a:spcBef>
                <a:spcPts val="375"/>
              </a:spcBef>
              <a:buNone/>
            </a:pPr>
            <a:r>
              <a:rPr lang="en-US" sz="1585" b="1" dirty="0">
                <a:solidFill>
                  <a:srgbClr val="FFFFFF"/>
                </a:solidFill>
                <a:latin typeface="Noto Sans" pitchFamily="34" charset="0"/>
                <a:ea typeface="Noto Sans" pitchFamily="34" charset="-122"/>
                <a:cs typeface="Noto Sans" pitchFamily="34" charset="-120"/>
              </a:rPr>
              <a:t>Python生态系统的强大</a:t>
            </a:r>
            <a:endParaRPr lang="en-US" sz="1440" dirty="0"/>
          </a:p>
        </p:txBody>
      </p:sp>
      <p:sp>
        <p:nvSpPr>
          <p:cNvPr id="10" name="Text 7"/>
          <p:cNvSpPr/>
          <p:nvPr/>
        </p:nvSpPr>
        <p:spPr>
          <a:xfrm>
            <a:off x="2310798" y="2996607"/>
            <a:ext cx="1950182" cy="1024128"/>
          </a:xfrm>
          <a:prstGeom prst="rect">
            <a:avLst/>
          </a:prstGeom>
          <a:noFill/>
        </p:spPr>
        <p:txBody>
          <a:bodyPr wrap="square" lIns="95250" tIns="95250" rIns="95250" bIns="95250" rtlCol="0" anchor="t">
            <a:spAutoFit/>
          </a:bodyPr>
          <a:lstStyle/>
          <a:p>
            <a:pPr marL="0" indent="0">
              <a:lnSpc>
                <a:spcPct val="100000"/>
              </a:lnSpc>
              <a:spcBef>
                <a:spcPts val="375"/>
              </a:spcBef>
              <a:buNone/>
            </a:pPr>
            <a:r>
              <a:rPr lang="en-US" sz="1150" dirty="0">
                <a:solidFill>
                  <a:srgbClr val="FFFFFF"/>
                </a:solidFill>
                <a:latin typeface="Noto Sans" pitchFamily="34" charset="0"/>
                <a:ea typeface="Noto Sans" pitchFamily="34" charset="-122"/>
                <a:cs typeface="Noto Sans" pitchFamily="34" charset="-120"/>
              </a:rPr>
              <a:t>Python拥有一个庞大且活跃的社区，提供了大量的库和工具，这些资源对于基于B/S模型的管理系统开发至关重要，可以有效支持各种功能需求。</a:t>
            </a:r>
            <a:endParaRPr lang="en-US" sz="1440" dirty="0"/>
          </a:p>
        </p:txBody>
      </p:sp>
      <p:sp>
        <p:nvSpPr>
          <p:cNvPr id="11" name="Text 8"/>
          <p:cNvSpPr/>
          <p:nvPr/>
        </p:nvSpPr>
        <p:spPr>
          <a:xfrm>
            <a:off x="4346111" y="1694495"/>
            <a:ext cx="1950182" cy="841565"/>
          </a:xfrm>
          <a:prstGeom prst="rect">
            <a:avLst/>
          </a:prstGeom>
          <a:noFill/>
        </p:spPr>
        <p:txBody>
          <a:bodyPr wrap="square" lIns="95250" tIns="95250" rIns="95250" bIns="95250" rtlCol="0" anchor="ctr"/>
          <a:lstStyle/>
          <a:p>
            <a:pPr marL="0" indent="0">
              <a:lnSpc>
                <a:spcPct val="100000"/>
              </a:lnSpc>
              <a:spcBef>
                <a:spcPts val="375"/>
              </a:spcBef>
              <a:buNone/>
            </a:pPr>
            <a:r>
              <a:rPr lang="en-US" sz="1585" b="1" dirty="0">
                <a:solidFill>
                  <a:srgbClr val="FFFFFF"/>
                </a:solidFill>
                <a:latin typeface="Noto Sans" pitchFamily="34" charset="0"/>
                <a:ea typeface="Noto Sans" pitchFamily="34" charset="-122"/>
                <a:cs typeface="Noto Sans" pitchFamily="34" charset="-120"/>
              </a:rPr>
              <a:t>Django框架的优势</a:t>
            </a:r>
            <a:endParaRPr lang="en-US" sz="1440" dirty="0"/>
          </a:p>
        </p:txBody>
      </p:sp>
      <p:sp>
        <p:nvSpPr>
          <p:cNvPr id="12" name="Text 9"/>
          <p:cNvSpPr/>
          <p:nvPr/>
        </p:nvSpPr>
        <p:spPr>
          <a:xfrm>
            <a:off x="4346048" y="2607712"/>
            <a:ext cx="1950182" cy="1024128"/>
          </a:xfrm>
          <a:prstGeom prst="rect">
            <a:avLst/>
          </a:prstGeom>
          <a:noFill/>
        </p:spPr>
        <p:txBody>
          <a:bodyPr wrap="square" lIns="95250" tIns="95250" rIns="95250" bIns="95250" rtlCol="0" anchor="t">
            <a:spAutoFit/>
          </a:bodyPr>
          <a:lstStyle/>
          <a:p>
            <a:pPr marL="0" indent="0">
              <a:lnSpc>
                <a:spcPct val="100000"/>
              </a:lnSpc>
              <a:spcBef>
                <a:spcPts val="375"/>
              </a:spcBef>
              <a:buNone/>
            </a:pPr>
            <a:r>
              <a:rPr lang="en-US" sz="1150" dirty="0">
                <a:solidFill>
                  <a:srgbClr val="FFFFFF"/>
                </a:solidFill>
                <a:latin typeface="Noto Sans" pitchFamily="34" charset="0"/>
                <a:ea typeface="Noto Sans" pitchFamily="34" charset="-122"/>
                <a:cs typeface="Noto Sans" pitchFamily="34" charset="-120"/>
              </a:rPr>
              <a:t>选择Django作为后端框架，主要得益于其自动化工具和丰富的功能，这不仅简化了开发流程，还加快了项目的推进速度，使得系统开发更加高效。</a:t>
            </a:r>
            <a:endParaRPr lang="en-US" sz="144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283641" y="190697"/>
            <a:ext cx="8088253" cy="566928"/>
          </a:xfrm>
          <a:prstGeom prst="rect">
            <a:avLst/>
          </a:prstGeom>
          <a:noFill/>
        </p:spPr>
        <p:txBody>
          <a:bodyPr wrap="square" lIns="95250" tIns="95250" rIns="95250" bIns="95250" rtlCol="0" anchor="t"/>
          <a:lstStyle/>
          <a:p>
            <a:pPr marL="0" indent="0">
              <a:lnSpc>
                <a:spcPct val="113000"/>
              </a:lnSpc>
              <a:spcBef>
                <a:spcPts val="375"/>
              </a:spcBef>
              <a:buNone/>
            </a:pPr>
            <a:r>
              <a:rPr lang="en-US" sz="2015"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MySQL数据库存储</a:t>
            </a:r>
            <a:endParaRPr lang="en-US" sz="1440" dirty="0"/>
          </a:p>
        </p:txBody>
      </p:sp>
      <p:sp>
        <p:nvSpPr>
          <p:cNvPr id="3" name="Shape 1"/>
          <p:cNvSpPr/>
          <p:nvPr/>
        </p:nvSpPr>
        <p:spPr>
          <a:xfrm>
            <a:off x="1575236" y="1315640"/>
            <a:ext cx="7243956" cy="3189636"/>
          </a:xfrm>
          <a:custGeom>
            <a:avLst/>
            <a:gdLst/>
            <a:ahLst/>
            <a:cxnLst/>
            <a:rect l="l" t="t" r="r" b="b"/>
            <a:pathLst>
              <a:path w="7243956" h="3189636">
                <a:moveTo>
                  <a:pt x="398705" y="0"/>
                </a:moveTo>
                <a:moveTo>
                  <a:pt x="398705" y="0"/>
                </a:moveTo>
                <a:lnTo>
                  <a:pt x="6845251" y="0"/>
                </a:lnTo>
                <a:quadBezTo>
                  <a:pt x="7243956" y="0"/>
                  <a:pt x="7243956" y="398705"/>
                </a:quadBezTo>
                <a:lnTo>
                  <a:pt x="7243956" y="2790932"/>
                </a:lnTo>
                <a:quadBezTo>
                  <a:pt x="7243956" y="3189636"/>
                  <a:pt x="6845251" y="3189636"/>
                </a:quadBezTo>
                <a:lnTo>
                  <a:pt x="398705" y="3189636"/>
                </a:lnTo>
                <a:quadBezTo>
                  <a:pt x="0" y="3189636"/>
                  <a:pt x="0" y="2790932"/>
                </a:quadBezTo>
                <a:lnTo>
                  <a:pt x="0" y="398705"/>
                </a:lnTo>
                <a:quadBezTo>
                  <a:pt x="0" y="0"/>
                  <a:pt x="398705" y="0"/>
                </a:quadBezTo>
                <a:close/>
              </a:path>
            </a:pathLst>
          </a:custGeom>
          <a:solidFill>
            <a:srgbClr val="0084FF">
              <a:alpha val="0"/>
            </a:srgbClr>
          </a:solidFill>
          <a:ln w="95250">
            <a:solidFill>
              <a:srgbClr val="2A5899">
                <a:alpha val="12157"/>
              </a:srgbClr>
            </a:solidFill>
            <a:prstDash val="solid"/>
          </a:ln>
        </p:spPr>
      </p:sp>
      <p:sp>
        <p:nvSpPr>
          <p:cNvPr id="4" name="Shape 2"/>
          <p:cNvSpPr/>
          <p:nvPr/>
        </p:nvSpPr>
        <p:spPr>
          <a:xfrm>
            <a:off x="246513" y="1093905"/>
            <a:ext cx="2152158" cy="3583954"/>
          </a:xfrm>
          <a:custGeom>
            <a:avLst/>
            <a:gdLst/>
            <a:ahLst/>
            <a:cxnLst/>
            <a:rect l="l" t="t" r="r" b="b"/>
            <a:pathLst>
              <a:path w="2152158" h="3583954">
                <a:moveTo>
                  <a:pt x="98930" y="0"/>
                </a:moveTo>
                <a:moveTo>
                  <a:pt x="98930" y="0"/>
                </a:moveTo>
                <a:lnTo>
                  <a:pt x="2053228" y="0"/>
                </a:lnTo>
                <a:quadBezTo>
                  <a:pt x="2152158" y="0"/>
                  <a:pt x="2152158" y="98930"/>
                </a:quadBezTo>
                <a:lnTo>
                  <a:pt x="2152158" y="3485024"/>
                </a:lnTo>
                <a:quadBezTo>
                  <a:pt x="2152158" y="3583954"/>
                  <a:pt x="2053228" y="3583954"/>
                </a:quadBezTo>
                <a:lnTo>
                  <a:pt x="98930" y="3583954"/>
                </a:lnTo>
                <a:quadBezTo>
                  <a:pt x="0" y="3583954"/>
                  <a:pt x="0" y="3485024"/>
                </a:quadBezTo>
                <a:lnTo>
                  <a:pt x="0" y="98930"/>
                </a:lnTo>
                <a:quadBezTo>
                  <a:pt x="0" y="0"/>
                  <a:pt x="98930" y="0"/>
                </a:quadBezTo>
                <a:close/>
              </a:path>
            </a:pathLst>
          </a:custGeom>
          <a:solidFill>
            <a:srgbClr val="0084FF"/>
          </a:solidFill>
        </p:spPr>
      </p:sp>
      <p:pic>
        <p:nvPicPr>
          <p:cNvPr id="5" name="Image 0" descr="preencoded.png"/>
          <p:cNvPicPr>
            <a:picLocks noChangeAspect="1"/>
          </p:cNvPicPr>
          <p:nvPr/>
        </p:nvPicPr>
        <p:blipFill>
          <a:blip r:embed="rId4"/>
          <a:stretch>
            <a:fillRect/>
          </a:stretch>
        </p:blipFill>
        <p:spPr>
          <a:xfrm>
            <a:off x="2847067" y="2040271"/>
            <a:ext cx="1714500" cy="457200"/>
          </a:xfrm>
          <a:prstGeom prst="rect">
            <a:avLst/>
          </a:prstGeom>
        </p:spPr>
      </p:pic>
      <p:pic>
        <p:nvPicPr>
          <p:cNvPr id="6" name="Image 1" descr="preencoded.png"/>
          <p:cNvPicPr>
            <a:picLocks noChangeAspect="1"/>
          </p:cNvPicPr>
          <p:nvPr/>
        </p:nvPicPr>
        <p:blipFill>
          <a:blip r:embed="rId4"/>
          <a:stretch>
            <a:fillRect/>
          </a:stretch>
        </p:blipFill>
        <p:spPr>
          <a:xfrm>
            <a:off x="4773543" y="2040271"/>
            <a:ext cx="1714500" cy="457200"/>
          </a:xfrm>
          <a:prstGeom prst="rect">
            <a:avLst/>
          </a:prstGeom>
        </p:spPr>
      </p:pic>
      <p:pic>
        <p:nvPicPr>
          <p:cNvPr id="7" name="Image 2" descr="preencoded.png"/>
          <p:cNvPicPr>
            <a:picLocks noChangeAspect="1"/>
          </p:cNvPicPr>
          <p:nvPr/>
        </p:nvPicPr>
        <p:blipFill>
          <a:blip r:embed="rId4"/>
          <a:stretch>
            <a:fillRect/>
          </a:stretch>
        </p:blipFill>
        <p:spPr>
          <a:xfrm>
            <a:off x="6700019" y="2040271"/>
            <a:ext cx="1714500" cy="457200"/>
          </a:xfrm>
          <a:prstGeom prst="rect">
            <a:avLst/>
          </a:prstGeom>
        </p:spPr>
      </p:pic>
      <p:sp>
        <p:nvSpPr>
          <p:cNvPr id="8" name="Text 3"/>
          <p:cNvSpPr/>
          <p:nvPr/>
        </p:nvSpPr>
        <p:spPr>
          <a:xfrm>
            <a:off x="2847067" y="1628791"/>
            <a:ext cx="1926476" cy="374904"/>
          </a:xfrm>
          <a:prstGeom prst="rect">
            <a:avLst/>
          </a:prstGeom>
          <a:noFill/>
        </p:spPr>
        <p:txBody>
          <a:bodyPr wrap="square" lIns="95250" tIns="95250" rIns="95250" bIns="95250" rtlCol="0" anchor="t"/>
          <a:lstStyle/>
          <a:p>
            <a:pPr marL="0" indent="0">
              <a:lnSpc>
                <a:spcPct val="100000"/>
              </a:lnSpc>
              <a:spcBef>
                <a:spcPts val="375"/>
              </a:spcBef>
              <a:buNone/>
            </a:pPr>
            <a:r>
              <a:rPr lang="en-US" sz="1585" b="1" dirty="0">
                <a:solidFill>
                  <a:srgbClr val="2A5899"/>
                </a:solidFill>
                <a:latin typeface="Noto Sans" pitchFamily="34" charset="0"/>
                <a:ea typeface="Noto Sans" pitchFamily="34" charset="-122"/>
                <a:cs typeface="Noto Sans" pitchFamily="34" charset="-120"/>
              </a:rPr>
              <a:t>数据存储和管理</a:t>
            </a:r>
            <a:endParaRPr lang="en-US" sz="1440" dirty="0"/>
          </a:p>
        </p:txBody>
      </p:sp>
      <p:pic>
        <p:nvPicPr>
          <p:cNvPr id="9" name="Image 3" descr="https://sgw-dx.xf-yun.com/api/v1/sparkdesk/_17441170206847b1e5cf6d997484eab1c34cb85c66247.jpg?authorization=c2ltcGxlLWp3dCBhaz1zcGFya2Rlc2s4MDAwMDAwMDAwMDE7ZXhwPTMzMjA5MTcwMjA7YWxnbz1obWFjLXNoYTI1NjtzaWc9dUhWdm1NTFBsZFI5cDdmT0lmVVBwRmRmSGNrNVJ3eWhkUG94UDNjS1RtYz0=&amp;x_location=7YfmxI7B7uKO7jlRxIftd6UoePD="/>
          <p:cNvPicPr>
            <a:picLocks noChangeAspect="1"/>
          </p:cNvPicPr>
          <p:nvPr/>
        </p:nvPicPr>
        <p:blipFill>
          <a:blip r:embed="rId5"/>
          <a:srcRect l="20000" r="20000"/>
          <a:stretch>
            <a:fillRect/>
          </a:stretch>
        </p:blipFill>
        <p:spPr>
          <a:xfrm>
            <a:off x="402359" y="970369"/>
            <a:ext cx="2152180" cy="3583848"/>
          </a:xfrm>
          <a:prstGeom prst="rect">
            <a:avLst/>
          </a:prstGeom>
        </p:spPr>
      </p:pic>
      <p:sp>
        <p:nvSpPr>
          <p:cNvPr id="10" name="Text 4"/>
          <p:cNvSpPr/>
          <p:nvPr/>
        </p:nvSpPr>
        <p:spPr>
          <a:xfrm>
            <a:off x="2847067" y="2333760"/>
            <a:ext cx="1645920" cy="1280160"/>
          </a:xfrm>
          <a:prstGeom prst="rect">
            <a:avLst/>
          </a:prstGeom>
          <a:noFill/>
        </p:spPr>
        <p:txBody>
          <a:bodyPr wrap="square" lIns="95250" tIns="95250" rIns="95250" bIns="95250" rtlCol="0" anchor="t">
            <a:spAutoFit/>
          </a:bodyPr>
          <a:lstStyle/>
          <a:p>
            <a:pPr marL="0" indent="0">
              <a:lnSpc>
                <a:spcPct val="100000"/>
              </a:lnSpc>
              <a:spcBef>
                <a:spcPts val="375"/>
              </a:spcBef>
              <a:buNone/>
            </a:pPr>
            <a:r>
              <a:rPr lang="en-US" sz="1150" dirty="0">
                <a:solidFill>
                  <a:srgbClr val="272245"/>
                </a:solidFill>
                <a:latin typeface="Noto Sans" pitchFamily="34" charset="0"/>
                <a:ea typeface="Noto Sans" pitchFamily="34" charset="-122"/>
                <a:cs typeface="Noto Sans" pitchFamily="34" charset="-120"/>
              </a:rPr>
              <a:t>MySQL数据库以其高性能、稳定性和易用性著称，适用于从小型网站到大型企业级应用的各种数据存储需求。它提供了完善的数据管理功能，包括数据的增加、删除、修改和查询等操作。</a:t>
            </a:r>
            <a:endParaRPr lang="en-US" sz="1440" dirty="0"/>
          </a:p>
        </p:txBody>
      </p:sp>
      <p:sp>
        <p:nvSpPr>
          <p:cNvPr id="11" name="Text 5"/>
          <p:cNvSpPr/>
          <p:nvPr/>
        </p:nvSpPr>
        <p:spPr>
          <a:xfrm>
            <a:off x="4773543" y="1628791"/>
            <a:ext cx="1926476" cy="347472"/>
          </a:xfrm>
          <a:prstGeom prst="rect">
            <a:avLst/>
          </a:prstGeom>
          <a:noFill/>
        </p:spPr>
        <p:txBody>
          <a:bodyPr wrap="square" lIns="95250" tIns="95250" rIns="95250" bIns="95250" rtlCol="0" anchor="t"/>
          <a:lstStyle/>
          <a:p>
            <a:pPr marL="0" indent="0">
              <a:lnSpc>
                <a:spcPct val="100000"/>
              </a:lnSpc>
              <a:spcBef>
                <a:spcPts val="375"/>
              </a:spcBef>
              <a:buNone/>
            </a:pPr>
            <a:r>
              <a:rPr lang="en-US" sz="1585" b="1" dirty="0">
                <a:solidFill>
                  <a:srgbClr val="2A5899"/>
                </a:solidFill>
                <a:latin typeface="Noto Sans" pitchFamily="34" charset="0"/>
                <a:ea typeface="Noto Sans" pitchFamily="34" charset="-122"/>
                <a:cs typeface="Noto Sans" pitchFamily="34" charset="-120"/>
              </a:rPr>
              <a:t>事务处理和并发控制</a:t>
            </a:r>
            <a:endParaRPr lang="en-US" sz="1440" dirty="0"/>
          </a:p>
        </p:txBody>
      </p:sp>
      <p:sp>
        <p:nvSpPr>
          <p:cNvPr id="12" name="Text 6"/>
          <p:cNvSpPr/>
          <p:nvPr/>
        </p:nvSpPr>
        <p:spPr>
          <a:xfrm>
            <a:off x="4773543" y="2333760"/>
            <a:ext cx="1645920" cy="1280160"/>
          </a:xfrm>
          <a:prstGeom prst="rect">
            <a:avLst/>
          </a:prstGeom>
          <a:noFill/>
        </p:spPr>
        <p:txBody>
          <a:bodyPr wrap="square" lIns="95250" tIns="95250" rIns="95250" bIns="95250" rtlCol="0" anchor="t">
            <a:spAutoFit/>
          </a:bodyPr>
          <a:lstStyle/>
          <a:p>
            <a:pPr marL="0" indent="0">
              <a:lnSpc>
                <a:spcPct val="100000"/>
              </a:lnSpc>
              <a:spcBef>
                <a:spcPts val="375"/>
              </a:spcBef>
              <a:buNone/>
            </a:pPr>
            <a:r>
              <a:rPr lang="en-US" sz="1150" dirty="0">
                <a:solidFill>
                  <a:srgbClr val="272245"/>
                </a:solidFill>
                <a:latin typeface="Noto Sans" pitchFamily="34" charset="0"/>
                <a:ea typeface="Noto Sans" pitchFamily="34" charset="-122"/>
                <a:cs typeface="Noto Sans" pitchFamily="34" charset="-120"/>
              </a:rPr>
              <a:t>MySQL支持事务处理、并发控制和安全性保障等功能，能够有效处理大量用户同时访问和操作的数据请求，保证数据的一致性和完整性。</a:t>
            </a:r>
            <a:endParaRPr lang="en-US" sz="1440" dirty="0"/>
          </a:p>
        </p:txBody>
      </p:sp>
      <p:sp>
        <p:nvSpPr>
          <p:cNvPr id="13" name="Text 7"/>
          <p:cNvSpPr/>
          <p:nvPr/>
        </p:nvSpPr>
        <p:spPr>
          <a:xfrm>
            <a:off x="6700019" y="1628791"/>
            <a:ext cx="1934824" cy="347472"/>
          </a:xfrm>
          <a:prstGeom prst="rect">
            <a:avLst/>
          </a:prstGeom>
          <a:noFill/>
        </p:spPr>
        <p:txBody>
          <a:bodyPr wrap="square" lIns="95250" tIns="95250" rIns="95250" bIns="95250" rtlCol="0" anchor="t"/>
          <a:lstStyle/>
          <a:p>
            <a:pPr marL="0" indent="0">
              <a:lnSpc>
                <a:spcPct val="100000"/>
              </a:lnSpc>
              <a:spcBef>
                <a:spcPts val="375"/>
              </a:spcBef>
              <a:buNone/>
            </a:pPr>
            <a:r>
              <a:rPr lang="en-US" sz="1585" b="1" dirty="0">
                <a:solidFill>
                  <a:srgbClr val="2A5899"/>
                </a:solidFill>
                <a:latin typeface="Noto Sans" pitchFamily="34" charset="0"/>
                <a:ea typeface="Noto Sans" pitchFamily="34" charset="-122"/>
                <a:cs typeface="Noto Sans" pitchFamily="34" charset="-120"/>
              </a:rPr>
              <a:t>可扩展性和高并发处理</a:t>
            </a:r>
            <a:endParaRPr lang="en-US" sz="1440" dirty="0"/>
          </a:p>
        </p:txBody>
      </p:sp>
      <p:sp>
        <p:nvSpPr>
          <p:cNvPr id="14" name="Text 8"/>
          <p:cNvSpPr/>
          <p:nvPr/>
        </p:nvSpPr>
        <p:spPr>
          <a:xfrm>
            <a:off x="6700019" y="2333760"/>
            <a:ext cx="1645920" cy="1280160"/>
          </a:xfrm>
          <a:prstGeom prst="rect">
            <a:avLst/>
          </a:prstGeom>
          <a:noFill/>
        </p:spPr>
        <p:txBody>
          <a:bodyPr wrap="square" lIns="95250" tIns="95250" rIns="95250" bIns="95250" rtlCol="0" anchor="t">
            <a:spAutoFit/>
          </a:bodyPr>
          <a:lstStyle/>
          <a:p>
            <a:pPr marL="0" indent="0">
              <a:lnSpc>
                <a:spcPct val="100000"/>
              </a:lnSpc>
              <a:spcBef>
                <a:spcPts val="375"/>
              </a:spcBef>
              <a:buNone/>
            </a:pPr>
            <a:r>
              <a:rPr lang="en-US" sz="1150" dirty="0">
                <a:solidFill>
                  <a:srgbClr val="272245"/>
                </a:solidFill>
                <a:latin typeface="Noto Sans" pitchFamily="34" charset="0"/>
                <a:ea typeface="Noto Sans" pitchFamily="34" charset="-122"/>
                <a:cs typeface="Noto Sans" pitchFamily="34" charset="-120"/>
              </a:rPr>
              <a:t>MySQL具有良好的可扩展性，支持大规模的数据存储和处理，能够满足高并发访问的需求。这对于一个面向广大消费者的全屋定制平台来说，尤为重要。</a:t>
            </a:r>
            <a:endParaRPr lang="en-US" sz="144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283641" y="190697"/>
            <a:ext cx="8088253" cy="566928"/>
          </a:xfrm>
          <a:prstGeom prst="rect">
            <a:avLst/>
          </a:prstGeom>
          <a:noFill/>
        </p:spPr>
        <p:txBody>
          <a:bodyPr wrap="square" lIns="95250" tIns="95250" rIns="95250" bIns="95250" rtlCol="0" anchor="t"/>
          <a:lstStyle/>
          <a:p>
            <a:pPr marL="0" indent="0">
              <a:lnSpc>
                <a:spcPct val="113000"/>
              </a:lnSpc>
              <a:spcBef>
                <a:spcPts val="375"/>
              </a:spcBef>
              <a:buNone/>
            </a:pPr>
            <a:r>
              <a:rPr lang="en-US" sz="2015"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Django框架开发</a:t>
            </a:r>
            <a:endParaRPr lang="en-US" sz="1440" dirty="0"/>
          </a:p>
        </p:txBody>
      </p:sp>
      <p:sp>
        <p:nvSpPr>
          <p:cNvPr id="3" name="Shape 1"/>
          <p:cNvSpPr/>
          <p:nvPr/>
        </p:nvSpPr>
        <p:spPr>
          <a:xfrm>
            <a:off x="334023" y="1070220"/>
            <a:ext cx="2653589" cy="3419822"/>
          </a:xfrm>
          <a:custGeom>
            <a:avLst/>
            <a:gdLst/>
            <a:ahLst/>
            <a:cxnLst/>
            <a:rect l="l" t="t" r="r" b="b"/>
            <a:pathLst>
              <a:path w="2653589" h="3419822">
                <a:moveTo>
                  <a:pt x="331699" y="0"/>
                </a:moveTo>
                <a:moveTo>
                  <a:pt x="331699" y="0"/>
                </a:moveTo>
                <a:lnTo>
                  <a:pt x="2653589" y="0"/>
                </a:lnTo>
                <a:lnTo>
                  <a:pt x="2653589" y="3051818"/>
                </a:lnTo>
                <a:quadBezTo>
                  <a:pt x="2653589" y="3419822"/>
                  <a:pt x="2321890" y="3419822"/>
                </a:quadBezTo>
                <a:lnTo>
                  <a:pt x="0" y="3419822"/>
                </a:lnTo>
                <a:lnTo>
                  <a:pt x="0" y="368004"/>
                </a:lnTo>
                <a:quadBezTo>
                  <a:pt x="0" y="0"/>
                  <a:pt x="331699" y="0"/>
                </a:quadBezTo>
                <a:close/>
              </a:path>
            </a:pathLst>
          </a:custGeom>
          <a:solidFill>
            <a:srgbClr val="0084FF">
              <a:alpha val="10000"/>
            </a:srgbClr>
          </a:solidFill>
        </p:spPr>
      </p:sp>
      <p:sp>
        <p:nvSpPr>
          <p:cNvPr id="4" name="Text 2"/>
          <p:cNvSpPr/>
          <p:nvPr/>
        </p:nvSpPr>
        <p:spPr>
          <a:xfrm>
            <a:off x="407175" y="1347658"/>
            <a:ext cx="1362233" cy="704088"/>
          </a:xfrm>
          <a:prstGeom prst="rect">
            <a:avLst/>
          </a:prstGeom>
          <a:noFill/>
        </p:spPr>
        <p:txBody>
          <a:bodyPr wrap="square" lIns="95250" tIns="95250" rIns="95250" bIns="95250" rtlCol="0" anchor="t">
            <a:spAutoFit/>
          </a:bodyPr>
          <a:lstStyle/>
          <a:p>
            <a:pPr marL="0" indent="0">
              <a:lnSpc>
                <a:spcPct val="113000"/>
              </a:lnSpc>
              <a:spcBef>
                <a:spcPts val="375"/>
              </a:spcBef>
              <a:buNone/>
            </a:pPr>
            <a:r>
              <a:rPr lang="en-US" sz="2735" b="1" dirty="0">
                <a:solidFill>
                  <a:srgbClr val="2A5899"/>
                </a:solidFill>
                <a:latin typeface="Noto Sans" pitchFamily="34" charset="0"/>
                <a:ea typeface="Noto Sans" pitchFamily="34" charset="-122"/>
                <a:cs typeface="Noto Sans" pitchFamily="34" charset="-120"/>
              </a:rPr>
              <a:t>01</a:t>
            </a:r>
            <a:endParaRPr lang="en-US" sz="1440" dirty="0"/>
          </a:p>
        </p:txBody>
      </p:sp>
      <p:sp>
        <p:nvSpPr>
          <p:cNvPr id="5" name="Shape 3"/>
          <p:cNvSpPr/>
          <p:nvPr/>
        </p:nvSpPr>
        <p:spPr>
          <a:xfrm>
            <a:off x="3240367" y="1070220"/>
            <a:ext cx="2653589" cy="3419822"/>
          </a:xfrm>
          <a:custGeom>
            <a:avLst/>
            <a:gdLst/>
            <a:ahLst/>
            <a:cxnLst/>
            <a:rect l="l" t="t" r="r" b="b"/>
            <a:pathLst>
              <a:path w="2653589" h="3419822">
                <a:moveTo>
                  <a:pt x="331699" y="0"/>
                </a:moveTo>
                <a:moveTo>
                  <a:pt x="331699" y="0"/>
                </a:moveTo>
                <a:lnTo>
                  <a:pt x="2653589" y="0"/>
                </a:lnTo>
                <a:lnTo>
                  <a:pt x="2653589" y="3051818"/>
                </a:lnTo>
                <a:quadBezTo>
                  <a:pt x="2653589" y="3419822"/>
                  <a:pt x="2321890" y="3419822"/>
                </a:quadBezTo>
                <a:lnTo>
                  <a:pt x="0" y="3419822"/>
                </a:lnTo>
                <a:lnTo>
                  <a:pt x="0" y="368004"/>
                </a:lnTo>
                <a:quadBezTo>
                  <a:pt x="0" y="0"/>
                  <a:pt x="331699" y="0"/>
                </a:quadBezTo>
                <a:close/>
              </a:path>
            </a:pathLst>
          </a:custGeom>
          <a:solidFill>
            <a:srgbClr val="5196FF">
              <a:alpha val="10000"/>
            </a:srgbClr>
          </a:solidFill>
        </p:spPr>
      </p:sp>
      <p:sp>
        <p:nvSpPr>
          <p:cNvPr id="6" name="Text 4"/>
          <p:cNvSpPr/>
          <p:nvPr/>
        </p:nvSpPr>
        <p:spPr>
          <a:xfrm>
            <a:off x="3322826" y="1347658"/>
            <a:ext cx="1104990" cy="704088"/>
          </a:xfrm>
          <a:prstGeom prst="rect">
            <a:avLst/>
          </a:prstGeom>
          <a:noFill/>
        </p:spPr>
        <p:txBody>
          <a:bodyPr wrap="square" lIns="95250" tIns="95250" rIns="95250" bIns="95250" rtlCol="0" anchor="t">
            <a:spAutoFit/>
          </a:bodyPr>
          <a:lstStyle/>
          <a:p>
            <a:pPr marL="0" indent="0">
              <a:lnSpc>
                <a:spcPct val="113000"/>
              </a:lnSpc>
              <a:spcBef>
                <a:spcPts val="375"/>
              </a:spcBef>
              <a:buNone/>
            </a:pPr>
            <a:r>
              <a:rPr lang="en-US" sz="2735" b="1" dirty="0">
                <a:solidFill>
                  <a:srgbClr val="459DF3"/>
                </a:solidFill>
                <a:latin typeface="Noto Sans" pitchFamily="34" charset="0"/>
                <a:ea typeface="Noto Sans" pitchFamily="34" charset="-122"/>
                <a:cs typeface="Noto Sans" pitchFamily="34" charset="-120"/>
              </a:rPr>
              <a:t>02</a:t>
            </a:r>
            <a:endParaRPr lang="en-US" sz="1440" dirty="0"/>
          </a:p>
        </p:txBody>
      </p:sp>
      <p:sp>
        <p:nvSpPr>
          <p:cNvPr id="7" name="Shape 5"/>
          <p:cNvSpPr/>
          <p:nvPr/>
        </p:nvSpPr>
        <p:spPr>
          <a:xfrm>
            <a:off x="6156388" y="1070220"/>
            <a:ext cx="2653589" cy="3419822"/>
          </a:xfrm>
          <a:custGeom>
            <a:avLst/>
            <a:gdLst/>
            <a:ahLst/>
            <a:cxnLst/>
            <a:rect l="l" t="t" r="r" b="b"/>
            <a:pathLst>
              <a:path w="2653589" h="3419822">
                <a:moveTo>
                  <a:pt x="331699" y="0"/>
                </a:moveTo>
                <a:moveTo>
                  <a:pt x="331699" y="0"/>
                </a:moveTo>
                <a:lnTo>
                  <a:pt x="2653589" y="0"/>
                </a:lnTo>
                <a:lnTo>
                  <a:pt x="2653589" y="3051818"/>
                </a:lnTo>
                <a:quadBezTo>
                  <a:pt x="2653589" y="3419822"/>
                  <a:pt x="2321890" y="3419822"/>
                </a:quadBezTo>
                <a:lnTo>
                  <a:pt x="0" y="3419822"/>
                </a:lnTo>
                <a:lnTo>
                  <a:pt x="0" y="368004"/>
                </a:lnTo>
                <a:quadBezTo>
                  <a:pt x="0" y="0"/>
                  <a:pt x="331699" y="0"/>
                </a:quadBezTo>
                <a:close/>
              </a:path>
            </a:pathLst>
          </a:custGeom>
          <a:solidFill>
            <a:srgbClr val="0084FF">
              <a:alpha val="10000"/>
            </a:srgbClr>
          </a:solidFill>
        </p:spPr>
      </p:sp>
      <p:sp>
        <p:nvSpPr>
          <p:cNvPr id="8" name="Text 6"/>
          <p:cNvSpPr/>
          <p:nvPr/>
        </p:nvSpPr>
        <p:spPr>
          <a:xfrm>
            <a:off x="6229333" y="1347658"/>
            <a:ext cx="1333989" cy="704088"/>
          </a:xfrm>
          <a:prstGeom prst="rect">
            <a:avLst/>
          </a:prstGeom>
          <a:noFill/>
        </p:spPr>
        <p:txBody>
          <a:bodyPr wrap="square" lIns="95250" tIns="95250" rIns="95250" bIns="95250" rtlCol="0" anchor="t">
            <a:spAutoFit/>
          </a:bodyPr>
          <a:lstStyle/>
          <a:p>
            <a:pPr marL="0" indent="0">
              <a:lnSpc>
                <a:spcPct val="113000"/>
              </a:lnSpc>
              <a:spcBef>
                <a:spcPts val="375"/>
              </a:spcBef>
              <a:buNone/>
            </a:pPr>
            <a:r>
              <a:rPr lang="en-US" sz="2735" b="1" dirty="0">
                <a:solidFill>
                  <a:srgbClr val="2A5899"/>
                </a:solidFill>
                <a:latin typeface="Noto Sans" pitchFamily="34" charset="0"/>
                <a:ea typeface="Noto Sans" pitchFamily="34" charset="-122"/>
                <a:cs typeface="Noto Sans" pitchFamily="34" charset="-120"/>
              </a:rPr>
              <a:t>03</a:t>
            </a:r>
            <a:endParaRPr lang="en-US" sz="1440" dirty="0"/>
          </a:p>
        </p:txBody>
      </p:sp>
      <p:sp>
        <p:nvSpPr>
          <p:cNvPr id="9" name="Text 7"/>
          <p:cNvSpPr/>
          <p:nvPr/>
        </p:nvSpPr>
        <p:spPr>
          <a:xfrm>
            <a:off x="334023" y="1947106"/>
            <a:ext cx="2653589" cy="466344"/>
          </a:xfrm>
          <a:prstGeom prst="rect">
            <a:avLst/>
          </a:prstGeom>
          <a:noFill/>
        </p:spPr>
        <p:txBody>
          <a:bodyPr wrap="square" lIns="95250" tIns="95250" rIns="95250" bIns="95250" rtlCol="0" anchor="t"/>
          <a:lstStyle/>
          <a:p>
            <a:pPr marL="0" indent="0">
              <a:lnSpc>
                <a:spcPct val="100000"/>
              </a:lnSpc>
              <a:spcBef>
                <a:spcPts val="375"/>
              </a:spcBef>
              <a:buNone/>
            </a:pPr>
            <a:r>
              <a:rPr lang="en-US" sz="1585" b="1" dirty="0">
                <a:solidFill>
                  <a:srgbClr val="2A5899"/>
                </a:solidFill>
                <a:latin typeface="Noto Sans" pitchFamily="34" charset="0"/>
                <a:ea typeface="Noto Sans" pitchFamily="34" charset="-122"/>
                <a:cs typeface="Noto Sans" pitchFamily="34" charset="-120"/>
              </a:rPr>
              <a:t>Django框架简介</a:t>
            </a:r>
            <a:endParaRPr lang="en-US" sz="1440" dirty="0"/>
          </a:p>
        </p:txBody>
      </p:sp>
      <p:sp>
        <p:nvSpPr>
          <p:cNvPr id="10" name="Text 8"/>
          <p:cNvSpPr/>
          <p:nvPr/>
        </p:nvSpPr>
        <p:spPr>
          <a:xfrm>
            <a:off x="334023" y="2459170"/>
            <a:ext cx="2516103" cy="1060704"/>
          </a:xfrm>
          <a:prstGeom prst="rect">
            <a:avLst/>
          </a:prstGeom>
          <a:noFill/>
        </p:spPr>
        <p:txBody>
          <a:bodyPr wrap="square" lIns="95250" tIns="95250" rIns="95250" bIns="95250" rtlCol="0" anchor="t">
            <a:spAutoFit/>
          </a:bodyPr>
          <a:lstStyle/>
          <a:p>
            <a:pPr marL="0" indent="0">
              <a:lnSpc>
                <a:spcPct val="100000"/>
              </a:lnSpc>
              <a:spcBef>
                <a:spcPts val="375"/>
              </a:spcBef>
              <a:buNone/>
            </a:pPr>
            <a:r>
              <a:rPr lang="en-US" sz="1150" dirty="0">
                <a:solidFill>
                  <a:srgbClr val="272245"/>
                </a:solidFill>
                <a:latin typeface="Noto Sans" pitchFamily="34" charset="0"/>
                <a:ea typeface="Noto Sans" pitchFamily="34" charset="-122"/>
                <a:cs typeface="Noto Sans" pitchFamily="34" charset="-120"/>
              </a:rPr>
              <a:t>Django是一个开放源代码的Web应用框架，用Python编写，它鼓励快速开发和干净、实用的设计。Django旨在简化Web开发的复杂性，使开发者能够专注于应用程序的逻辑而非底层代码。</a:t>
            </a:r>
            <a:endParaRPr lang="en-US" sz="1440" dirty="0"/>
          </a:p>
        </p:txBody>
      </p:sp>
      <p:sp>
        <p:nvSpPr>
          <p:cNvPr id="11" name="Text 9"/>
          <p:cNvSpPr/>
          <p:nvPr/>
        </p:nvSpPr>
        <p:spPr>
          <a:xfrm>
            <a:off x="3240530" y="1947106"/>
            <a:ext cx="2653426" cy="374904"/>
          </a:xfrm>
          <a:prstGeom prst="rect">
            <a:avLst/>
          </a:prstGeom>
          <a:noFill/>
        </p:spPr>
        <p:txBody>
          <a:bodyPr wrap="square" lIns="95250" tIns="95250" rIns="95250" bIns="95250" rtlCol="0" anchor="t"/>
          <a:lstStyle/>
          <a:p>
            <a:pPr marL="0" indent="0">
              <a:lnSpc>
                <a:spcPct val="100000"/>
              </a:lnSpc>
              <a:spcBef>
                <a:spcPts val="375"/>
              </a:spcBef>
              <a:buNone/>
            </a:pPr>
            <a:r>
              <a:rPr lang="en-US" sz="1585" b="1" dirty="0">
                <a:solidFill>
                  <a:srgbClr val="459DF3"/>
                </a:solidFill>
                <a:latin typeface="Noto Sans" pitchFamily="34" charset="0"/>
                <a:ea typeface="Noto Sans" pitchFamily="34" charset="-122"/>
                <a:cs typeface="Noto Sans" pitchFamily="34" charset="-120"/>
              </a:rPr>
              <a:t>自动化工具优势</a:t>
            </a:r>
            <a:endParaRPr lang="en-US" sz="1440" dirty="0"/>
          </a:p>
        </p:txBody>
      </p:sp>
      <p:sp>
        <p:nvSpPr>
          <p:cNvPr id="12" name="Text 10"/>
          <p:cNvSpPr/>
          <p:nvPr/>
        </p:nvSpPr>
        <p:spPr>
          <a:xfrm>
            <a:off x="3240530" y="2459170"/>
            <a:ext cx="2516103" cy="1060704"/>
          </a:xfrm>
          <a:prstGeom prst="rect">
            <a:avLst/>
          </a:prstGeom>
          <a:noFill/>
        </p:spPr>
        <p:txBody>
          <a:bodyPr wrap="square" lIns="95250" tIns="95250" rIns="95250" bIns="95250" rtlCol="0" anchor="t">
            <a:spAutoFit/>
          </a:bodyPr>
          <a:lstStyle/>
          <a:p>
            <a:pPr marL="0" indent="0">
              <a:lnSpc>
                <a:spcPct val="100000"/>
              </a:lnSpc>
              <a:spcBef>
                <a:spcPts val="375"/>
              </a:spcBef>
              <a:buNone/>
            </a:pPr>
            <a:r>
              <a:rPr lang="en-US" sz="1150" dirty="0">
                <a:solidFill>
                  <a:srgbClr val="272245"/>
                </a:solidFill>
                <a:latin typeface="Noto Sans" pitchFamily="34" charset="0"/>
                <a:ea typeface="Noto Sans" pitchFamily="34" charset="-122"/>
                <a:cs typeface="Noto Sans" pitchFamily="34" charset="-120"/>
              </a:rPr>
              <a:t>Django提供了一套丰富的自动化工具，如自动生成管理界面的管理站点，以及用于数据库迁移的模型层。这些工具极大地提高了开发效率，减少了重复编码的需求。</a:t>
            </a:r>
            <a:endParaRPr lang="en-US" sz="1440" dirty="0"/>
          </a:p>
        </p:txBody>
      </p:sp>
      <p:sp>
        <p:nvSpPr>
          <p:cNvPr id="13" name="Text 11"/>
          <p:cNvSpPr/>
          <p:nvPr/>
        </p:nvSpPr>
        <p:spPr>
          <a:xfrm>
            <a:off x="6156181" y="1947106"/>
            <a:ext cx="2377440" cy="374904"/>
          </a:xfrm>
          <a:prstGeom prst="rect">
            <a:avLst/>
          </a:prstGeom>
          <a:noFill/>
        </p:spPr>
        <p:txBody>
          <a:bodyPr wrap="square" lIns="95250" tIns="95250" rIns="95250" bIns="95250" rtlCol="0" anchor="t"/>
          <a:lstStyle/>
          <a:p>
            <a:pPr marL="0" indent="0">
              <a:lnSpc>
                <a:spcPct val="100000"/>
              </a:lnSpc>
              <a:spcBef>
                <a:spcPts val="375"/>
              </a:spcBef>
              <a:buNone/>
            </a:pPr>
            <a:r>
              <a:rPr lang="en-US" sz="1585" b="1" dirty="0">
                <a:solidFill>
                  <a:srgbClr val="2A5899"/>
                </a:solidFill>
                <a:latin typeface="Noto Sans" pitchFamily="34" charset="0"/>
                <a:ea typeface="Noto Sans" pitchFamily="34" charset="-122"/>
                <a:cs typeface="Noto Sans" pitchFamily="34" charset="-120"/>
              </a:rPr>
              <a:t>生态系统与社区支持</a:t>
            </a:r>
            <a:endParaRPr lang="en-US" sz="1440" dirty="0"/>
          </a:p>
        </p:txBody>
      </p:sp>
      <p:sp>
        <p:nvSpPr>
          <p:cNvPr id="14" name="Text 12"/>
          <p:cNvSpPr/>
          <p:nvPr/>
        </p:nvSpPr>
        <p:spPr>
          <a:xfrm>
            <a:off x="6156181" y="2459170"/>
            <a:ext cx="2516103" cy="1060704"/>
          </a:xfrm>
          <a:prstGeom prst="rect">
            <a:avLst/>
          </a:prstGeom>
          <a:noFill/>
        </p:spPr>
        <p:txBody>
          <a:bodyPr wrap="square" lIns="95250" tIns="95250" rIns="95250" bIns="95250" rtlCol="0" anchor="t">
            <a:spAutoFit/>
          </a:bodyPr>
          <a:lstStyle/>
          <a:p>
            <a:pPr marL="0" indent="0">
              <a:lnSpc>
                <a:spcPct val="100000"/>
              </a:lnSpc>
              <a:spcBef>
                <a:spcPts val="375"/>
              </a:spcBef>
              <a:buNone/>
            </a:pPr>
            <a:r>
              <a:rPr lang="en-US" sz="1150" dirty="0">
                <a:solidFill>
                  <a:srgbClr val="272245"/>
                </a:solidFill>
                <a:latin typeface="Noto Sans" pitchFamily="34" charset="0"/>
                <a:ea typeface="Noto Sans" pitchFamily="34" charset="-122"/>
                <a:cs typeface="Noto Sans" pitchFamily="34" charset="-120"/>
              </a:rPr>
              <a:t>Django拥有一个活跃且支持广泛的社区，提供了大量的第三方库和应用，从认证到支付处理，应有尽有。这使得开发者可以轻松地找到解决方案，加快项目进度。</a:t>
            </a:r>
            <a:endParaRPr lang="en-US" sz="144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246639" y="1071087"/>
            <a:ext cx="2055531" cy="1883664"/>
          </a:xfrm>
          <a:prstGeom prst="rect">
            <a:avLst/>
          </a:prstGeom>
          <a:noFill/>
        </p:spPr>
        <p:txBody>
          <a:bodyPr wrap="square" lIns="95250" tIns="95250" rIns="95250" bIns="95250" rtlCol="0" anchor="t"/>
          <a:lstStyle/>
          <a:p>
            <a:pPr marL="0" indent="0" algn="ctr">
              <a:lnSpc>
                <a:spcPct val="113000"/>
              </a:lnSpc>
              <a:spcBef>
                <a:spcPts val="375"/>
              </a:spcBef>
              <a:buNone/>
            </a:pPr>
            <a:r>
              <a:rPr lang="en-US" sz="8930" b="1" dirty="0">
                <a:solidFill>
                  <a:srgbClr val="2A5899"/>
                </a:solidFill>
                <a:latin typeface="微软雅黑" panose="020B0503020204020204" pitchFamily="34" charset="-122"/>
                <a:ea typeface="微软雅黑" panose="020B0503020204020204" pitchFamily="34" charset="-122"/>
                <a:cs typeface="微软雅黑" panose="020B0503020204020204" pitchFamily="34" charset="-120"/>
              </a:rPr>
              <a:t>03</a:t>
            </a:r>
            <a:endParaRPr lang="en-US" sz="1440" dirty="0"/>
          </a:p>
        </p:txBody>
      </p:sp>
      <p:sp>
        <p:nvSpPr>
          <p:cNvPr id="3" name="Text 1"/>
          <p:cNvSpPr/>
          <p:nvPr/>
        </p:nvSpPr>
        <p:spPr>
          <a:xfrm>
            <a:off x="497579" y="2595807"/>
            <a:ext cx="5218432" cy="813816"/>
          </a:xfrm>
          <a:prstGeom prst="rect">
            <a:avLst/>
          </a:prstGeom>
          <a:noFill/>
        </p:spPr>
        <p:txBody>
          <a:bodyPr wrap="square" lIns="95250" tIns="95250" rIns="95250" bIns="95250" rtlCol="0" anchor="t"/>
          <a:lstStyle/>
          <a:p>
            <a:pPr marL="0" indent="0">
              <a:lnSpc>
                <a:spcPct val="113000"/>
              </a:lnSpc>
              <a:spcBef>
                <a:spcPts val="375"/>
              </a:spcBef>
              <a:buNone/>
            </a:pPr>
            <a:r>
              <a:rPr lang="en-US" sz="3310" b="1" dirty="0">
                <a:solidFill>
                  <a:srgbClr val="272245"/>
                </a:solidFill>
                <a:latin typeface="微软雅黑" panose="020B0503020204020204" pitchFamily="34" charset="-122"/>
                <a:ea typeface="微软雅黑" panose="020B0503020204020204" pitchFamily="34" charset="-122"/>
                <a:cs typeface="微软雅黑" panose="020B0503020204020204" pitchFamily="34" charset="-120"/>
              </a:rPr>
              <a:t>系统分析与设计</a:t>
            </a:r>
            <a:endParaRPr lang="en-US" sz="1440" dirty="0"/>
          </a:p>
        </p:txBody>
      </p:sp>
      <p:pic>
        <p:nvPicPr>
          <p:cNvPr id="4" name="Image 0" descr="https://sgw-dx.xf-yun.com/api/v1/sparkdesk/_19052329831_fVPc9i1733712667757-005544323224029091.png?authorization=c2ltcGxlLWp3dCBhaz1zcGFya2Rlc2s4MDAwMDAwMDAwMDE7ZXhwPTMzMTA1MTI2Nzk7YWxnbz1obWFjLXNoYTI1NjtzaWc9a2pCNm01T2o4VEJER0o1Q3FOV2VJYUpvODByWkFQclRoZVRqRnpXRnY1Yz0=&amp;x_location=7YfmxI7B7uKO7jlRxIftd60Ye5D="/>
          <p:cNvPicPr>
            <a:picLocks noChangeAspect="1"/>
          </p:cNvPicPr>
          <p:nvPr/>
        </p:nvPicPr>
        <p:blipFill>
          <a:blip r:embed="rId4"/>
          <a:stretch>
            <a:fillRect/>
          </a:stretch>
        </p:blipFill>
        <p:spPr>
          <a:xfrm>
            <a:off x="590374" y="2550087"/>
            <a:ext cx="2848105" cy="18288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283641" y="190697"/>
            <a:ext cx="8088253" cy="566928"/>
          </a:xfrm>
          <a:prstGeom prst="rect">
            <a:avLst/>
          </a:prstGeom>
          <a:noFill/>
        </p:spPr>
        <p:txBody>
          <a:bodyPr wrap="square" lIns="95250" tIns="95250" rIns="95250" bIns="95250" rtlCol="0" anchor="t"/>
          <a:lstStyle/>
          <a:p>
            <a:pPr marL="0" indent="0">
              <a:lnSpc>
                <a:spcPct val="113000"/>
              </a:lnSpc>
              <a:spcBef>
                <a:spcPts val="375"/>
              </a:spcBef>
              <a:buNone/>
            </a:pPr>
            <a:r>
              <a:rPr lang="en-US" sz="2015"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安全性分析</a:t>
            </a:r>
            <a:endParaRPr lang="en-US" sz="1440" dirty="0"/>
          </a:p>
        </p:txBody>
      </p:sp>
      <p:pic>
        <p:nvPicPr>
          <p:cNvPr id="3" name="Image 0" descr="preencoded.png"/>
          <p:cNvPicPr>
            <a:picLocks noChangeAspect="1"/>
          </p:cNvPicPr>
          <p:nvPr/>
        </p:nvPicPr>
        <p:blipFill>
          <a:blip r:embed="rId4"/>
          <a:stretch>
            <a:fillRect/>
          </a:stretch>
        </p:blipFill>
        <p:spPr>
          <a:xfrm>
            <a:off x="159766" y="992749"/>
            <a:ext cx="8475954" cy="3779797"/>
          </a:xfrm>
          <a:prstGeom prst="rect">
            <a:avLst/>
          </a:prstGeom>
        </p:spPr>
      </p:pic>
      <p:pic>
        <p:nvPicPr>
          <p:cNvPr id="4" name="Image 1" descr="preencoded.png"/>
          <p:cNvPicPr>
            <a:picLocks noChangeAspect="1"/>
          </p:cNvPicPr>
          <p:nvPr/>
        </p:nvPicPr>
        <p:blipFill>
          <a:blip r:embed="rId5"/>
          <a:stretch>
            <a:fillRect/>
          </a:stretch>
        </p:blipFill>
        <p:spPr>
          <a:xfrm>
            <a:off x="704367" y="1264076"/>
            <a:ext cx="2606231" cy="595043"/>
          </a:xfrm>
          <a:prstGeom prst="rect">
            <a:avLst/>
          </a:prstGeom>
        </p:spPr>
      </p:pic>
      <p:sp>
        <p:nvSpPr>
          <p:cNvPr id="8" name="Text 4"/>
          <p:cNvSpPr/>
          <p:nvPr/>
        </p:nvSpPr>
        <p:spPr>
          <a:xfrm>
            <a:off x="2177589" y="4056765"/>
            <a:ext cx="1142153" cy="374904"/>
          </a:xfrm>
          <a:prstGeom prst="rect">
            <a:avLst/>
          </a:prstGeom>
          <a:noFill/>
        </p:spPr>
        <p:txBody>
          <a:bodyPr wrap="square" lIns="95250" tIns="95250" rIns="95250" bIns="95250" rtlCol="0" anchor="ctr"/>
          <a:lstStyle/>
          <a:p>
            <a:pPr marL="0" indent="0" algn="ctr">
              <a:lnSpc>
                <a:spcPct val="100000"/>
              </a:lnSpc>
              <a:spcBef>
                <a:spcPts val="375"/>
              </a:spcBef>
              <a:buNone/>
            </a:pPr>
            <a:endParaRPr lang="en-US" sz="1440" dirty="0"/>
          </a:p>
        </p:txBody>
      </p:sp>
      <p:sp>
        <p:nvSpPr>
          <p:cNvPr id="9" name="Shape 5"/>
          <p:cNvSpPr/>
          <p:nvPr/>
        </p:nvSpPr>
        <p:spPr>
          <a:xfrm>
            <a:off x="3644348" y="1405780"/>
            <a:ext cx="0" cy="3114261"/>
          </a:xfrm>
          <a:custGeom>
            <a:avLst/>
            <a:gdLst/>
            <a:ahLst/>
            <a:cxnLst/>
            <a:rect l="l" t="t" r="r" b="b"/>
            <a:pathLst>
              <a:path h="3114261">
                <a:moveTo>
                  <a:pt x="0" y="3114261"/>
                </a:moveTo>
                <a:moveTo>
                  <a:pt x="0" y="3114261"/>
                </a:moveTo>
                <a:lnTo>
                  <a:pt x="0" y="0"/>
                </a:lnTo>
              </a:path>
            </a:pathLst>
          </a:custGeom>
          <a:noFill/>
          <a:ln w="19050">
            <a:solidFill>
              <a:srgbClr val="2A5899"/>
            </a:solidFill>
            <a:prstDash val="solid"/>
            <a:headEnd type="none"/>
            <a:tailEnd type="arrow"/>
          </a:ln>
        </p:spPr>
      </p:sp>
      <p:sp>
        <p:nvSpPr>
          <p:cNvPr id="10" name="Shape 6"/>
          <p:cNvSpPr/>
          <p:nvPr/>
        </p:nvSpPr>
        <p:spPr>
          <a:xfrm>
            <a:off x="4057432" y="3074588"/>
            <a:ext cx="3518394" cy="476790"/>
          </a:xfrm>
          <a:custGeom>
            <a:avLst/>
            <a:gdLst/>
            <a:ahLst/>
            <a:cxnLst/>
            <a:rect l="l" t="t" r="r" b="b"/>
            <a:pathLst>
              <a:path w="3518394" h="476790">
                <a:moveTo>
                  <a:pt x="100214" y="0"/>
                </a:moveTo>
                <a:moveTo>
                  <a:pt x="100214" y="0"/>
                </a:moveTo>
                <a:lnTo>
                  <a:pt x="3418180" y="0"/>
                </a:lnTo>
                <a:quadBezTo>
                  <a:pt x="3518394" y="0"/>
                  <a:pt x="3518394" y="100214"/>
                </a:quadBezTo>
                <a:lnTo>
                  <a:pt x="3518394" y="376575"/>
                </a:lnTo>
                <a:quadBezTo>
                  <a:pt x="3518394" y="476790"/>
                  <a:pt x="3418180" y="476790"/>
                </a:quadBezTo>
                <a:lnTo>
                  <a:pt x="100214" y="476790"/>
                </a:lnTo>
                <a:quadBezTo>
                  <a:pt x="0" y="476790"/>
                  <a:pt x="0" y="376575"/>
                </a:quadBezTo>
                <a:lnTo>
                  <a:pt x="0" y="100214"/>
                </a:lnTo>
                <a:quadBezTo>
                  <a:pt x="0" y="0"/>
                  <a:pt x="100214" y="0"/>
                </a:quadBezTo>
                <a:close/>
              </a:path>
            </a:pathLst>
          </a:custGeom>
          <a:solidFill>
            <a:srgbClr val="FFFFFF"/>
          </a:solidFill>
          <a:ln w="19050">
            <a:solidFill>
              <a:srgbClr val="459DF3"/>
            </a:solidFill>
            <a:prstDash val="solid"/>
          </a:ln>
        </p:spPr>
      </p:sp>
      <p:sp>
        <p:nvSpPr>
          <p:cNvPr id="11" name="Shape 7"/>
          <p:cNvSpPr/>
          <p:nvPr/>
        </p:nvSpPr>
        <p:spPr>
          <a:xfrm>
            <a:off x="4057432" y="4395007"/>
            <a:ext cx="4395304" cy="0"/>
          </a:xfrm>
          <a:custGeom>
            <a:avLst/>
            <a:gdLst/>
            <a:ahLst/>
            <a:cxnLst/>
            <a:rect l="l" t="t" r="r" b="b"/>
            <a:pathLst>
              <a:path w="4395304">
                <a:moveTo>
                  <a:pt x="4395304" y="0"/>
                </a:moveTo>
                <a:moveTo>
                  <a:pt x="4395304" y="0"/>
                </a:moveTo>
                <a:lnTo>
                  <a:pt x="0" y="0"/>
                </a:lnTo>
              </a:path>
            </a:pathLst>
          </a:custGeom>
          <a:noFill/>
          <a:ln w="19050">
            <a:solidFill>
              <a:srgbClr val="459DF3"/>
            </a:solidFill>
            <a:prstDash val="solid"/>
            <a:headEnd type="none"/>
            <a:tailEnd type="arrow"/>
          </a:ln>
        </p:spPr>
      </p:sp>
      <p:sp>
        <p:nvSpPr>
          <p:cNvPr id="12" name="Text 8"/>
          <p:cNvSpPr/>
          <p:nvPr/>
        </p:nvSpPr>
        <p:spPr>
          <a:xfrm>
            <a:off x="7575826" y="2956771"/>
            <a:ext cx="616541" cy="1801368"/>
          </a:xfrm>
          <a:prstGeom prst="rect">
            <a:avLst/>
          </a:prstGeom>
          <a:noFill/>
        </p:spPr>
        <p:txBody>
          <a:bodyPr wrap="square" lIns="95250" tIns="95250" rIns="95250" bIns="95250" rtlCol="0" anchor="t">
            <a:spAutoFit/>
          </a:bodyPr>
          <a:lstStyle/>
          <a:p>
            <a:pPr marL="0" indent="0">
              <a:lnSpc>
                <a:spcPct val="113000"/>
              </a:lnSpc>
              <a:spcBef>
                <a:spcPts val="375"/>
              </a:spcBef>
              <a:buNone/>
            </a:pPr>
            <a:r>
              <a:rPr lang="en-US" sz="8495" b="1" i="1" dirty="0">
                <a:solidFill>
                  <a:srgbClr val="459DF3"/>
                </a:solidFill>
                <a:latin typeface="Noto Sans" pitchFamily="34" charset="0"/>
                <a:ea typeface="Noto Sans" pitchFamily="34" charset="-122"/>
                <a:cs typeface="Noto Sans" pitchFamily="34" charset="-120"/>
              </a:rPr>
              <a:t>2</a:t>
            </a:r>
            <a:endParaRPr lang="en-US" sz="1440" dirty="0"/>
          </a:p>
        </p:txBody>
      </p:sp>
      <p:sp>
        <p:nvSpPr>
          <p:cNvPr id="13" name="Shape 9"/>
          <p:cNvSpPr/>
          <p:nvPr/>
        </p:nvSpPr>
        <p:spPr>
          <a:xfrm>
            <a:off x="4057432" y="1400180"/>
            <a:ext cx="3518394" cy="476790"/>
          </a:xfrm>
          <a:custGeom>
            <a:avLst/>
            <a:gdLst/>
            <a:ahLst/>
            <a:cxnLst/>
            <a:rect l="l" t="t" r="r" b="b"/>
            <a:pathLst>
              <a:path w="3518394" h="476790">
                <a:moveTo>
                  <a:pt x="100214" y="0"/>
                </a:moveTo>
                <a:moveTo>
                  <a:pt x="100214" y="0"/>
                </a:moveTo>
                <a:lnTo>
                  <a:pt x="3418180" y="0"/>
                </a:lnTo>
                <a:quadBezTo>
                  <a:pt x="3518394" y="0"/>
                  <a:pt x="3518394" y="100214"/>
                </a:quadBezTo>
                <a:lnTo>
                  <a:pt x="3518394" y="376575"/>
                </a:lnTo>
                <a:quadBezTo>
                  <a:pt x="3518394" y="476790"/>
                  <a:pt x="3418180" y="476790"/>
                </a:quadBezTo>
                <a:lnTo>
                  <a:pt x="100214" y="476790"/>
                </a:lnTo>
                <a:quadBezTo>
                  <a:pt x="0" y="476790"/>
                  <a:pt x="0" y="376575"/>
                </a:quadBezTo>
                <a:lnTo>
                  <a:pt x="0" y="100214"/>
                </a:lnTo>
                <a:quadBezTo>
                  <a:pt x="0" y="0"/>
                  <a:pt x="100214" y="0"/>
                </a:quadBezTo>
                <a:close/>
              </a:path>
            </a:pathLst>
          </a:custGeom>
          <a:solidFill>
            <a:srgbClr val="FFFFFF"/>
          </a:solidFill>
          <a:ln w="19050">
            <a:solidFill>
              <a:srgbClr val="2A5899"/>
            </a:solidFill>
            <a:prstDash val="solid"/>
          </a:ln>
        </p:spPr>
      </p:sp>
      <p:sp>
        <p:nvSpPr>
          <p:cNvPr id="14" name="Shape 10"/>
          <p:cNvSpPr/>
          <p:nvPr/>
        </p:nvSpPr>
        <p:spPr>
          <a:xfrm>
            <a:off x="4057432" y="2720600"/>
            <a:ext cx="4395304" cy="0"/>
          </a:xfrm>
          <a:custGeom>
            <a:avLst/>
            <a:gdLst/>
            <a:ahLst/>
            <a:cxnLst/>
            <a:rect l="l" t="t" r="r" b="b"/>
            <a:pathLst>
              <a:path w="4395304">
                <a:moveTo>
                  <a:pt x="4395304" y="0"/>
                </a:moveTo>
                <a:moveTo>
                  <a:pt x="4395304" y="0"/>
                </a:moveTo>
                <a:lnTo>
                  <a:pt x="0" y="0"/>
                </a:lnTo>
              </a:path>
            </a:pathLst>
          </a:custGeom>
          <a:noFill/>
          <a:ln w="19050">
            <a:solidFill>
              <a:srgbClr val="2A5899"/>
            </a:solidFill>
            <a:prstDash val="solid"/>
            <a:headEnd type="none"/>
            <a:tailEnd type="arrow"/>
          </a:ln>
        </p:spPr>
      </p:sp>
      <p:sp>
        <p:nvSpPr>
          <p:cNvPr id="15" name="Text 11"/>
          <p:cNvSpPr/>
          <p:nvPr/>
        </p:nvSpPr>
        <p:spPr>
          <a:xfrm>
            <a:off x="7575826" y="1245788"/>
            <a:ext cx="616541" cy="1801368"/>
          </a:xfrm>
          <a:prstGeom prst="rect">
            <a:avLst/>
          </a:prstGeom>
          <a:noFill/>
        </p:spPr>
        <p:txBody>
          <a:bodyPr wrap="square" lIns="95250" tIns="95250" rIns="95250" bIns="95250" rtlCol="0" anchor="t">
            <a:spAutoFit/>
          </a:bodyPr>
          <a:lstStyle/>
          <a:p>
            <a:pPr marL="0" indent="0">
              <a:lnSpc>
                <a:spcPct val="113000"/>
              </a:lnSpc>
              <a:spcBef>
                <a:spcPts val="375"/>
              </a:spcBef>
              <a:buNone/>
            </a:pPr>
            <a:r>
              <a:rPr lang="en-US" sz="8495" b="1" i="1" dirty="0">
                <a:solidFill>
                  <a:srgbClr val="2A5899"/>
                </a:solidFill>
                <a:latin typeface="Noto Sans" pitchFamily="34" charset="0"/>
                <a:ea typeface="Noto Sans" pitchFamily="34" charset="-122"/>
                <a:cs typeface="Noto Sans" pitchFamily="34" charset="-120"/>
              </a:rPr>
              <a:t>1</a:t>
            </a:r>
            <a:endParaRPr lang="en-US" sz="1440" dirty="0"/>
          </a:p>
        </p:txBody>
      </p:sp>
      <p:sp>
        <p:nvSpPr>
          <p:cNvPr id="16" name="Text 12"/>
          <p:cNvSpPr/>
          <p:nvPr/>
        </p:nvSpPr>
        <p:spPr>
          <a:xfrm>
            <a:off x="754879" y="1374145"/>
            <a:ext cx="2505205" cy="374904"/>
          </a:xfrm>
          <a:prstGeom prst="rect">
            <a:avLst/>
          </a:prstGeom>
          <a:noFill/>
        </p:spPr>
        <p:txBody>
          <a:bodyPr wrap="square" lIns="95250" tIns="95250" rIns="95250" bIns="95250" rtlCol="0" anchor="ctr"/>
          <a:lstStyle/>
          <a:p>
            <a:pPr marL="0" indent="0" algn="ctr">
              <a:lnSpc>
                <a:spcPct val="100000"/>
              </a:lnSpc>
              <a:spcBef>
                <a:spcPts val="375"/>
              </a:spcBef>
              <a:buNone/>
            </a:pPr>
            <a:r>
              <a:rPr lang="en-US" sz="1585" b="1" dirty="0">
                <a:solidFill>
                  <a:srgbClr val="FFFFFF"/>
                </a:solidFill>
                <a:latin typeface="Noto Sans" pitchFamily="34" charset="0"/>
                <a:ea typeface="Noto Sans" pitchFamily="34" charset="-122"/>
                <a:cs typeface="Noto Sans" pitchFamily="34" charset="-120"/>
              </a:rPr>
              <a:t>安全风险评估</a:t>
            </a:r>
            <a:endParaRPr lang="en-US" sz="1440" dirty="0"/>
          </a:p>
        </p:txBody>
      </p:sp>
      <p:sp>
        <p:nvSpPr>
          <p:cNvPr id="17" name="Text 13"/>
          <p:cNvSpPr/>
          <p:nvPr/>
        </p:nvSpPr>
        <p:spPr>
          <a:xfrm>
            <a:off x="726920" y="1888933"/>
            <a:ext cx="2561125" cy="950976"/>
          </a:xfrm>
          <a:prstGeom prst="rect">
            <a:avLst/>
          </a:prstGeom>
          <a:noFill/>
        </p:spPr>
        <p:txBody>
          <a:bodyPr wrap="square" lIns="95250" tIns="95250" rIns="95250" bIns="95250" rtlCol="0" anchor="t">
            <a:spAutoFit/>
          </a:bodyPr>
          <a:lstStyle/>
          <a:p>
            <a:pPr marL="0" indent="0">
              <a:lnSpc>
                <a:spcPct val="101000"/>
              </a:lnSpc>
              <a:spcBef>
                <a:spcPts val="375"/>
              </a:spcBef>
              <a:buNone/>
            </a:pPr>
            <a:r>
              <a:rPr lang="en-US" sz="1010" dirty="0">
                <a:solidFill>
                  <a:srgbClr val="272245"/>
                </a:solidFill>
                <a:latin typeface="Noto Sans" pitchFamily="34" charset="0"/>
                <a:ea typeface="Noto Sans" pitchFamily="34" charset="-122"/>
                <a:cs typeface="Noto Sans" pitchFamily="34" charset="-120"/>
              </a:rPr>
              <a:t>安全风险评估是识别和分析潜在安全问题的过程，通过系统地检查技术、流程和政策，确保所有可能的风险被充分理解和妥善管理。</a:t>
            </a:r>
            <a:endParaRPr lang="en-US" sz="1440" dirty="0"/>
          </a:p>
        </p:txBody>
      </p:sp>
      <p:sp>
        <p:nvSpPr>
          <p:cNvPr id="18" name="Text 14"/>
          <p:cNvSpPr/>
          <p:nvPr/>
        </p:nvSpPr>
        <p:spPr>
          <a:xfrm>
            <a:off x="4107945" y="1446551"/>
            <a:ext cx="3376203" cy="374904"/>
          </a:xfrm>
          <a:prstGeom prst="rect">
            <a:avLst/>
          </a:prstGeom>
          <a:noFill/>
        </p:spPr>
        <p:txBody>
          <a:bodyPr wrap="square" lIns="95250" tIns="95250" rIns="95250" bIns="95250" rtlCol="0" anchor="ctr"/>
          <a:lstStyle/>
          <a:p>
            <a:pPr marL="0" indent="0">
              <a:lnSpc>
                <a:spcPct val="100000"/>
              </a:lnSpc>
              <a:spcBef>
                <a:spcPts val="375"/>
              </a:spcBef>
              <a:buNone/>
            </a:pPr>
            <a:r>
              <a:rPr lang="en-US" sz="1585" b="1" dirty="0">
                <a:solidFill>
                  <a:srgbClr val="2A5899"/>
                </a:solidFill>
                <a:latin typeface="Noto Sans" pitchFamily="34" charset="0"/>
                <a:ea typeface="Noto Sans" pitchFamily="34" charset="-122"/>
                <a:cs typeface="Noto Sans" pitchFamily="34" charset="-120"/>
              </a:rPr>
              <a:t>数据保护措施</a:t>
            </a:r>
            <a:endParaRPr lang="en-US" sz="1440" dirty="0"/>
          </a:p>
        </p:txBody>
      </p:sp>
      <p:sp>
        <p:nvSpPr>
          <p:cNvPr id="19" name="Text 15"/>
          <p:cNvSpPr/>
          <p:nvPr/>
        </p:nvSpPr>
        <p:spPr>
          <a:xfrm>
            <a:off x="4057432" y="1906784"/>
            <a:ext cx="3621765" cy="603504"/>
          </a:xfrm>
          <a:prstGeom prst="rect">
            <a:avLst/>
          </a:prstGeom>
          <a:noFill/>
        </p:spPr>
        <p:txBody>
          <a:bodyPr wrap="square" lIns="95250" tIns="95250" rIns="95250" bIns="95250" rtlCol="0" anchor="t">
            <a:spAutoFit/>
          </a:bodyPr>
          <a:lstStyle/>
          <a:p>
            <a:pPr marL="0" indent="0">
              <a:lnSpc>
                <a:spcPct val="100000"/>
              </a:lnSpc>
              <a:spcBef>
                <a:spcPts val="375"/>
              </a:spcBef>
              <a:buNone/>
            </a:pPr>
            <a:r>
              <a:rPr lang="en-US" sz="1010" dirty="0">
                <a:solidFill>
                  <a:srgbClr val="272245"/>
                </a:solidFill>
                <a:latin typeface="Noto Sans" pitchFamily="34" charset="0"/>
                <a:ea typeface="Noto Sans" pitchFamily="34" charset="-122"/>
                <a:cs typeface="Noto Sans" pitchFamily="34" charset="-120"/>
              </a:rPr>
              <a:t>数据保护措施包括加密技术、访问控制和数据备份等策略，旨在防止数据泄露、损坏或丢失，确保信息的安全性和完整性。</a:t>
            </a:r>
            <a:endParaRPr lang="en-US" sz="1440" dirty="0"/>
          </a:p>
        </p:txBody>
      </p:sp>
      <p:sp>
        <p:nvSpPr>
          <p:cNvPr id="20" name="Text 16"/>
          <p:cNvSpPr/>
          <p:nvPr/>
        </p:nvSpPr>
        <p:spPr>
          <a:xfrm>
            <a:off x="4107945" y="3120958"/>
            <a:ext cx="3376203" cy="374904"/>
          </a:xfrm>
          <a:prstGeom prst="rect">
            <a:avLst/>
          </a:prstGeom>
          <a:noFill/>
        </p:spPr>
        <p:txBody>
          <a:bodyPr wrap="square" lIns="95250" tIns="95250" rIns="95250" bIns="95250" rtlCol="0" anchor="ctr"/>
          <a:lstStyle/>
          <a:p>
            <a:pPr marL="0" indent="0">
              <a:lnSpc>
                <a:spcPct val="100000"/>
              </a:lnSpc>
              <a:spcBef>
                <a:spcPts val="375"/>
              </a:spcBef>
              <a:buNone/>
            </a:pPr>
            <a:r>
              <a:rPr lang="en-US" sz="1585" b="1" dirty="0">
                <a:solidFill>
                  <a:srgbClr val="2A5899"/>
                </a:solidFill>
                <a:latin typeface="Noto Sans" pitchFamily="34" charset="0"/>
                <a:ea typeface="Noto Sans" pitchFamily="34" charset="-122"/>
                <a:cs typeface="Noto Sans" pitchFamily="34" charset="-120"/>
              </a:rPr>
              <a:t>网络安全策略</a:t>
            </a:r>
            <a:endParaRPr lang="en-US" sz="1440" dirty="0"/>
          </a:p>
        </p:txBody>
      </p:sp>
      <p:sp>
        <p:nvSpPr>
          <p:cNvPr id="21" name="Text 17"/>
          <p:cNvSpPr/>
          <p:nvPr/>
        </p:nvSpPr>
        <p:spPr>
          <a:xfrm>
            <a:off x="4057432" y="3581191"/>
            <a:ext cx="3621765" cy="603504"/>
          </a:xfrm>
          <a:prstGeom prst="rect">
            <a:avLst/>
          </a:prstGeom>
          <a:noFill/>
        </p:spPr>
        <p:txBody>
          <a:bodyPr wrap="square" lIns="95250" tIns="95250" rIns="95250" bIns="95250" rtlCol="0" anchor="t">
            <a:spAutoFit/>
          </a:bodyPr>
          <a:lstStyle/>
          <a:p>
            <a:pPr marL="0" indent="0">
              <a:lnSpc>
                <a:spcPct val="100000"/>
              </a:lnSpc>
              <a:spcBef>
                <a:spcPts val="375"/>
              </a:spcBef>
              <a:buNone/>
            </a:pPr>
            <a:r>
              <a:rPr lang="en-US" sz="1010" dirty="0">
                <a:solidFill>
                  <a:srgbClr val="272245"/>
                </a:solidFill>
                <a:latin typeface="Noto Sans" pitchFamily="34" charset="0"/>
                <a:ea typeface="Noto Sans" pitchFamily="34" charset="-122"/>
                <a:cs typeface="Noto Sans" pitchFamily="34" charset="-120"/>
              </a:rPr>
              <a:t>网络安全策略涉及防火墙、入侵检测系统和安全协议等技术，用于防御网络攻击和恶意软件，保护组织的数字资产免受损害。</a:t>
            </a:r>
            <a:endParaRPr lang="en-US" sz="144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283641" y="190697"/>
            <a:ext cx="8088253" cy="566928"/>
          </a:xfrm>
          <a:prstGeom prst="rect">
            <a:avLst/>
          </a:prstGeom>
          <a:noFill/>
        </p:spPr>
        <p:txBody>
          <a:bodyPr wrap="square" lIns="95250" tIns="95250" rIns="95250" bIns="95250" rtlCol="0" anchor="t"/>
          <a:lstStyle/>
          <a:p>
            <a:pPr marL="0" indent="0">
              <a:lnSpc>
                <a:spcPct val="113000"/>
              </a:lnSpc>
              <a:spcBef>
                <a:spcPts val="375"/>
              </a:spcBef>
              <a:buNone/>
            </a:pPr>
            <a:r>
              <a:rPr lang="en-US" sz="2015"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可行性分析</a:t>
            </a:r>
            <a:endParaRPr lang="en-US" sz="1440" dirty="0"/>
          </a:p>
        </p:txBody>
      </p:sp>
      <p:sp>
        <p:nvSpPr>
          <p:cNvPr id="3" name="Shape 1"/>
          <p:cNvSpPr/>
          <p:nvPr/>
        </p:nvSpPr>
        <p:spPr>
          <a:xfrm rot="2700000">
            <a:off x="434967" y="3156580"/>
            <a:ext cx="566928" cy="566928"/>
          </a:xfrm>
          <a:custGeom>
            <a:avLst/>
            <a:gdLst/>
            <a:ahLst/>
            <a:cxnLst/>
            <a:rect l="l" t="t" r="r" b="b"/>
            <a:pathLst>
              <a:path w="566928" h="566928">
                <a:moveTo>
                  <a:pt x="0" y="0"/>
                </a:moveTo>
                <a:moveTo>
                  <a:pt x="0" y="0"/>
                </a:moveTo>
                <a:lnTo>
                  <a:pt x="566928" y="0"/>
                </a:lnTo>
                <a:lnTo>
                  <a:pt x="566928" y="566928"/>
                </a:lnTo>
                <a:lnTo>
                  <a:pt x="0" y="566928"/>
                </a:lnTo>
                <a:close/>
              </a:path>
            </a:pathLst>
          </a:custGeom>
          <a:solidFill>
            <a:srgbClr val="5196FF">
              <a:alpha val="50000"/>
            </a:srgbClr>
          </a:solidFill>
        </p:spPr>
      </p:sp>
      <p:sp>
        <p:nvSpPr>
          <p:cNvPr id="4" name="Shape 2"/>
          <p:cNvSpPr/>
          <p:nvPr/>
        </p:nvSpPr>
        <p:spPr>
          <a:xfrm rot="2700000">
            <a:off x="434967" y="1930446"/>
            <a:ext cx="566928" cy="566928"/>
          </a:xfrm>
          <a:custGeom>
            <a:avLst/>
            <a:gdLst/>
            <a:ahLst/>
            <a:cxnLst/>
            <a:rect l="l" t="t" r="r" b="b"/>
            <a:pathLst>
              <a:path w="566928" h="566928">
                <a:moveTo>
                  <a:pt x="0" y="0"/>
                </a:moveTo>
                <a:moveTo>
                  <a:pt x="0" y="0"/>
                </a:moveTo>
                <a:lnTo>
                  <a:pt x="566928" y="0"/>
                </a:lnTo>
                <a:lnTo>
                  <a:pt x="566928" y="566928"/>
                </a:lnTo>
                <a:lnTo>
                  <a:pt x="0" y="566928"/>
                </a:lnTo>
                <a:close/>
              </a:path>
            </a:pathLst>
          </a:custGeom>
          <a:solidFill>
            <a:srgbClr val="5196FF">
              <a:alpha val="50000"/>
            </a:srgbClr>
          </a:solidFill>
        </p:spPr>
      </p:sp>
      <p:sp>
        <p:nvSpPr>
          <p:cNvPr id="5" name="Shape 3"/>
          <p:cNvSpPr/>
          <p:nvPr/>
        </p:nvSpPr>
        <p:spPr>
          <a:xfrm rot="2700000">
            <a:off x="434967" y="2543513"/>
            <a:ext cx="566928" cy="566928"/>
          </a:xfrm>
          <a:custGeom>
            <a:avLst/>
            <a:gdLst/>
            <a:ahLst/>
            <a:cxnLst/>
            <a:rect l="l" t="t" r="r" b="b"/>
            <a:pathLst>
              <a:path w="566928" h="566928">
                <a:moveTo>
                  <a:pt x="0" y="0"/>
                </a:moveTo>
                <a:moveTo>
                  <a:pt x="0" y="0"/>
                </a:moveTo>
                <a:lnTo>
                  <a:pt x="566928" y="0"/>
                </a:lnTo>
                <a:lnTo>
                  <a:pt x="566928" y="566928"/>
                </a:lnTo>
                <a:lnTo>
                  <a:pt x="0" y="566928"/>
                </a:lnTo>
                <a:close/>
              </a:path>
            </a:pathLst>
          </a:custGeom>
          <a:solidFill>
            <a:srgbClr val="0084FF"/>
          </a:solidFill>
        </p:spPr>
      </p:sp>
      <p:sp>
        <p:nvSpPr>
          <p:cNvPr id="6" name="Shape 4"/>
          <p:cNvSpPr/>
          <p:nvPr/>
        </p:nvSpPr>
        <p:spPr>
          <a:xfrm rot="2700000">
            <a:off x="434967" y="3769647"/>
            <a:ext cx="566928" cy="566928"/>
          </a:xfrm>
          <a:custGeom>
            <a:avLst/>
            <a:gdLst/>
            <a:ahLst/>
            <a:cxnLst/>
            <a:rect l="l" t="t" r="r" b="b"/>
            <a:pathLst>
              <a:path w="566928" h="566928">
                <a:moveTo>
                  <a:pt x="0" y="0"/>
                </a:moveTo>
                <a:moveTo>
                  <a:pt x="0" y="0"/>
                </a:moveTo>
                <a:lnTo>
                  <a:pt x="566928" y="0"/>
                </a:lnTo>
                <a:lnTo>
                  <a:pt x="566928" y="566928"/>
                </a:lnTo>
                <a:lnTo>
                  <a:pt x="0" y="566928"/>
                </a:lnTo>
                <a:close/>
              </a:path>
            </a:pathLst>
          </a:custGeom>
          <a:solidFill>
            <a:srgbClr val="0084FF"/>
          </a:solidFill>
        </p:spPr>
      </p:sp>
      <p:sp>
        <p:nvSpPr>
          <p:cNvPr id="7" name="Shape 5"/>
          <p:cNvSpPr/>
          <p:nvPr/>
        </p:nvSpPr>
        <p:spPr>
          <a:xfrm rot="2700000">
            <a:off x="434967" y="1317379"/>
            <a:ext cx="566928" cy="566928"/>
          </a:xfrm>
          <a:custGeom>
            <a:avLst/>
            <a:gdLst/>
            <a:ahLst/>
            <a:cxnLst/>
            <a:rect l="l" t="t" r="r" b="b"/>
            <a:pathLst>
              <a:path w="566928" h="566928">
                <a:moveTo>
                  <a:pt x="0" y="0"/>
                </a:moveTo>
                <a:moveTo>
                  <a:pt x="0" y="0"/>
                </a:moveTo>
                <a:lnTo>
                  <a:pt x="566928" y="0"/>
                </a:lnTo>
                <a:lnTo>
                  <a:pt x="566928" y="566928"/>
                </a:lnTo>
                <a:lnTo>
                  <a:pt x="0" y="566928"/>
                </a:lnTo>
                <a:close/>
              </a:path>
            </a:pathLst>
          </a:custGeom>
          <a:solidFill>
            <a:srgbClr val="0084FF"/>
          </a:solidFill>
        </p:spPr>
      </p:sp>
      <p:sp>
        <p:nvSpPr>
          <p:cNvPr id="8" name="Text 6"/>
          <p:cNvSpPr/>
          <p:nvPr/>
        </p:nvSpPr>
        <p:spPr>
          <a:xfrm>
            <a:off x="376676" y="2536963"/>
            <a:ext cx="683510" cy="566928"/>
          </a:xfrm>
          <a:prstGeom prst="rect">
            <a:avLst/>
          </a:prstGeom>
          <a:noFill/>
        </p:spPr>
        <p:txBody>
          <a:bodyPr wrap="square" lIns="95250" tIns="95250" rIns="95250" bIns="95250" rtlCol="0" anchor="t">
            <a:spAutoFit/>
          </a:bodyPr>
          <a:lstStyle/>
          <a:p>
            <a:pPr marL="0" indent="0" algn="ctr">
              <a:lnSpc>
                <a:spcPct val="113000"/>
              </a:lnSpc>
              <a:spcBef>
                <a:spcPts val="375"/>
              </a:spcBef>
              <a:buNone/>
            </a:pPr>
            <a:r>
              <a:rPr lang="en-US" sz="2015" b="1" dirty="0">
                <a:solidFill>
                  <a:srgbClr val="FFFFFF"/>
                </a:solidFill>
                <a:latin typeface="Noto Sans" pitchFamily="34" charset="0"/>
                <a:ea typeface="Noto Sans" pitchFamily="34" charset="-122"/>
                <a:cs typeface="Noto Sans" pitchFamily="34" charset="-120"/>
              </a:rPr>
              <a:t>02</a:t>
            </a:r>
            <a:endParaRPr lang="en-US" sz="1440" dirty="0"/>
          </a:p>
        </p:txBody>
      </p:sp>
      <p:sp>
        <p:nvSpPr>
          <p:cNvPr id="9" name="Text 7"/>
          <p:cNvSpPr/>
          <p:nvPr/>
        </p:nvSpPr>
        <p:spPr>
          <a:xfrm>
            <a:off x="376676" y="3769647"/>
            <a:ext cx="683510" cy="566928"/>
          </a:xfrm>
          <a:prstGeom prst="rect">
            <a:avLst/>
          </a:prstGeom>
          <a:noFill/>
        </p:spPr>
        <p:txBody>
          <a:bodyPr wrap="square" lIns="95250" tIns="95250" rIns="95250" bIns="95250" rtlCol="0" anchor="t">
            <a:spAutoFit/>
          </a:bodyPr>
          <a:lstStyle/>
          <a:p>
            <a:pPr marL="0" indent="0" algn="ctr">
              <a:lnSpc>
                <a:spcPct val="113000"/>
              </a:lnSpc>
              <a:spcBef>
                <a:spcPts val="375"/>
              </a:spcBef>
              <a:buNone/>
            </a:pPr>
            <a:r>
              <a:rPr lang="en-US" sz="2015" b="1" dirty="0">
                <a:solidFill>
                  <a:srgbClr val="FFFFFF"/>
                </a:solidFill>
                <a:latin typeface="Noto Sans" pitchFamily="34" charset="0"/>
                <a:ea typeface="Noto Sans" pitchFamily="34" charset="-122"/>
                <a:cs typeface="Noto Sans" pitchFamily="34" charset="-120"/>
              </a:rPr>
              <a:t>03</a:t>
            </a:r>
            <a:endParaRPr lang="en-US" sz="1440" dirty="0"/>
          </a:p>
        </p:txBody>
      </p:sp>
      <p:sp>
        <p:nvSpPr>
          <p:cNvPr id="10" name="Text 8"/>
          <p:cNvSpPr/>
          <p:nvPr/>
        </p:nvSpPr>
        <p:spPr>
          <a:xfrm>
            <a:off x="376676" y="1317379"/>
            <a:ext cx="683510" cy="566928"/>
          </a:xfrm>
          <a:prstGeom prst="rect">
            <a:avLst/>
          </a:prstGeom>
          <a:noFill/>
        </p:spPr>
        <p:txBody>
          <a:bodyPr wrap="square" lIns="95250" tIns="95250" rIns="95250" bIns="95250" rtlCol="0" anchor="t">
            <a:spAutoFit/>
          </a:bodyPr>
          <a:lstStyle/>
          <a:p>
            <a:pPr marL="0" indent="0" algn="ctr">
              <a:lnSpc>
                <a:spcPct val="113000"/>
              </a:lnSpc>
              <a:spcBef>
                <a:spcPts val="375"/>
              </a:spcBef>
              <a:buNone/>
            </a:pPr>
            <a:r>
              <a:rPr lang="en-US" sz="2015" b="1" dirty="0">
                <a:solidFill>
                  <a:srgbClr val="FFFFFF"/>
                </a:solidFill>
                <a:latin typeface="Noto Sans" pitchFamily="34" charset="0"/>
                <a:ea typeface="Noto Sans" pitchFamily="34" charset="-122"/>
                <a:cs typeface="Noto Sans" pitchFamily="34" charset="-120"/>
              </a:rPr>
              <a:t>01</a:t>
            </a:r>
            <a:endParaRPr lang="en-US" sz="1440" dirty="0"/>
          </a:p>
        </p:txBody>
      </p:sp>
      <p:sp>
        <p:nvSpPr>
          <p:cNvPr id="11" name="Shape 9"/>
          <p:cNvSpPr/>
          <p:nvPr/>
        </p:nvSpPr>
        <p:spPr>
          <a:xfrm>
            <a:off x="968258" y="1128980"/>
            <a:ext cx="7858190" cy="943726"/>
          </a:xfrm>
          <a:custGeom>
            <a:avLst/>
            <a:gdLst/>
            <a:ahLst/>
            <a:cxnLst/>
            <a:rect l="l" t="t" r="r" b="b"/>
            <a:pathLst>
              <a:path w="7858190" h="943726">
                <a:moveTo>
                  <a:pt x="109245" y="0"/>
                </a:moveTo>
                <a:moveTo>
                  <a:pt x="109245" y="0"/>
                </a:moveTo>
                <a:lnTo>
                  <a:pt x="7748946" y="0"/>
                </a:lnTo>
                <a:quadBezTo>
                  <a:pt x="7858190" y="0"/>
                  <a:pt x="7858190" y="117966"/>
                </a:quadBezTo>
                <a:lnTo>
                  <a:pt x="7858190" y="825761"/>
                </a:lnTo>
                <a:quadBezTo>
                  <a:pt x="7858190" y="943726"/>
                  <a:pt x="7748946" y="943726"/>
                </a:quadBezTo>
                <a:lnTo>
                  <a:pt x="109245" y="943726"/>
                </a:lnTo>
                <a:quadBezTo>
                  <a:pt x="0" y="943726"/>
                  <a:pt x="0" y="825761"/>
                </a:quadBezTo>
                <a:lnTo>
                  <a:pt x="0" y="117966"/>
                </a:lnTo>
                <a:quadBezTo>
                  <a:pt x="0" y="0"/>
                  <a:pt x="109245" y="0"/>
                </a:quadBezTo>
                <a:close/>
              </a:path>
            </a:pathLst>
          </a:custGeom>
          <a:solidFill>
            <a:srgbClr val="0084FF">
              <a:alpha val="0"/>
            </a:srgbClr>
          </a:solidFill>
          <a:ln w="19050">
            <a:solidFill>
              <a:srgbClr val="2A5899"/>
            </a:solidFill>
            <a:prstDash val="solid"/>
          </a:ln>
        </p:spPr>
      </p:sp>
      <p:sp>
        <p:nvSpPr>
          <p:cNvPr id="12" name="Shape 10"/>
          <p:cNvSpPr/>
          <p:nvPr/>
        </p:nvSpPr>
        <p:spPr>
          <a:xfrm>
            <a:off x="968258" y="2354848"/>
            <a:ext cx="7858190" cy="943726"/>
          </a:xfrm>
          <a:custGeom>
            <a:avLst/>
            <a:gdLst/>
            <a:ahLst/>
            <a:cxnLst/>
            <a:rect l="l" t="t" r="r" b="b"/>
            <a:pathLst>
              <a:path w="7858190" h="943726">
                <a:moveTo>
                  <a:pt x="109245" y="0"/>
                </a:moveTo>
                <a:moveTo>
                  <a:pt x="109245" y="0"/>
                </a:moveTo>
                <a:lnTo>
                  <a:pt x="7748946" y="0"/>
                </a:lnTo>
                <a:quadBezTo>
                  <a:pt x="7858190" y="0"/>
                  <a:pt x="7858190" y="117966"/>
                </a:quadBezTo>
                <a:lnTo>
                  <a:pt x="7858190" y="825761"/>
                </a:lnTo>
                <a:quadBezTo>
                  <a:pt x="7858190" y="943726"/>
                  <a:pt x="7748946" y="943726"/>
                </a:quadBezTo>
                <a:lnTo>
                  <a:pt x="109245" y="943726"/>
                </a:lnTo>
                <a:quadBezTo>
                  <a:pt x="0" y="943726"/>
                  <a:pt x="0" y="825761"/>
                </a:quadBezTo>
                <a:lnTo>
                  <a:pt x="0" y="117966"/>
                </a:lnTo>
                <a:quadBezTo>
                  <a:pt x="0" y="0"/>
                  <a:pt x="109245" y="0"/>
                </a:quadBezTo>
                <a:close/>
              </a:path>
            </a:pathLst>
          </a:custGeom>
          <a:solidFill>
            <a:srgbClr val="FFFFFF">
              <a:alpha val="0"/>
            </a:srgbClr>
          </a:solidFill>
          <a:ln w="19050">
            <a:solidFill>
              <a:srgbClr val="2A5899"/>
            </a:solidFill>
            <a:prstDash val="solid"/>
          </a:ln>
        </p:spPr>
      </p:sp>
      <p:sp>
        <p:nvSpPr>
          <p:cNvPr id="13" name="Shape 11"/>
          <p:cNvSpPr/>
          <p:nvPr/>
        </p:nvSpPr>
        <p:spPr>
          <a:xfrm>
            <a:off x="968258" y="3581248"/>
            <a:ext cx="7858190" cy="943726"/>
          </a:xfrm>
          <a:custGeom>
            <a:avLst/>
            <a:gdLst/>
            <a:ahLst/>
            <a:cxnLst/>
            <a:rect l="l" t="t" r="r" b="b"/>
            <a:pathLst>
              <a:path w="7858190" h="943726">
                <a:moveTo>
                  <a:pt x="109245" y="0"/>
                </a:moveTo>
                <a:moveTo>
                  <a:pt x="109245" y="0"/>
                </a:moveTo>
                <a:lnTo>
                  <a:pt x="7748946" y="0"/>
                </a:lnTo>
                <a:quadBezTo>
                  <a:pt x="7858190" y="0"/>
                  <a:pt x="7858190" y="117966"/>
                </a:quadBezTo>
                <a:lnTo>
                  <a:pt x="7858190" y="825761"/>
                </a:lnTo>
                <a:quadBezTo>
                  <a:pt x="7858190" y="943726"/>
                  <a:pt x="7748946" y="943726"/>
                </a:quadBezTo>
                <a:lnTo>
                  <a:pt x="109245" y="943726"/>
                </a:lnTo>
                <a:quadBezTo>
                  <a:pt x="0" y="943726"/>
                  <a:pt x="0" y="825761"/>
                </a:quadBezTo>
                <a:lnTo>
                  <a:pt x="0" y="117966"/>
                </a:lnTo>
                <a:quadBezTo>
                  <a:pt x="0" y="0"/>
                  <a:pt x="109245" y="0"/>
                </a:quadBezTo>
                <a:close/>
              </a:path>
            </a:pathLst>
          </a:custGeom>
          <a:solidFill>
            <a:srgbClr val="FFFFFF">
              <a:alpha val="0"/>
            </a:srgbClr>
          </a:solidFill>
          <a:ln w="19050">
            <a:solidFill>
              <a:srgbClr val="2A5899"/>
            </a:solidFill>
            <a:prstDash val="solid"/>
          </a:ln>
        </p:spPr>
      </p:sp>
      <p:sp>
        <p:nvSpPr>
          <p:cNvPr id="14" name="Text 12"/>
          <p:cNvSpPr/>
          <p:nvPr/>
        </p:nvSpPr>
        <p:spPr>
          <a:xfrm>
            <a:off x="1119309" y="1413391"/>
            <a:ext cx="2858315" cy="374904"/>
          </a:xfrm>
          <a:prstGeom prst="rect">
            <a:avLst/>
          </a:prstGeom>
          <a:noFill/>
        </p:spPr>
        <p:txBody>
          <a:bodyPr wrap="square" lIns="95250" tIns="95250" rIns="95250" bIns="95250" rtlCol="0" anchor="ctr"/>
          <a:lstStyle/>
          <a:p>
            <a:pPr marL="0" indent="0">
              <a:lnSpc>
                <a:spcPct val="100000"/>
              </a:lnSpc>
              <a:spcBef>
                <a:spcPts val="375"/>
              </a:spcBef>
              <a:buNone/>
            </a:pPr>
            <a:r>
              <a:rPr lang="en-US" sz="1585" b="1" dirty="0">
                <a:solidFill>
                  <a:srgbClr val="2A5899"/>
                </a:solidFill>
                <a:latin typeface="Noto Sans" pitchFamily="34" charset="0"/>
                <a:ea typeface="Noto Sans" pitchFamily="34" charset="-122"/>
                <a:cs typeface="Noto Sans" pitchFamily="34" charset="-120"/>
              </a:rPr>
              <a:t>技术可行性分析</a:t>
            </a:r>
            <a:endParaRPr lang="en-US" sz="1440" dirty="0"/>
          </a:p>
        </p:txBody>
      </p:sp>
      <p:sp>
        <p:nvSpPr>
          <p:cNvPr id="15" name="Text 13"/>
          <p:cNvSpPr/>
          <p:nvPr/>
        </p:nvSpPr>
        <p:spPr>
          <a:xfrm>
            <a:off x="4127857" y="1289947"/>
            <a:ext cx="4501915" cy="621792"/>
          </a:xfrm>
          <a:prstGeom prst="rect">
            <a:avLst/>
          </a:prstGeom>
          <a:noFill/>
        </p:spPr>
        <p:txBody>
          <a:bodyPr wrap="square" lIns="95250" tIns="95250" rIns="95250" bIns="95250" rtlCol="0" anchor="ctr"/>
          <a:lstStyle/>
          <a:p>
            <a:pPr marL="0" indent="0">
              <a:lnSpc>
                <a:spcPct val="100000"/>
              </a:lnSpc>
              <a:buNone/>
            </a:pPr>
            <a:r>
              <a:rPr lang="en-US" sz="1150" dirty="0">
                <a:solidFill>
                  <a:srgbClr val="272245"/>
                </a:solidFill>
                <a:latin typeface="Noto Sans" pitchFamily="34" charset="0"/>
                <a:ea typeface="Noto Sans" pitchFamily="34" charset="-122"/>
                <a:cs typeface="Noto Sans" pitchFamily="34" charset="-120"/>
              </a:rPr>
              <a:t>技术可行性分析主要考察项目实施所需技术的成熟度和适用性，包括编程语言、数据库系统及开发框架的选择，确保技术方案的高效与稳定。</a:t>
            </a:r>
            <a:endParaRPr lang="en-US" sz="1440" dirty="0"/>
          </a:p>
        </p:txBody>
      </p:sp>
      <p:sp>
        <p:nvSpPr>
          <p:cNvPr id="16" name="Text 14"/>
          <p:cNvSpPr/>
          <p:nvPr/>
        </p:nvSpPr>
        <p:spPr>
          <a:xfrm>
            <a:off x="1119309" y="2625544"/>
            <a:ext cx="2858315" cy="402336"/>
          </a:xfrm>
          <a:prstGeom prst="rect">
            <a:avLst/>
          </a:prstGeom>
          <a:noFill/>
        </p:spPr>
        <p:txBody>
          <a:bodyPr wrap="square" lIns="95250" tIns="95250" rIns="95250" bIns="95250" rtlCol="0" anchor="ctr"/>
          <a:lstStyle/>
          <a:p>
            <a:pPr marL="0" indent="0">
              <a:lnSpc>
                <a:spcPct val="100000"/>
              </a:lnSpc>
              <a:spcBef>
                <a:spcPts val="375"/>
              </a:spcBef>
              <a:buNone/>
            </a:pPr>
            <a:r>
              <a:rPr lang="en-US" sz="1585" b="1" dirty="0">
                <a:solidFill>
                  <a:srgbClr val="2A5899"/>
                </a:solidFill>
                <a:latin typeface="Noto Sans" pitchFamily="34" charset="0"/>
                <a:ea typeface="Noto Sans" pitchFamily="34" charset="-122"/>
                <a:cs typeface="Noto Sans" pitchFamily="34" charset="-120"/>
              </a:rPr>
              <a:t>经济可行性评估</a:t>
            </a:r>
            <a:endParaRPr lang="en-US" sz="1440" dirty="0"/>
          </a:p>
        </p:txBody>
      </p:sp>
      <p:sp>
        <p:nvSpPr>
          <p:cNvPr id="17" name="Text 15"/>
          <p:cNvSpPr/>
          <p:nvPr/>
        </p:nvSpPr>
        <p:spPr>
          <a:xfrm>
            <a:off x="4127857" y="2515816"/>
            <a:ext cx="4501915" cy="621792"/>
          </a:xfrm>
          <a:prstGeom prst="rect">
            <a:avLst/>
          </a:prstGeom>
          <a:noFill/>
        </p:spPr>
        <p:txBody>
          <a:bodyPr wrap="square" lIns="95250" tIns="95250" rIns="95250" bIns="95250" rtlCol="0" anchor="ctr"/>
          <a:lstStyle/>
          <a:p>
            <a:pPr marL="0" indent="0">
              <a:lnSpc>
                <a:spcPct val="100000"/>
              </a:lnSpc>
              <a:spcBef>
                <a:spcPts val="375"/>
              </a:spcBef>
              <a:buNone/>
            </a:pPr>
            <a:r>
              <a:rPr lang="en-US" sz="1150" dirty="0">
                <a:solidFill>
                  <a:srgbClr val="272245"/>
                </a:solidFill>
                <a:latin typeface="Noto Sans" pitchFamily="34" charset="0"/>
                <a:ea typeface="Noto Sans" pitchFamily="34" charset="-122"/>
                <a:cs typeface="Noto Sans" pitchFamily="34" charset="-120"/>
              </a:rPr>
              <a:t>经济可行性评估关注项目的成本效益比，通过对比开源技术的使用成本和预期收益，判断项目在财务上的可持续性和投资回报率。</a:t>
            </a:r>
            <a:endParaRPr lang="en-US" sz="1440" dirty="0"/>
          </a:p>
        </p:txBody>
      </p:sp>
      <p:sp>
        <p:nvSpPr>
          <p:cNvPr id="18" name="Text 16"/>
          <p:cNvSpPr/>
          <p:nvPr/>
        </p:nvSpPr>
        <p:spPr>
          <a:xfrm>
            <a:off x="1119515" y="3865659"/>
            <a:ext cx="2858315" cy="374904"/>
          </a:xfrm>
          <a:prstGeom prst="rect">
            <a:avLst/>
          </a:prstGeom>
          <a:noFill/>
        </p:spPr>
        <p:txBody>
          <a:bodyPr wrap="square" lIns="95250" tIns="95250" rIns="95250" bIns="95250" rtlCol="0" anchor="ctr"/>
          <a:lstStyle/>
          <a:p>
            <a:pPr marL="0" indent="0">
              <a:lnSpc>
                <a:spcPct val="100000"/>
              </a:lnSpc>
              <a:spcBef>
                <a:spcPts val="375"/>
              </a:spcBef>
              <a:buNone/>
            </a:pPr>
            <a:r>
              <a:rPr lang="en-US" sz="1585" b="1" dirty="0">
                <a:solidFill>
                  <a:srgbClr val="2A5899"/>
                </a:solidFill>
                <a:latin typeface="Noto Sans" pitchFamily="34" charset="0"/>
                <a:ea typeface="Noto Sans" pitchFamily="34" charset="-122"/>
                <a:cs typeface="Noto Sans" pitchFamily="34" charset="-120"/>
              </a:rPr>
              <a:t>操作可行性考量</a:t>
            </a:r>
            <a:endParaRPr lang="en-US" sz="1440" dirty="0"/>
          </a:p>
        </p:txBody>
      </p:sp>
      <p:sp>
        <p:nvSpPr>
          <p:cNvPr id="19" name="Text 17"/>
          <p:cNvSpPr/>
          <p:nvPr/>
        </p:nvSpPr>
        <p:spPr>
          <a:xfrm>
            <a:off x="4129686" y="3733071"/>
            <a:ext cx="4500086" cy="621792"/>
          </a:xfrm>
          <a:prstGeom prst="rect">
            <a:avLst/>
          </a:prstGeom>
          <a:noFill/>
        </p:spPr>
        <p:txBody>
          <a:bodyPr wrap="square" lIns="95250" tIns="95250" rIns="95250" bIns="95250" rtlCol="0" anchor="ctr"/>
          <a:lstStyle/>
          <a:p>
            <a:pPr marL="0" indent="0">
              <a:lnSpc>
                <a:spcPct val="100000"/>
              </a:lnSpc>
              <a:spcBef>
                <a:spcPts val="375"/>
              </a:spcBef>
              <a:buNone/>
            </a:pPr>
            <a:r>
              <a:rPr lang="en-US" sz="1150" dirty="0">
                <a:solidFill>
                  <a:srgbClr val="272245"/>
                </a:solidFill>
                <a:latin typeface="Noto Sans" pitchFamily="34" charset="0"/>
                <a:ea typeface="Noto Sans" pitchFamily="34" charset="-122"/>
                <a:cs typeface="Noto Sans" pitchFamily="34" charset="-120"/>
              </a:rPr>
              <a:t>操作可行性考量涉及项目实施过程中的操作流程、用户界面设计以及后期维护的便捷性，确保平台易于使用且便于日常管理和维护。</a:t>
            </a:r>
            <a:endParaRPr lang="en-US" sz="144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283641" y="190697"/>
            <a:ext cx="8088253" cy="566928"/>
          </a:xfrm>
          <a:prstGeom prst="rect">
            <a:avLst/>
          </a:prstGeom>
          <a:noFill/>
        </p:spPr>
        <p:txBody>
          <a:bodyPr wrap="square" lIns="95250" tIns="95250" rIns="95250" bIns="95250" rtlCol="0" anchor="t"/>
          <a:lstStyle/>
          <a:p>
            <a:pPr marL="0" indent="0">
              <a:lnSpc>
                <a:spcPct val="113000"/>
              </a:lnSpc>
              <a:spcBef>
                <a:spcPts val="375"/>
              </a:spcBef>
              <a:buNone/>
            </a:pPr>
            <a:r>
              <a:rPr lang="en-US" sz="2015"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功能用例分析</a:t>
            </a:r>
            <a:endParaRPr lang="en-US" sz="1440" dirty="0"/>
          </a:p>
        </p:txBody>
      </p:sp>
      <p:pic>
        <p:nvPicPr>
          <p:cNvPr id="3" name="Image 0" descr="https://sgw-dx.xf-yun.com/api/v1/sparkdesk/_17441170296219437ac35496648598a5ffdd276fe99b3.jpg?authorization=c2ltcGxlLWp3dCBhaz1zcGFya2Rlc2s4MDAwMDAwMDAwMDE7ZXhwPTMzMjA5MTcwMjk7YWxnbz1obWFjLXNoYTI1NjtzaWc9d0NWdGZ4U3V4R1BPaUw1TnRncitKelhoZWU5RFN5aGhzZ2VZcEhnc29oWT0=&amp;x_location=7YfmxI7B7uKO7jlRxIftd6UoePD="/>
          <p:cNvPicPr>
            <a:picLocks noChangeAspect="1"/>
          </p:cNvPicPr>
          <p:nvPr/>
        </p:nvPicPr>
        <p:blipFill>
          <a:blip r:embed="rId4"/>
          <a:srcRect/>
          <a:stretch>
            <a:fillRect/>
          </a:stretch>
        </p:blipFill>
        <p:spPr>
          <a:xfrm>
            <a:off x="5884164" y="1227057"/>
            <a:ext cx="3031236" cy="3031236"/>
          </a:xfrm>
          <a:prstGeom prst="rect">
            <a:avLst/>
          </a:prstGeom>
        </p:spPr>
      </p:pic>
      <p:sp>
        <p:nvSpPr>
          <p:cNvPr id="4" name="Shape 1"/>
          <p:cNvSpPr/>
          <p:nvPr/>
        </p:nvSpPr>
        <p:spPr>
          <a:xfrm>
            <a:off x="278086" y="1104808"/>
            <a:ext cx="615117" cy="615117"/>
          </a:xfrm>
          <a:custGeom>
            <a:avLst/>
            <a:gdLst/>
            <a:ahLst/>
            <a:cxnLst/>
            <a:rect l="l" t="t" r="r" b="b"/>
            <a:pathLst>
              <a:path w="615117" h="615117">
                <a:moveTo>
                  <a:pt x="307559" y="0"/>
                </a:moveTo>
                <a:moveTo>
                  <a:pt x="307559" y="0"/>
                </a:moveTo>
                <a:cubicBezTo>
                  <a:pt x="477305" y="0"/>
                  <a:pt x="615117" y="137812"/>
                  <a:pt x="615117" y="307559"/>
                </a:cubicBezTo>
                <a:cubicBezTo>
                  <a:pt x="615117" y="477305"/>
                  <a:pt x="477305" y="615117"/>
                  <a:pt x="307559" y="615117"/>
                </a:cubicBezTo>
                <a:cubicBezTo>
                  <a:pt x="137812" y="615117"/>
                  <a:pt x="0" y="477305"/>
                  <a:pt x="0" y="307559"/>
                </a:cubicBezTo>
                <a:cubicBezTo>
                  <a:pt x="0" y="137812"/>
                  <a:pt x="137812" y="0"/>
                  <a:pt x="307559" y="0"/>
                </a:cubicBezTo>
                <a:close/>
              </a:path>
            </a:pathLst>
          </a:custGeom>
          <a:solidFill>
            <a:srgbClr val="0084FF"/>
          </a:solidFill>
        </p:spPr>
      </p:sp>
      <p:sp>
        <p:nvSpPr>
          <p:cNvPr id="5" name="Text 2"/>
          <p:cNvSpPr/>
          <p:nvPr/>
        </p:nvSpPr>
        <p:spPr>
          <a:xfrm>
            <a:off x="228600" y="1087755"/>
            <a:ext cx="714089" cy="649224"/>
          </a:xfrm>
          <a:prstGeom prst="rect">
            <a:avLst/>
          </a:prstGeom>
          <a:noFill/>
        </p:spPr>
        <p:txBody>
          <a:bodyPr wrap="square" lIns="95250" tIns="95250" rIns="95250" bIns="95250" rtlCol="0" anchor="t">
            <a:spAutoFit/>
          </a:bodyPr>
          <a:lstStyle/>
          <a:p>
            <a:pPr marL="0" indent="0" algn="ctr">
              <a:lnSpc>
                <a:spcPct val="113000"/>
              </a:lnSpc>
              <a:spcBef>
                <a:spcPts val="375"/>
              </a:spcBef>
              <a:buNone/>
            </a:pPr>
            <a:r>
              <a:rPr lang="en-US" sz="245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1</a:t>
            </a:r>
            <a:endParaRPr lang="en-US" sz="1440" dirty="0"/>
          </a:p>
        </p:txBody>
      </p:sp>
      <p:sp>
        <p:nvSpPr>
          <p:cNvPr id="6" name="Text 3"/>
          <p:cNvSpPr/>
          <p:nvPr/>
        </p:nvSpPr>
        <p:spPr>
          <a:xfrm>
            <a:off x="1015608" y="971025"/>
            <a:ext cx="4744222" cy="402336"/>
          </a:xfrm>
          <a:prstGeom prst="rect">
            <a:avLst/>
          </a:prstGeom>
          <a:noFill/>
        </p:spPr>
        <p:txBody>
          <a:bodyPr wrap="square" lIns="95250" tIns="95250" rIns="95250" bIns="95250" rtlCol="0" anchor="t">
            <a:spAutoFit/>
          </a:bodyPr>
          <a:lstStyle/>
          <a:p>
            <a:pPr marL="0" indent="0">
              <a:lnSpc>
                <a:spcPct val="100000"/>
              </a:lnSpc>
              <a:spcBef>
                <a:spcPts val="375"/>
              </a:spcBef>
              <a:buNone/>
            </a:pPr>
            <a:r>
              <a:rPr lang="en-US" sz="1730" b="1" dirty="0">
                <a:solidFill>
                  <a:srgbClr val="272245"/>
                </a:solidFill>
                <a:latin typeface="微软雅黑" panose="020B0503020204020204" pitchFamily="34" charset="-122"/>
                <a:ea typeface="微软雅黑" panose="020B0503020204020204" pitchFamily="34" charset="-122"/>
                <a:cs typeface="微软雅黑" panose="020B0503020204020204" pitchFamily="34" charset="-120"/>
              </a:rPr>
              <a:t>用户需求识别</a:t>
            </a:r>
            <a:endParaRPr lang="en-US" sz="1440" dirty="0"/>
          </a:p>
        </p:txBody>
      </p:sp>
      <p:sp>
        <p:nvSpPr>
          <p:cNvPr id="7" name="Text 4"/>
          <p:cNvSpPr/>
          <p:nvPr/>
        </p:nvSpPr>
        <p:spPr>
          <a:xfrm>
            <a:off x="1015608" y="1291065"/>
            <a:ext cx="4734829" cy="603504"/>
          </a:xfrm>
          <a:prstGeom prst="rect">
            <a:avLst/>
          </a:prstGeom>
          <a:noFill/>
        </p:spPr>
        <p:txBody>
          <a:bodyPr wrap="square" lIns="95250" tIns="95250" rIns="95250" bIns="95250" rtlCol="0" anchor="t">
            <a:spAutoFit/>
          </a:bodyPr>
          <a:lstStyle/>
          <a:p>
            <a:pPr marL="0" indent="0">
              <a:lnSpc>
                <a:spcPct val="100000"/>
              </a:lnSpc>
              <a:spcBef>
                <a:spcPts val="375"/>
              </a:spcBef>
              <a:buNone/>
            </a:pPr>
            <a:r>
              <a:rPr lang="en-US" sz="1150" dirty="0">
                <a:solidFill>
                  <a:srgbClr val="272245"/>
                </a:solidFill>
                <a:latin typeface="微软雅黑" panose="020B0503020204020204" pitchFamily="34" charset="-122"/>
                <a:ea typeface="微软雅黑" panose="020B0503020204020204" pitchFamily="34" charset="-122"/>
                <a:cs typeface="微软雅黑" panose="020B0503020204020204" pitchFamily="34" charset="-120"/>
              </a:rPr>
              <a:t>用户需求识别是功能用例分析的首要步骤，通过明确系统的目标用户群体及其需求，为后续的用例图绘制和用例描述提供基础。</a:t>
            </a:r>
            <a:endParaRPr lang="en-US" sz="1440" dirty="0"/>
          </a:p>
        </p:txBody>
      </p:sp>
      <p:sp>
        <p:nvSpPr>
          <p:cNvPr id="8" name="Shape 5"/>
          <p:cNvSpPr/>
          <p:nvPr/>
        </p:nvSpPr>
        <p:spPr>
          <a:xfrm>
            <a:off x="278086" y="2415847"/>
            <a:ext cx="615117" cy="615117"/>
          </a:xfrm>
          <a:custGeom>
            <a:avLst/>
            <a:gdLst/>
            <a:ahLst/>
            <a:cxnLst/>
            <a:rect l="l" t="t" r="r" b="b"/>
            <a:pathLst>
              <a:path w="615117" h="615117">
                <a:moveTo>
                  <a:pt x="307559" y="0"/>
                </a:moveTo>
                <a:moveTo>
                  <a:pt x="307559" y="0"/>
                </a:moveTo>
                <a:cubicBezTo>
                  <a:pt x="477305" y="0"/>
                  <a:pt x="615117" y="137812"/>
                  <a:pt x="615117" y="307559"/>
                </a:cubicBezTo>
                <a:cubicBezTo>
                  <a:pt x="615117" y="477305"/>
                  <a:pt x="477305" y="615117"/>
                  <a:pt x="307559" y="615117"/>
                </a:cubicBezTo>
                <a:cubicBezTo>
                  <a:pt x="137812" y="615117"/>
                  <a:pt x="0" y="477305"/>
                  <a:pt x="0" y="307559"/>
                </a:cubicBezTo>
                <a:cubicBezTo>
                  <a:pt x="0" y="137812"/>
                  <a:pt x="137812" y="0"/>
                  <a:pt x="307559" y="0"/>
                </a:cubicBezTo>
                <a:close/>
              </a:path>
            </a:pathLst>
          </a:custGeom>
          <a:solidFill>
            <a:srgbClr val="0084FF"/>
          </a:solidFill>
        </p:spPr>
      </p:sp>
      <p:sp>
        <p:nvSpPr>
          <p:cNvPr id="9" name="Text 6"/>
          <p:cNvSpPr/>
          <p:nvPr/>
        </p:nvSpPr>
        <p:spPr>
          <a:xfrm>
            <a:off x="228600" y="2398793"/>
            <a:ext cx="714089" cy="649224"/>
          </a:xfrm>
          <a:prstGeom prst="rect">
            <a:avLst/>
          </a:prstGeom>
          <a:noFill/>
        </p:spPr>
        <p:txBody>
          <a:bodyPr wrap="square" lIns="95250" tIns="95250" rIns="95250" bIns="95250" rtlCol="0" anchor="t">
            <a:spAutoFit/>
          </a:bodyPr>
          <a:lstStyle/>
          <a:p>
            <a:pPr marL="0" indent="0" algn="ctr">
              <a:lnSpc>
                <a:spcPct val="113000"/>
              </a:lnSpc>
              <a:spcBef>
                <a:spcPts val="375"/>
              </a:spcBef>
              <a:buNone/>
            </a:pPr>
            <a:r>
              <a:rPr lang="en-US" sz="245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2</a:t>
            </a:r>
            <a:endParaRPr lang="en-US" sz="1440" dirty="0"/>
          </a:p>
        </p:txBody>
      </p:sp>
      <p:sp>
        <p:nvSpPr>
          <p:cNvPr id="10" name="Text 7"/>
          <p:cNvSpPr/>
          <p:nvPr/>
        </p:nvSpPr>
        <p:spPr>
          <a:xfrm>
            <a:off x="1015608" y="2277492"/>
            <a:ext cx="4744222" cy="402336"/>
          </a:xfrm>
          <a:prstGeom prst="rect">
            <a:avLst/>
          </a:prstGeom>
          <a:noFill/>
        </p:spPr>
        <p:txBody>
          <a:bodyPr wrap="square" lIns="95250" tIns="95250" rIns="95250" bIns="95250" rtlCol="0" anchor="t">
            <a:spAutoFit/>
          </a:bodyPr>
          <a:lstStyle/>
          <a:p>
            <a:pPr marL="0" indent="0">
              <a:lnSpc>
                <a:spcPct val="100000"/>
              </a:lnSpc>
              <a:spcBef>
                <a:spcPts val="375"/>
              </a:spcBef>
              <a:buNone/>
            </a:pPr>
            <a:r>
              <a:rPr lang="en-US" sz="1730" b="1" dirty="0">
                <a:solidFill>
                  <a:srgbClr val="272245"/>
                </a:solidFill>
                <a:latin typeface="微软雅黑" panose="020B0503020204020204" pitchFamily="34" charset="-122"/>
                <a:ea typeface="微软雅黑" panose="020B0503020204020204" pitchFamily="34" charset="-122"/>
                <a:cs typeface="微软雅黑" panose="020B0503020204020204" pitchFamily="34" charset="-120"/>
              </a:rPr>
              <a:t>用例图绘制与描述</a:t>
            </a:r>
            <a:endParaRPr lang="en-US" sz="1440" dirty="0"/>
          </a:p>
        </p:txBody>
      </p:sp>
      <p:sp>
        <p:nvSpPr>
          <p:cNvPr id="11" name="Text 8"/>
          <p:cNvSpPr/>
          <p:nvPr/>
        </p:nvSpPr>
        <p:spPr>
          <a:xfrm>
            <a:off x="1015608" y="2606676"/>
            <a:ext cx="4730999" cy="603504"/>
          </a:xfrm>
          <a:prstGeom prst="rect">
            <a:avLst/>
          </a:prstGeom>
          <a:noFill/>
        </p:spPr>
        <p:txBody>
          <a:bodyPr wrap="square" lIns="95250" tIns="95250" rIns="95250" bIns="95250" rtlCol="0" anchor="t">
            <a:spAutoFit/>
          </a:bodyPr>
          <a:lstStyle/>
          <a:p>
            <a:pPr marL="0" indent="0">
              <a:lnSpc>
                <a:spcPct val="100000"/>
              </a:lnSpc>
              <a:spcBef>
                <a:spcPts val="375"/>
              </a:spcBef>
              <a:buNone/>
            </a:pPr>
            <a:r>
              <a:rPr lang="en-US" sz="1150" dirty="0">
                <a:solidFill>
                  <a:srgbClr val="272245"/>
                </a:solidFill>
                <a:latin typeface="微软雅黑" panose="020B0503020204020204" pitchFamily="34" charset="-122"/>
                <a:ea typeface="微软雅黑" panose="020B0503020204020204" pitchFamily="34" charset="-122"/>
                <a:cs typeface="微软雅黑" panose="020B0503020204020204" pitchFamily="34" charset="-120"/>
              </a:rPr>
              <a:t>用例图直观展示不同用户与系统之间的交互关系，而详细的用例描述则有助于开发人员理解每个用例的具体实现方式。</a:t>
            </a:r>
            <a:endParaRPr lang="en-US" sz="1440" dirty="0"/>
          </a:p>
        </p:txBody>
      </p:sp>
      <p:sp>
        <p:nvSpPr>
          <p:cNvPr id="12" name="Shape 9"/>
          <p:cNvSpPr/>
          <p:nvPr/>
        </p:nvSpPr>
        <p:spPr>
          <a:xfrm>
            <a:off x="278086" y="3701792"/>
            <a:ext cx="615117" cy="615117"/>
          </a:xfrm>
          <a:custGeom>
            <a:avLst/>
            <a:gdLst/>
            <a:ahLst/>
            <a:cxnLst/>
            <a:rect l="l" t="t" r="r" b="b"/>
            <a:pathLst>
              <a:path w="615117" h="615117">
                <a:moveTo>
                  <a:pt x="307559" y="0"/>
                </a:moveTo>
                <a:moveTo>
                  <a:pt x="307559" y="0"/>
                </a:moveTo>
                <a:cubicBezTo>
                  <a:pt x="477305" y="0"/>
                  <a:pt x="615117" y="137812"/>
                  <a:pt x="615117" y="307559"/>
                </a:cubicBezTo>
                <a:cubicBezTo>
                  <a:pt x="615117" y="477305"/>
                  <a:pt x="477305" y="615117"/>
                  <a:pt x="307559" y="615117"/>
                </a:cubicBezTo>
                <a:cubicBezTo>
                  <a:pt x="137812" y="615117"/>
                  <a:pt x="0" y="477305"/>
                  <a:pt x="0" y="307559"/>
                </a:cubicBezTo>
                <a:cubicBezTo>
                  <a:pt x="0" y="137812"/>
                  <a:pt x="137812" y="0"/>
                  <a:pt x="307559" y="0"/>
                </a:cubicBezTo>
                <a:close/>
              </a:path>
            </a:pathLst>
          </a:custGeom>
          <a:solidFill>
            <a:srgbClr val="0084FF"/>
          </a:solidFill>
        </p:spPr>
      </p:sp>
      <p:sp>
        <p:nvSpPr>
          <p:cNvPr id="13" name="Text 10"/>
          <p:cNvSpPr/>
          <p:nvPr/>
        </p:nvSpPr>
        <p:spPr>
          <a:xfrm>
            <a:off x="228600" y="3684738"/>
            <a:ext cx="714089" cy="649224"/>
          </a:xfrm>
          <a:prstGeom prst="rect">
            <a:avLst/>
          </a:prstGeom>
          <a:noFill/>
        </p:spPr>
        <p:txBody>
          <a:bodyPr wrap="square" lIns="95250" tIns="95250" rIns="95250" bIns="95250" rtlCol="0" anchor="t">
            <a:spAutoFit/>
          </a:bodyPr>
          <a:lstStyle/>
          <a:p>
            <a:pPr marL="0" indent="0" algn="ctr">
              <a:lnSpc>
                <a:spcPct val="113000"/>
              </a:lnSpc>
              <a:spcBef>
                <a:spcPts val="375"/>
              </a:spcBef>
              <a:buNone/>
            </a:pPr>
            <a:r>
              <a:rPr lang="en-US" sz="245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3</a:t>
            </a:r>
            <a:endParaRPr lang="en-US" sz="1440" dirty="0"/>
          </a:p>
        </p:txBody>
      </p:sp>
      <p:sp>
        <p:nvSpPr>
          <p:cNvPr id="14" name="Text 11"/>
          <p:cNvSpPr/>
          <p:nvPr/>
        </p:nvSpPr>
        <p:spPr>
          <a:xfrm>
            <a:off x="1015608" y="3593102"/>
            <a:ext cx="4744222" cy="402336"/>
          </a:xfrm>
          <a:prstGeom prst="rect">
            <a:avLst/>
          </a:prstGeom>
          <a:noFill/>
        </p:spPr>
        <p:txBody>
          <a:bodyPr wrap="square" lIns="95250" tIns="95250" rIns="95250" bIns="95250" rtlCol="0" anchor="t">
            <a:spAutoFit/>
          </a:bodyPr>
          <a:lstStyle/>
          <a:p>
            <a:pPr marL="0" indent="0">
              <a:lnSpc>
                <a:spcPct val="100000"/>
              </a:lnSpc>
              <a:spcBef>
                <a:spcPts val="375"/>
              </a:spcBef>
              <a:buNone/>
            </a:pPr>
            <a:r>
              <a:rPr lang="en-US" sz="1730" b="1" dirty="0">
                <a:solidFill>
                  <a:srgbClr val="272245"/>
                </a:solidFill>
                <a:latin typeface="微软雅黑" panose="020B0503020204020204" pitchFamily="34" charset="-122"/>
                <a:ea typeface="微软雅黑" panose="020B0503020204020204" pitchFamily="34" charset="-122"/>
                <a:cs typeface="微软雅黑" panose="020B0503020204020204" pitchFamily="34" charset="-120"/>
              </a:rPr>
              <a:t>优先级划分与界面原型设计</a:t>
            </a:r>
            <a:endParaRPr lang="en-US" sz="1440" dirty="0"/>
          </a:p>
        </p:txBody>
      </p:sp>
      <p:sp>
        <p:nvSpPr>
          <p:cNvPr id="15" name="Text 12"/>
          <p:cNvSpPr/>
          <p:nvPr/>
        </p:nvSpPr>
        <p:spPr>
          <a:xfrm>
            <a:off x="1015608" y="3922286"/>
            <a:ext cx="4743644" cy="603504"/>
          </a:xfrm>
          <a:prstGeom prst="rect">
            <a:avLst/>
          </a:prstGeom>
          <a:noFill/>
        </p:spPr>
        <p:txBody>
          <a:bodyPr wrap="square" lIns="95250" tIns="95250" rIns="95250" bIns="95250" rtlCol="0" anchor="t">
            <a:spAutoFit/>
          </a:bodyPr>
          <a:lstStyle/>
          <a:p>
            <a:pPr marL="0" indent="0">
              <a:lnSpc>
                <a:spcPct val="100000"/>
              </a:lnSpc>
              <a:spcBef>
                <a:spcPts val="375"/>
              </a:spcBef>
              <a:buNone/>
            </a:pPr>
            <a:r>
              <a:rPr lang="en-US" sz="1150" dirty="0">
                <a:solidFill>
                  <a:srgbClr val="272245"/>
                </a:solidFill>
                <a:latin typeface="微软雅黑" panose="020B0503020204020204" pitchFamily="34" charset="-122"/>
                <a:ea typeface="微软雅黑" panose="020B0503020204020204" pitchFamily="34" charset="-122"/>
                <a:cs typeface="微软雅黑" panose="020B0503020204020204" pitchFamily="34" charset="-120"/>
              </a:rPr>
              <a:t>根据业务需求和资源限制对用例进行优先级划分，并基于用例分析结果设计出系统的界面原型，以便进一步确认需求和改进设计。</a:t>
            </a:r>
            <a:endParaRPr lang="en-US" sz="144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246639" y="1071087"/>
            <a:ext cx="2055531" cy="1883664"/>
          </a:xfrm>
          <a:prstGeom prst="rect">
            <a:avLst/>
          </a:prstGeom>
          <a:noFill/>
        </p:spPr>
        <p:txBody>
          <a:bodyPr wrap="square" lIns="95250" tIns="95250" rIns="95250" bIns="95250" rtlCol="0" anchor="t"/>
          <a:lstStyle/>
          <a:p>
            <a:pPr marL="0" indent="0" algn="ctr">
              <a:lnSpc>
                <a:spcPct val="113000"/>
              </a:lnSpc>
              <a:spcBef>
                <a:spcPts val="375"/>
              </a:spcBef>
              <a:buNone/>
            </a:pPr>
            <a:r>
              <a:rPr lang="en-US" sz="8930" b="1" dirty="0">
                <a:solidFill>
                  <a:srgbClr val="2A5899"/>
                </a:solidFill>
                <a:latin typeface="微软雅黑" panose="020B0503020204020204" pitchFamily="34" charset="-122"/>
                <a:ea typeface="微软雅黑" panose="020B0503020204020204" pitchFamily="34" charset="-122"/>
                <a:cs typeface="微软雅黑" panose="020B0503020204020204" pitchFamily="34" charset="-120"/>
              </a:rPr>
              <a:t>04</a:t>
            </a:r>
            <a:endParaRPr lang="en-US" sz="1440" dirty="0"/>
          </a:p>
        </p:txBody>
      </p:sp>
      <p:sp>
        <p:nvSpPr>
          <p:cNvPr id="3" name="Text 1"/>
          <p:cNvSpPr/>
          <p:nvPr/>
        </p:nvSpPr>
        <p:spPr>
          <a:xfrm>
            <a:off x="497579" y="2595807"/>
            <a:ext cx="5218432" cy="813816"/>
          </a:xfrm>
          <a:prstGeom prst="rect">
            <a:avLst/>
          </a:prstGeom>
          <a:noFill/>
        </p:spPr>
        <p:txBody>
          <a:bodyPr wrap="square" lIns="95250" tIns="95250" rIns="95250" bIns="95250" rtlCol="0" anchor="t"/>
          <a:lstStyle/>
          <a:p>
            <a:pPr marL="0" indent="0">
              <a:lnSpc>
                <a:spcPct val="113000"/>
              </a:lnSpc>
              <a:spcBef>
                <a:spcPts val="375"/>
              </a:spcBef>
              <a:buNone/>
            </a:pPr>
            <a:r>
              <a:rPr lang="en-US" sz="3310" b="1" dirty="0">
                <a:solidFill>
                  <a:srgbClr val="272245"/>
                </a:solidFill>
                <a:latin typeface="微软雅黑" panose="020B0503020204020204" pitchFamily="34" charset="-122"/>
                <a:ea typeface="微软雅黑" panose="020B0503020204020204" pitchFamily="34" charset="-122"/>
                <a:cs typeface="微软雅黑" panose="020B0503020204020204" pitchFamily="34" charset="-120"/>
              </a:rPr>
              <a:t>个性化推荐优势</a:t>
            </a:r>
            <a:endParaRPr lang="en-US" sz="1440" dirty="0"/>
          </a:p>
        </p:txBody>
      </p:sp>
      <p:pic>
        <p:nvPicPr>
          <p:cNvPr id="4" name="Image 0" descr="https://sgw-dx.xf-yun.com/api/v1/sparkdesk/_19052329831_fVPc9i1733712667757-005544323224029091.png?authorization=c2ltcGxlLWp3dCBhaz1zcGFya2Rlc2s4MDAwMDAwMDAwMDE7ZXhwPTMzMTA1MTI2Nzk7YWxnbz1obWFjLXNoYTI1NjtzaWc9a2pCNm01T2o4VEJER0o1Q3FOV2VJYUpvODByWkFQclRoZVRqRnpXRnY1Yz0=&amp;x_location=7YfmxI7B7uKO7jlRxIftd60Ye5D="/>
          <p:cNvPicPr>
            <a:picLocks noChangeAspect="1"/>
          </p:cNvPicPr>
          <p:nvPr/>
        </p:nvPicPr>
        <p:blipFill>
          <a:blip r:embed="rId4"/>
          <a:stretch>
            <a:fillRect/>
          </a:stretch>
        </p:blipFill>
        <p:spPr>
          <a:xfrm>
            <a:off x="590374" y="2550087"/>
            <a:ext cx="2848105" cy="18288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283641" y="190697"/>
            <a:ext cx="8088253" cy="566928"/>
          </a:xfrm>
          <a:prstGeom prst="rect">
            <a:avLst/>
          </a:prstGeom>
          <a:noFill/>
        </p:spPr>
        <p:txBody>
          <a:bodyPr wrap="square" lIns="95250" tIns="95250" rIns="95250" bIns="95250" rtlCol="0" anchor="t"/>
          <a:lstStyle/>
          <a:p>
            <a:pPr marL="0" indent="0">
              <a:lnSpc>
                <a:spcPct val="113000"/>
              </a:lnSpc>
              <a:spcBef>
                <a:spcPts val="375"/>
              </a:spcBef>
              <a:buNone/>
            </a:pPr>
            <a:r>
              <a:rPr lang="en-US" sz="2015"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提升用户体验</a:t>
            </a:r>
            <a:endParaRPr lang="en-US" sz="1440" dirty="0"/>
          </a:p>
        </p:txBody>
      </p:sp>
      <p:sp>
        <p:nvSpPr>
          <p:cNvPr id="3" name="Shape 1"/>
          <p:cNvSpPr/>
          <p:nvPr/>
        </p:nvSpPr>
        <p:spPr>
          <a:xfrm>
            <a:off x="1392459" y="1092984"/>
            <a:ext cx="849980" cy="849980"/>
          </a:xfrm>
          <a:custGeom>
            <a:avLst/>
            <a:gdLst/>
            <a:ahLst/>
            <a:cxnLst/>
            <a:rect l="l" t="t" r="r" b="b"/>
            <a:pathLst>
              <a:path w="849980" h="849980">
                <a:moveTo>
                  <a:pt x="424990" y="0"/>
                </a:moveTo>
                <a:moveTo>
                  <a:pt x="424990" y="0"/>
                </a:moveTo>
                <a:cubicBezTo>
                  <a:pt x="659549" y="0"/>
                  <a:pt x="849980" y="190432"/>
                  <a:pt x="849980" y="424990"/>
                </a:cubicBezTo>
                <a:cubicBezTo>
                  <a:pt x="849980" y="659549"/>
                  <a:pt x="659549" y="849980"/>
                  <a:pt x="424990" y="849980"/>
                </a:cubicBezTo>
                <a:cubicBezTo>
                  <a:pt x="190432" y="849980"/>
                  <a:pt x="0" y="659549"/>
                  <a:pt x="0" y="424990"/>
                </a:cubicBezTo>
                <a:cubicBezTo>
                  <a:pt x="0" y="190432"/>
                  <a:pt x="190432" y="0"/>
                  <a:pt x="424990" y="0"/>
                </a:cubicBezTo>
                <a:close/>
              </a:path>
            </a:pathLst>
          </a:custGeom>
          <a:solidFill>
            <a:srgbClr val="A0A9B5"/>
          </a:solidFill>
        </p:spPr>
      </p:sp>
      <p:sp>
        <p:nvSpPr>
          <p:cNvPr id="4" name="Shape 2"/>
          <p:cNvSpPr/>
          <p:nvPr/>
        </p:nvSpPr>
        <p:spPr>
          <a:xfrm>
            <a:off x="2928393" y="1663751"/>
            <a:ext cx="759066" cy="227001"/>
          </a:xfrm>
          <a:custGeom>
            <a:avLst/>
            <a:gdLst/>
            <a:ahLst/>
            <a:cxnLst/>
            <a:rect l="l" t="t" r="r" b="b"/>
            <a:pathLst>
              <a:path w="759066" h="227001">
                <a:moveTo>
                  <a:pt x="759066" y="0"/>
                </a:moveTo>
                <a:moveTo>
                  <a:pt x="759066" y="0"/>
                </a:moveTo>
                <a:lnTo>
                  <a:pt x="0" y="227001"/>
                </a:lnTo>
              </a:path>
            </a:pathLst>
          </a:custGeom>
          <a:noFill/>
          <a:ln w="19050">
            <a:solidFill>
              <a:srgbClr val="A0A9B5"/>
            </a:solidFill>
            <a:prstDash val="solid"/>
            <a:headEnd type="none"/>
            <a:tailEnd type="arrow"/>
          </a:ln>
        </p:spPr>
      </p:sp>
      <p:sp>
        <p:nvSpPr>
          <p:cNvPr id="5" name="Shape 3"/>
          <p:cNvSpPr/>
          <p:nvPr/>
        </p:nvSpPr>
        <p:spPr>
          <a:xfrm>
            <a:off x="3761151" y="963950"/>
            <a:ext cx="1670700" cy="1543386"/>
          </a:xfrm>
          <a:custGeom>
            <a:avLst/>
            <a:gdLst/>
            <a:ahLst/>
            <a:cxnLst/>
            <a:rect l="l" t="t" r="r" b="b"/>
            <a:pathLst>
              <a:path w="1670700" h="1543386">
                <a:moveTo>
                  <a:pt x="1623933" y="366858"/>
                </a:moveTo>
                <a:moveTo>
                  <a:pt x="1623933" y="366858"/>
                </a:moveTo>
                <a:cubicBezTo>
                  <a:pt x="1598223" y="311734"/>
                  <a:pt x="1561384" y="262459"/>
                  <a:pt x="1514760" y="220096"/>
                </a:cubicBezTo>
                <a:cubicBezTo>
                  <a:pt x="1468135" y="177911"/>
                  <a:pt x="1414028" y="144943"/>
                  <a:pt x="1353589" y="121724"/>
                </a:cubicBezTo>
                <a:cubicBezTo>
                  <a:pt x="1291232" y="97795"/>
                  <a:pt x="1225229" y="85742"/>
                  <a:pt x="1157115" y="85742"/>
                </a:cubicBezTo>
                <a:cubicBezTo>
                  <a:pt x="1062523" y="85742"/>
                  <a:pt x="970234" y="109671"/>
                  <a:pt x="890033" y="154869"/>
                </a:cubicBezTo>
                <a:cubicBezTo>
                  <a:pt x="870846" y="165681"/>
                  <a:pt x="852618" y="177557"/>
                  <a:pt x="835350" y="190496"/>
                </a:cubicBezTo>
                <a:cubicBezTo>
                  <a:pt x="818082" y="177557"/>
                  <a:pt x="799854" y="165681"/>
                  <a:pt x="780667" y="154869"/>
                </a:cubicBezTo>
                <a:cubicBezTo>
                  <a:pt x="700466" y="109671"/>
                  <a:pt x="608177" y="85742"/>
                  <a:pt x="513585" y="85742"/>
                </a:cubicBezTo>
                <a:cubicBezTo>
                  <a:pt x="445471" y="85742"/>
                  <a:pt x="379468" y="97795"/>
                  <a:pt x="317111" y="121724"/>
                </a:cubicBezTo>
                <a:cubicBezTo>
                  <a:pt x="256864" y="144766"/>
                  <a:pt x="202565" y="177911"/>
                  <a:pt x="155940" y="220096"/>
                </a:cubicBezTo>
                <a:cubicBezTo>
                  <a:pt x="109124" y="262459"/>
                  <a:pt x="72477" y="311734"/>
                  <a:pt x="46767" y="366858"/>
                </a:cubicBezTo>
                <a:cubicBezTo>
                  <a:pt x="20097" y="424109"/>
                  <a:pt x="6474" y="484905"/>
                  <a:pt x="6474" y="547474"/>
                </a:cubicBezTo>
                <a:cubicBezTo>
                  <a:pt x="6474" y="606497"/>
                  <a:pt x="19521" y="668003"/>
                  <a:pt x="45423" y="730571"/>
                </a:cubicBezTo>
                <a:cubicBezTo>
                  <a:pt x="67105" y="782859"/>
                  <a:pt x="98188" y="837097"/>
                  <a:pt x="137905" y="891867"/>
                </a:cubicBezTo>
                <a:cubicBezTo>
                  <a:pt x="200838" y="978541"/>
                  <a:pt x="287371" y="1068938"/>
                  <a:pt x="394818" y="1160575"/>
                </a:cubicBezTo>
                <a:cubicBezTo>
                  <a:pt x="572873" y="1312477"/>
                  <a:pt x="749201" y="1417408"/>
                  <a:pt x="756683" y="1421662"/>
                </a:cubicBezTo>
                <a:lnTo>
                  <a:pt x="802157" y="1448604"/>
                </a:lnTo>
                <a:cubicBezTo>
                  <a:pt x="822303" y="1460479"/>
                  <a:pt x="848205" y="1460479"/>
                  <a:pt x="868351" y="1448604"/>
                </a:cubicBezTo>
                <a:lnTo>
                  <a:pt x="913825" y="1421662"/>
                </a:lnTo>
                <a:cubicBezTo>
                  <a:pt x="921307" y="1417231"/>
                  <a:pt x="1097444" y="1312477"/>
                  <a:pt x="1275690" y="1160575"/>
                </a:cubicBezTo>
                <a:cubicBezTo>
                  <a:pt x="1383137" y="1068938"/>
                  <a:pt x="1469670" y="978541"/>
                  <a:pt x="1532603" y="891867"/>
                </a:cubicBezTo>
                <a:cubicBezTo>
                  <a:pt x="1572320" y="837097"/>
                  <a:pt x="1603595" y="782859"/>
                  <a:pt x="1625085" y="730571"/>
                </a:cubicBezTo>
                <a:cubicBezTo>
                  <a:pt x="1650987" y="668003"/>
                  <a:pt x="1664034" y="606497"/>
                  <a:pt x="1664034" y="547474"/>
                </a:cubicBezTo>
                <a:cubicBezTo>
                  <a:pt x="1664226" y="484905"/>
                  <a:pt x="1650603" y="424109"/>
                  <a:pt x="1623933" y="366858"/>
                </a:cubicBezTo>
                <a:close/>
              </a:path>
            </a:pathLst>
          </a:custGeom>
          <a:solidFill>
            <a:srgbClr val="0084FF"/>
          </a:solidFill>
        </p:spPr>
      </p:sp>
      <p:sp>
        <p:nvSpPr>
          <p:cNvPr id="6" name="Shape 4"/>
          <p:cNvSpPr/>
          <p:nvPr/>
        </p:nvSpPr>
        <p:spPr>
          <a:xfrm>
            <a:off x="6950563" y="1092984"/>
            <a:ext cx="849980" cy="849980"/>
          </a:xfrm>
          <a:custGeom>
            <a:avLst/>
            <a:gdLst/>
            <a:ahLst/>
            <a:cxnLst/>
            <a:rect l="l" t="t" r="r" b="b"/>
            <a:pathLst>
              <a:path w="849980" h="849980">
                <a:moveTo>
                  <a:pt x="424990" y="0"/>
                </a:moveTo>
                <a:moveTo>
                  <a:pt x="424990" y="0"/>
                </a:moveTo>
                <a:cubicBezTo>
                  <a:pt x="659549" y="0"/>
                  <a:pt x="849980" y="190432"/>
                  <a:pt x="849980" y="424990"/>
                </a:cubicBezTo>
                <a:cubicBezTo>
                  <a:pt x="849980" y="659549"/>
                  <a:pt x="659549" y="849980"/>
                  <a:pt x="424990" y="849980"/>
                </a:cubicBezTo>
                <a:cubicBezTo>
                  <a:pt x="190432" y="849980"/>
                  <a:pt x="0" y="659549"/>
                  <a:pt x="0" y="424990"/>
                </a:cubicBezTo>
                <a:cubicBezTo>
                  <a:pt x="0" y="190432"/>
                  <a:pt x="190432" y="0"/>
                  <a:pt x="424990" y="0"/>
                </a:cubicBezTo>
                <a:close/>
              </a:path>
            </a:pathLst>
          </a:custGeom>
          <a:solidFill>
            <a:srgbClr val="929CAA"/>
          </a:solidFill>
        </p:spPr>
      </p:sp>
      <p:sp>
        <p:nvSpPr>
          <p:cNvPr id="7" name="Shape 5"/>
          <p:cNvSpPr/>
          <p:nvPr/>
        </p:nvSpPr>
        <p:spPr>
          <a:xfrm>
            <a:off x="5526362" y="1674935"/>
            <a:ext cx="678595" cy="230448"/>
          </a:xfrm>
          <a:custGeom>
            <a:avLst/>
            <a:gdLst/>
            <a:ahLst/>
            <a:cxnLst/>
            <a:rect l="l" t="t" r="r" b="b"/>
            <a:pathLst>
              <a:path w="678595" h="230448">
                <a:moveTo>
                  <a:pt x="0" y="0"/>
                </a:moveTo>
                <a:moveTo>
                  <a:pt x="0" y="0"/>
                </a:moveTo>
                <a:lnTo>
                  <a:pt x="678595" y="230448"/>
                </a:lnTo>
              </a:path>
            </a:pathLst>
          </a:custGeom>
          <a:noFill/>
          <a:ln w="19050">
            <a:solidFill>
              <a:srgbClr val="A0A9B5"/>
            </a:solidFill>
            <a:prstDash val="solid"/>
            <a:headEnd type="none"/>
            <a:tailEnd type="arrow"/>
          </a:ln>
        </p:spPr>
      </p:sp>
      <p:sp>
        <p:nvSpPr>
          <p:cNvPr id="8" name="Shape 6"/>
          <p:cNvSpPr/>
          <p:nvPr/>
        </p:nvSpPr>
        <p:spPr>
          <a:xfrm>
            <a:off x="7192673" y="1335095"/>
            <a:ext cx="365760" cy="365760"/>
          </a:xfrm>
          <a:custGeom>
            <a:avLst/>
            <a:gdLst/>
            <a:ahLst/>
            <a:cxnLst/>
            <a:rect l="l" t="t" r="r" b="b"/>
            <a:pathLst>
              <a:path w="365760" h="365760">
                <a:moveTo>
                  <a:pt x="356433" y="180084"/>
                </a:moveTo>
                <a:moveTo>
                  <a:pt x="356433" y="180084"/>
                </a:moveTo>
                <a:lnTo>
                  <a:pt x="191907" y="15678"/>
                </a:lnTo>
                <a:cubicBezTo>
                  <a:pt x="186914" y="10685"/>
                  <a:pt x="178846" y="10685"/>
                  <a:pt x="173853" y="15678"/>
                </a:cubicBezTo>
                <a:lnTo>
                  <a:pt x="9327" y="180084"/>
                </a:lnTo>
                <a:cubicBezTo>
                  <a:pt x="4533" y="184877"/>
                  <a:pt x="1817" y="191388"/>
                  <a:pt x="1817" y="198178"/>
                </a:cubicBezTo>
                <a:cubicBezTo>
                  <a:pt x="1817" y="212278"/>
                  <a:pt x="13281" y="223742"/>
                  <a:pt x="27381" y="223742"/>
                </a:cubicBezTo>
                <a:lnTo>
                  <a:pt x="44716" y="223742"/>
                </a:lnTo>
                <a:lnTo>
                  <a:pt x="44716" y="341055"/>
                </a:lnTo>
                <a:cubicBezTo>
                  <a:pt x="44716" y="348125"/>
                  <a:pt x="50428" y="353837"/>
                  <a:pt x="57498" y="353837"/>
                </a:cubicBezTo>
                <a:lnTo>
                  <a:pt x="157316" y="353837"/>
                </a:lnTo>
                <a:lnTo>
                  <a:pt x="157316" y="264364"/>
                </a:lnTo>
                <a:lnTo>
                  <a:pt x="202053" y="264364"/>
                </a:lnTo>
                <a:lnTo>
                  <a:pt x="202053" y="353837"/>
                </a:lnTo>
                <a:lnTo>
                  <a:pt x="308262" y="353837"/>
                </a:lnTo>
                <a:cubicBezTo>
                  <a:pt x="315332" y="353837"/>
                  <a:pt x="321044" y="348125"/>
                  <a:pt x="321044" y="341055"/>
                </a:cubicBezTo>
                <a:lnTo>
                  <a:pt x="321044" y="223742"/>
                </a:lnTo>
                <a:lnTo>
                  <a:pt x="338379" y="223742"/>
                </a:lnTo>
                <a:cubicBezTo>
                  <a:pt x="345169" y="223742"/>
                  <a:pt x="351680" y="221066"/>
                  <a:pt x="356473" y="216233"/>
                </a:cubicBezTo>
                <a:cubicBezTo>
                  <a:pt x="366419" y="206247"/>
                  <a:pt x="366419" y="190070"/>
                  <a:pt x="356433" y="180084"/>
                </a:cubicBezTo>
                <a:close/>
              </a:path>
            </a:pathLst>
          </a:custGeom>
          <a:solidFill>
            <a:srgbClr val="FFFFFF"/>
          </a:solidFill>
        </p:spPr>
      </p:sp>
      <p:sp>
        <p:nvSpPr>
          <p:cNvPr id="9" name="Shape 7"/>
          <p:cNvSpPr/>
          <p:nvPr/>
        </p:nvSpPr>
        <p:spPr>
          <a:xfrm>
            <a:off x="1634569" y="1335095"/>
            <a:ext cx="365760" cy="365760"/>
          </a:xfrm>
          <a:custGeom>
            <a:avLst/>
            <a:gdLst/>
            <a:ahLst/>
            <a:cxnLst/>
            <a:rect l="l" t="t" r="r" b="b"/>
            <a:pathLst>
              <a:path w="365760" h="365760">
                <a:moveTo>
                  <a:pt x="356433" y="180084"/>
                </a:moveTo>
                <a:moveTo>
                  <a:pt x="356433" y="180084"/>
                </a:moveTo>
                <a:lnTo>
                  <a:pt x="191907" y="15678"/>
                </a:lnTo>
                <a:cubicBezTo>
                  <a:pt x="186914" y="10685"/>
                  <a:pt x="178846" y="10685"/>
                  <a:pt x="173853" y="15678"/>
                </a:cubicBezTo>
                <a:lnTo>
                  <a:pt x="9327" y="180084"/>
                </a:lnTo>
                <a:cubicBezTo>
                  <a:pt x="4533" y="184877"/>
                  <a:pt x="1817" y="191388"/>
                  <a:pt x="1817" y="198178"/>
                </a:cubicBezTo>
                <a:cubicBezTo>
                  <a:pt x="1817" y="212278"/>
                  <a:pt x="13281" y="223742"/>
                  <a:pt x="27381" y="223742"/>
                </a:cubicBezTo>
                <a:lnTo>
                  <a:pt x="44716" y="223742"/>
                </a:lnTo>
                <a:lnTo>
                  <a:pt x="44716" y="341055"/>
                </a:lnTo>
                <a:cubicBezTo>
                  <a:pt x="44716" y="348125"/>
                  <a:pt x="50428" y="353837"/>
                  <a:pt x="57498" y="353837"/>
                </a:cubicBezTo>
                <a:lnTo>
                  <a:pt x="157316" y="353837"/>
                </a:lnTo>
                <a:lnTo>
                  <a:pt x="157316" y="264364"/>
                </a:lnTo>
                <a:lnTo>
                  <a:pt x="202053" y="264364"/>
                </a:lnTo>
                <a:lnTo>
                  <a:pt x="202053" y="353837"/>
                </a:lnTo>
                <a:lnTo>
                  <a:pt x="308262" y="353837"/>
                </a:lnTo>
                <a:cubicBezTo>
                  <a:pt x="315332" y="353837"/>
                  <a:pt x="321044" y="348125"/>
                  <a:pt x="321044" y="341055"/>
                </a:cubicBezTo>
                <a:lnTo>
                  <a:pt x="321044" y="223742"/>
                </a:lnTo>
                <a:lnTo>
                  <a:pt x="338379" y="223742"/>
                </a:lnTo>
                <a:cubicBezTo>
                  <a:pt x="345169" y="223742"/>
                  <a:pt x="351680" y="221066"/>
                  <a:pt x="356473" y="216233"/>
                </a:cubicBezTo>
                <a:cubicBezTo>
                  <a:pt x="366419" y="206247"/>
                  <a:pt x="366419" y="190070"/>
                  <a:pt x="356433" y="180084"/>
                </a:cubicBezTo>
                <a:close/>
              </a:path>
            </a:pathLst>
          </a:custGeom>
          <a:solidFill>
            <a:srgbClr val="FFFFFF"/>
          </a:solidFill>
        </p:spPr>
      </p:sp>
      <p:sp>
        <p:nvSpPr>
          <p:cNvPr id="10" name="Shape 8"/>
          <p:cNvSpPr/>
          <p:nvPr/>
        </p:nvSpPr>
        <p:spPr>
          <a:xfrm>
            <a:off x="4171511" y="2926107"/>
            <a:ext cx="849980" cy="849980"/>
          </a:xfrm>
          <a:custGeom>
            <a:avLst/>
            <a:gdLst/>
            <a:ahLst/>
            <a:cxnLst/>
            <a:rect l="l" t="t" r="r" b="b"/>
            <a:pathLst>
              <a:path w="849980" h="849980">
                <a:moveTo>
                  <a:pt x="424990" y="0"/>
                </a:moveTo>
                <a:moveTo>
                  <a:pt x="424990" y="0"/>
                </a:moveTo>
                <a:cubicBezTo>
                  <a:pt x="659549" y="0"/>
                  <a:pt x="849980" y="190432"/>
                  <a:pt x="849980" y="424990"/>
                </a:cubicBezTo>
                <a:cubicBezTo>
                  <a:pt x="849980" y="659549"/>
                  <a:pt x="659549" y="849980"/>
                  <a:pt x="424990" y="849980"/>
                </a:cubicBezTo>
                <a:cubicBezTo>
                  <a:pt x="190432" y="849980"/>
                  <a:pt x="0" y="659549"/>
                  <a:pt x="0" y="424990"/>
                </a:cubicBezTo>
                <a:cubicBezTo>
                  <a:pt x="0" y="190432"/>
                  <a:pt x="190432" y="0"/>
                  <a:pt x="424990" y="0"/>
                </a:cubicBezTo>
                <a:close/>
              </a:path>
            </a:pathLst>
          </a:custGeom>
          <a:solidFill>
            <a:srgbClr val="929CAA"/>
          </a:solidFill>
        </p:spPr>
      </p:sp>
      <p:sp>
        <p:nvSpPr>
          <p:cNvPr id="11" name="Shape 9"/>
          <p:cNvSpPr/>
          <p:nvPr/>
        </p:nvSpPr>
        <p:spPr>
          <a:xfrm>
            <a:off x="4413621" y="3168218"/>
            <a:ext cx="365760" cy="365760"/>
          </a:xfrm>
          <a:custGeom>
            <a:avLst/>
            <a:gdLst/>
            <a:ahLst/>
            <a:cxnLst/>
            <a:rect l="l" t="t" r="r" b="b"/>
            <a:pathLst>
              <a:path w="365760" h="365760">
                <a:moveTo>
                  <a:pt x="356433" y="180084"/>
                </a:moveTo>
                <a:moveTo>
                  <a:pt x="356433" y="180084"/>
                </a:moveTo>
                <a:lnTo>
                  <a:pt x="191907" y="15678"/>
                </a:lnTo>
                <a:cubicBezTo>
                  <a:pt x="186914" y="10685"/>
                  <a:pt x="178846" y="10685"/>
                  <a:pt x="173853" y="15678"/>
                </a:cubicBezTo>
                <a:lnTo>
                  <a:pt x="9327" y="180084"/>
                </a:lnTo>
                <a:cubicBezTo>
                  <a:pt x="4533" y="184877"/>
                  <a:pt x="1817" y="191388"/>
                  <a:pt x="1817" y="198178"/>
                </a:cubicBezTo>
                <a:cubicBezTo>
                  <a:pt x="1817" y="212278"/>
                  <a:pt x="13281" y="223742"/>
                  <a:pt x="27381" y="223742"/>
                </a:cubicBezTo>
                <a:lnTo>
                  <a:pt x="44716" y="223742"/>
                </a:lnTo>
                <a:lnTo>
                  <a:pt x="44716" y="341055"/>
                </a:lnTo>
                <a:cubicBezTo>
                  <a:pt x="44716" y="348125"/>
                  <a:pt x="50428" y="353837"/>
                  <a:pt x="57498" y="353837"/>
                </a:cubicBezTo>
                <a:lnTo>
                  <a:pt x="157316" y="353837"/>
                </a:lnTo>
                <a:lnTo>
                  <a:pt x="157316" y="264364"/>
                </a:lnTo>
                <a:lnTo>
                  <a:pt x="202053" y="264364"/>
                </a:lnTo>
                <a:lnTo>
                  <a:pt x="202053" y="353837"/>
                </a:lnTo>
                <a:lnTo>
                  <a:pt x="308262" y="353837"/>
                </a:lnTo>
                <a:cubicBezTo>
                  <a:pt x="315332" y="353837"/>
                  <a:pt x="321044" y="348125"/>
                  <a:pt x="321044" y="341055"/>
                </a:cubicBezTo>
                <a:lnTo>
                  <a:pt x="321044" y="223742"/>
                </a:lnTo>
                <a:lnTo>
                  <a:pt x="338379" y="223742"/>
                </a:lnTo>
                <a:cubicBezTo>
                  <a:pt x="345169" y="223742"/>
                  <a:pt x="351680" y="221066"/>
                  <a:pt x="356473" y="216233"/>
                </a:cubicBezTo>
                <a:cubicBezTo>
                  <a:pt x="366419" y="206247"/>
                  <a:pt x="366419" y="190070"/>
                  <a:pt x="356433" y="180084"/>
                </a:cubicBezTo>
                <a:close/>
              </a:path>
            </a:pathLst>
          </a:custGeom>
          <a:solidFill>
            <a:srgbClr val="FFFFFF"/>
          </a:solidFill>
        </p:spPr>
      </p:sp>
      <p:sp>
        <p:nvSpPr>
          <p:cNvPr id="12" name="Shape 10"/>
          <p:cNvSpPr/>
          <p:nvPr/>
        </p:nvSpPr>
        <p:spPr>
          <a:xfrm>
            <a:off x="4596501" y="2471263"/>
            <a:ext cx="0" cy="311213"/>
          </a:xfrm>
          <a:custGeom>
            <a:avLst/>
            <a:gdLst/>
            <a:ahLst/>
            <a:cxnLst/>
            <a:rect l="l" t="t" r="r" b="b"/>
            <a:pathLst>
              <a:path h="311213">
                <a:moveTo>
                  <a:pt x="0" y="0"/>
                </a:moveTo>
                <a:moveTo>
                  <a:pt x="0" y="0"/>
                </a:moveTo>
                <a:lnTo>
                  <a:pt x="0" y="311213"/>
                </a:lnTo>
              </a:path>
            </a:pathLst>
          </a:custGeom>
          <a:noFill/>
          <a:ln w="19050">
            <a:solidFill>
              <a:srgbClr val="A0A9B5"/>
            </a:solidFill>
            <a:prstDash val="solid"/>
            <a:headEnd type="none"/>
            <a:tailEnd type="arrow"/>
          </a:ln>
        </p:spPr>
      </p:sp>
      <p:sp>
        <p:nvSpPr>
          <p:cNvPr id="13" name="Text 11"/>
          <p:cNvSpPr/>
          <p:nvPr/>
        </p:nvSpPr>
        <p:spPr>
          <a:xfrm>
            <a:off x="358524" y="2039139"/>
            <a:ext cx="2917850" cy="374904"/>
          </a:xfrm>
          <a:prstGeom prst="rect">
            <a:avLst/>
          </a:prstGeom>
          <a:noFill/>
        </p:spPr>
        <p:txBody>
          <a:bodyPr wrap="square" lIns="95250" tIns="95250" rIns="95250" bIns="95250" rtlCol="0" anchor="ctr"/>
          <a:lstStyle/>
          <a:p>
            <a:pPr marL="0" indent="0" algn="ctr">
              <a:lnSpc>
                <a:spcPct val="100000"/>
              </a:lnSpc>
              <a:spcBef>
                <a:spcPts val="375"/>
              </a:spcBef>
              <a:buNone/>
            </a:pPr>
            <a:r>
              <a:rPr lang="en-US" sz="1585" b="1" dirty="0">
                <a:solidFill>
                  <a:srgbClr val="272245"/>
                </a:solidFill>
                <a:latin typeface="Noto Sans" pitchFamily="34" charset="0"/>
                <a:ea typeface="Noto Sans" pitchFamily="34" charset="-122"/>
                <a:cs typeface="Noto Sans" pitchFamily="34" charset="-120"/>
              </a:rPr>
              <a:t>个性化推荐系统</a:t>
            </a:r>
            <a:endParaRPr lang="en-US" sz="1440" dirty="0"/>
          </a:p>
        </p:txBody>
      </p:sp>
      <p:sp>
        <p:nvSpPr>
          <p:cNvPr id="14" name="Text 12"/>
          <p:cNvSpPr/>
          <p:nvPr/>
        </p:nvSpPr>
        <p:spPr>
          <a:xfrm>
            <a:off x="367860" y="2441475"/>
            <a:ext cx="2917466" cy="813816"/>
          </a:xfrm>
          <a:prstGeom prst="rect">
            <a:avLst/>
          </a:prstGeom>
          <a:noFill/>
        </p:spPr>
        <p:txBody>
          <a:bodyPr wrap="square" lIns="95250" tIns="95250" rIns="95250" bIns="95250" rtlCol="0" anchor="t">
            <a:spAutoFit/>
          </a:bodyPr>
          <a:lstStyle/>
          <a:p>
            <a:pPr marL="0" indent="0" algn="ctr">
              <a:lnSpc>
                <a:spcPct val="100000"/>
              </a:lnSpc>
              <a:spcBef>
                <a:spcPts val="375"/>
              </a:spcBef>
              <a:buNone/>
            </a:pPr>
            <a:r>
              <a:rPr lang="en-US" sz="1150" dirty="0">
                <a:solidFill>
                  <a:srgbClr val="272245"/>
                </a:solidFill>
                <a:latin typeface="Noto Sans" pitchFamily="34" charset="0"/>
                <a:ea typeface="Noto Sans" pitchFamily="34" charset="-122"/>
                <a:cs typeface="Noto Sans" pitchFamily="34" charset="-120"/>
              </a:rPr>
              <a:t>利用智能算法分析用户行为，精准推送设计方案和商品，有效减少信息筛选时间，提升用户寻找心仪产品的效率。</a:t>
            </a:r>
            <a:endParaRPr lang="en-US" sz="1440" dirty="0"/>
          </a:p>
        </p:txBody>
      </p:sp>
      <p:sp>
        <p:nvSpPr>
          <p:cNvPr id="15" name="Text 13"/>
          <p:cNvSpPr/>
          <p:nvPr/>
        </p:nvSpPr>
        <p:spPr>
          <a:xfrm>
            <a:off x="1494566" y="3876672"/>
            <a:ext cx="6203869" cy="420624"/>
          </a:xfrm>
          <a:prstGeom prst="rect">
            <a:avLst/>
          </a:prstGeom>
          <a:noFill/>
        </p:spPr>
        <p:txBody>
          <a:bodyPr wrap="square" lIns="95250" tIns="95250" rIns="95250" bIns="95250" rtlCol="0" anchor="t">
            <a:spAutoFit/>
          </a:bodyPr>
          <a:lstStyle/>
          <a:p>
            <a:pPr marL="0" indent="0" algn="ctr">
              <a:lnSpc>
                <a:spcPct val="100000"/>
              </a:lnSpc>
              <a:spcBef>
                <a:spcPts val="375"/>
              </a:spcBef>
              <a:buNone/>
            </a:pPr>
            <a:r>
              <a:rPr lang="en-US" sz="1585" b="1" dirty="0">
                <a:solidFill>
                  <a:srgbClr val="272245"/>
                </a:solidFill>
                <a:latin typeface="Noto Sans" pitchFamily="34" charset="0"/>
                <a:ea typeface="Noto Sans" pitchFamily="34" charset="-122"/>
                <a:cs typeface="Noto Sans" pitchFamily="34" charset="-120"/>
              </a:rPr>
              <a:t>一站式服务平台</a:t>
            </a:r>
            <a:endParaRPr lang="en-US" sz="1440" dirty="0"/>
          </a:p>
        </p:txBody>
      </p:sp>
      <p:sp>
        <p:nvSpPr>
          <p:cNvPr id="16" name="Text 14"/>
          <p:cNvSpPr/>
          <p:nvPr/>
        </p:nvSpPr>
        <p:spPr>
          <a:xfrm>
            <a:off x="1494566" y="4189078"/>
            <a:ext cx="6203869" cy="603504"/>
          </a:xfrm>
          <a:prstGeom prst="rect">
            <a:avLst/>
          </a:prstGeom>
          <a:noFill/>
        </p:spPr>
        <p:txBody>
          <a:bodyPr wrap="square" lIns="95250" tIns="95250" rIns="95250" bIns="95250" rtlCol="0" anchor="t">
            <a:spAutoFit/>
          </a:bodyPr>
          <a:lstStyle/>
          <a:p>
            <a:pPr marL="0" indent="0" algn="ctr">
              <a:lnSpc>
                <a:spcPct val="100000"/>
              </a:lnSpc>
              <a:spcBef>
                <a:spcPts val="375"/>
              </a:spcBef>
              <a:buNone/>
            </a:pPr>
            <a:r>
              <a:rPr lang="en-US" sz="1150" dirty="0">
                <a:solidFill>
                  <a:srgbClr val="272245"/>
                </a:solidFill>
                <a:latin typeface="Noto Sans" pitchFamily="34" charset="0"/>
                <a:ea typeface="Noto Sans" pitchFamily="34" charset="-122"/>
                <a:cs typeface="Noto Sans" pitchFamily="34" charset="-120"/>
              </a:rPr>
              <a:t>集成家装、工装、设计专区等模块，提供全方位服务，使用户在一个平台上即可完成所有定制需求，极大提高便利性。</a:t>
            </a:r>
            <a:endParaRPr lang="en-US" sz="1440" dirty="0"/>
          </a:p>
        </p:txBody>
      </p:sp>
      <p:sp>
        <p:nvSpPr>
          <p:cNvPr id="17" name="Text 15"/>
          <p:cNvSpPr/>
          <p:nvPr/>
        </p:nvSpPr>
        <p:spPr>
          <a:xfrm>
            <a:off x="5916628" y="2039139"/>
            <a:ext cx="2917850" cy="374904"/>
          </a:xfrm>
          <a:prstGeom prst="rect">
            <a:avLst/>
          </a:prstGeom>
          <a:noFill/>
        </p:spPr>
        <p:txBody>
          <a:bodyPr wrap="square" lIns="95250" tIns="95250" rIns="95250" bIns="95250" rtlCol="0" anchor="ctr"/>
          <a:lstStyle/>
          <a:p>
            <a:pPr marL="0" indent="0" algn="ctr">
              <a:lnSpc>
                <a:spcPct val="100000"/>
              </a:lnSpc>
              <a:spcBef>
                <a:spcPts val="375"/>
              </a:spcBef>
              <a:buNone/>
            </a:pPr>
            <a:r>
              <a:rPr lang="en-US" sz="1585" b="1" dirty="0">
                <a:solidFill>
                  <a:srgbClr val="272245"/>
                </a:solidFill>
                <a:latin typeface="Noto Sans" pitchFamily="34" charset="0"/>
                <a:ea typeface="Noto Sans" pitchFamily="34" charset="-122"/>
                <a:cs typeface="Noto Sans" pitchFamily="34" charset="-120"/>
              </a:rPr>
              <a:t>互动性设计</a:t>
            </a:r>
            <a:endParaRPr lang="en-US" sz="1440" dirty="0"/>
          </a:p>
        </p:txBody>
      </p:sp>
      <p:sp>
        <p:nvSpPr>
          <p:cNvPr id="18" name="Text 16"/>
          <p:cNvSpPr/>
          <p:nvPr/>
        </p:nvSpPr>
        <p:spPr>
          <a:xfrm>
            <a:off x="5925676" y="2441475"/>
            <a:ext cx="2917850" cy="813816"/>
          </a:xfrm>
          <a:prstGeom prst="rect">
            <a:avLst/>
          </a:prstGeom>
          <a:noFill/>
        </p:spPr>
        <p:txBody>
          <a:bodyPr wrap="square" lIns="95250" tIns="95250" rIns="95250" bIns="95250" rtlCol="0" anchor="t">
            <a:spAutoFit/>
          </a:bodyPr>
          <a:lstStyle/>
          <a:p>
            <a:pPr marL="0" indent="0" algn="ctr">
              <a:lnSpc>
                <a:spcPct val="100000"/>
              </a:lnSpc>
              <a:spcBef>
                <a:spcPts val="375"/>
              </a:spcBef>
              <a:buNone/>
            </a:pPr>
            <a:r>
              <a:rPr lang="en-US" sz="1150" dirty="0">
                <a:solidFill>
                  <a:srgbClr val="272245"/>
                </a:solidFill>
                <a:latin typeface="Noto Sans" pitchFamily="34" charset="0"/>
                <a:ea typeface="Noto Sans" pitchFamily="34" charset="-122"/>
                <a:cs typeface="Noto Sans" pitchFamily="34" charset="-120"/>
              </a:rPr>
              <a:t>通过意见反馈和在线客服功能，增强用户与设计师、商家的沟通，帮助解决疑问并让服务提供者更好地理解市场需求。</a:t>
            </a:r>
            <a:endParaRPr lang="en-US" sz="144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283641" y="190697"/>
            <a:ext cx="8088253" cy="566928"/>
          </a:xfrm>
          <a:prstGeom prst="rect">
            <a:avLst/>
          </a:prstGeom>
          <a:noFill/>
        </p:spPr>
        <p:txBody>
          <a:bodyPr wrap="square" lIns="95250" tIns="95250" rIns="95250" bIns="95250" rtlCol="0" anchor="t"/>
          <a:lstStyle/>
          <a:p>
            <a:pPr marL="0" indent="0">
              <a:lnSpc>
                <a:spcPct val="113000"/>
              </a:lnSpc>
              <a:spcBef>
                <a:spcPts val="375"/>
              </a:spcBef>
              <a:buNone/>
            </a:pPr>
            <a:r>
              <a:rPr lang="en-US" sz="2015"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助力商家营销</a:t>
            </a:r>
            <a:endParaRPr lang="en-US" sz="1440" dirty="0"/>
          </a:p>
        </p:txBody>
      </p:sp>
      <p:pic>
        <p:nvPicPr>
          <p:cNvPr id="3" name="Image 0" descr="https://sgw-dx.xf-yun.com/api/v1/sparkdesk/_17441170456515116bee23cac4180a029e68fe2488b22.jpg?authorization=c2ltcGxlLWp3dCBhaz1zcGFya2Rlc2s4MDAwMDAwMDAwMDE7ZXhwPTMzMjA5MTcwNDU7YWxnbz1obWFjLXNoYTI1NjtzaWc9dFVXNis4bFUyOEdacjBvZmVLWjlDZnVzcFlWTituMTdzdjBUQThQYU9qYz0=&amp;x_location=7YfmxI7B7uKO7jlRxIftd6UoePD="/>
          <p:cNvPicPr>
            <a:picLocks noChangeAspect="1"/>
          </p:cNvPicPr>
          <p:nvPr/>
        </p:nvPicPr>
        <p:blipFill>
          <a:blip r:embed="rId4"/>
          <a:srcRect/>
          <a:stretch>
            <a:fillRect/>
          </a:stretch>
        </p:blipFill>
        <p:spPr>
          <a:xfrm>
            <a:off x="5884164" y="1227057"/>
            <a:ext cx="3031236" cy="3031236"/>
          </a:xfrm>
          <a:prstGeom prst="rect">
            <a:avLst/>
          </a:prstGeom>
        </p:spPr>
      </p:pic>
      <p:sp>
        <p:nvSpPr>
          <p:cNvPr id="4" name="Shape 1"/>
          <p:cNvSpPr/>
          <p:nvPr/>
        </p:nvSpPr>
        <p:spPr>
          <a:xfrm>
            <a:off x="278086" y="1104808"/>
            <a:ext cx="615117" cy="615117"/>
          </a:xfrm>
          <a:custGeom>
            <a:avLst/>
            <a:gdLst/>
            <a:ahLst/>
            <a:cxnLst/>
            <a:rect l="l" t="t" r="r" b="b"/>
            <a:pathLst>
              <a:path w="615117" h="615117">
                <a:moveTo>
                  <a:pt x="307559" y="0"/>
                </a:moveTo>
                <a:moveTo>
                  <a:pt x="307559" y="0"/>
                </a:moveTo>
                <a:cubicBezTo>
                  <a:pt x="477305" y="0"/>
                  <a:pt x="615117" y="137812"/>
                  <a:pt x="615117" y="307559"/>
                </a:cubicBezTo>
                <a:cubicBezTo>
                  <a:pt x="615117" y="477305"/>
                  <a:pt x="477305" y="615117"/>
                  <a:pt x="307559" y="615117"/>
                </a:cubicBezTo>
                <a:cubicBezTo>
                  <a:pt x="137812" y="615117"/>
                  <a:pt x="0" y="477305"/>
                  <a:pt x="0" y="307559"/>
                </a:cubicBezTo>
                <a:cubicBezTo>
                  <a:pt x="0" y="137812"/>
                  <a:pt x="137812" y="0"/>
                  <a:pt x="307559" y="0"/>
                </a:cubicBezTo>
                <a:close/>
              </a:path>
            </a:pathLst>
          </a:custGeom>
          <a:solidFill>
            <a:srgbClr val="0084FF"/>
          </a:solidFill>
        </p:spPr>
      </p:sp>
      <p:sp>
        <p:nvSpPr>
          <p:cNvPr id="5" name="Text 2"/>
          <p:cNvSpPr/>
          <p:nvPr/>
        </p:nvSpPr>
        <p:spPr>
          <a:xfrm>
            <a:off x="228600" y="1087755"/>
            <a:ext cx="714089" cy="649224"/>
          </a:xfrm>
          <a:prstGeom prst="rect">
            <a:avLst/>
          </a:prstGeom>
          <a:noFill/>
        </p:spPr>
        <p:txBody>
          <a:bodyPr wrap="square" lIns="95250" tIns="95250" rIns="95250" bIns="95250" rtlCol="0" anchor="t">
            <a:spAutoFit/>
          </a:bodyPr>
          <a:lstStyle/>
          <a:p>
            <a:pPr marL="0" indent="0" algn="ctr">
              <a:lnSpc>
                <a:spcPct val="113000"/>
              </a:lnSpc>
              <a:spcBef>
                <a:spcPts val="375"/>
              </a:spcBef>
              <a:buNone/>
            </a:pPr>
            <a:r>
              <a:rPr lang="en-US" sz="245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1</a:t>
            </a:r>
            <a:endParaRPr lang="en-US" sz="1440" dirty="0"/>
          </a:p>
        </p:txBody>
      </p:sp>
      <p:sp>
        <p:nvSpPr>
          <p:cNvPr id="6" name="Text 3"/>
          <p:cNvSpPr/>
          <p:nvPr/>
        </p:nvSpPr>
        <p:spPr>
          <a:xfrm>
            <a:off x="1015608" y="971025"/>
            <a:ext cx="4744222" cy="402336"/>
          </a:xfrm>
          <a:prstGeom prst="rect">
            <a:avLst/>
          </a:prstGeom>
          <a:noFill/>
        </p:spPr>
        <p:txBody>
          <a:bodyPr wrap="square" lIns="95250" tIns="95250" rIns="95250" bIns="95250" rtlCol="0" anchor="t">
            <a:spAutoFit/>
          </a:bodyPr>
          <a:lstStyle/>
          <a:p>
            <a:pPr marL="0" indent="0">
              <a:lnSpc>
                <a:spcPct val="100000"/>
              </a:lnSpc>
              <a:spcBef>
                <a:spcPts val="375"/>
              </a:spcBef>
              <a:buNone/>
            </a:pPr>
            <a:r>
              <a:rPr lang="en-US" sz="1730" b="1" dirty="0">
                <a:solidFill>
                  <a:srgbClr val="272245"/>
                </a:solidFill>
                <a:latin typeface="微软雅黑" panose="020B0503020204020204" pitchFamily="34" charset="-122"/>
                <a:ea typeface="微软雅黑" panose="020B0503020204020204" pitchFamily="34" charset="-122"/>
                <a:cs typeface="微软雅黑" panose="020B0503020204020204" pitchFamily="34" charset="-120"/>
              </a:rPr>
              <a:t>精准定位目标客户</a:t>
            </a:r>
            <a:endParaRPr lang="en-US" sz="1440" dirty="0"/>
          </a:p>
        </p:txBody>
      </p:sp>
      <p:sp>
        <p:nvSpPr>
          <p:cNvPr id="7" name="Text 4"/>
          <p:cNvSpPr/>
          <p:nvPr/>
        </p:nvSpPr>
        <p:spPr>
          <a:xfrm>
            <a:off x="1015608" y="1291065"/>
            <a:ext cx="4734829" cy="603504"/>
          </a:xfrm>
          <a:prstGeom prst="rect">
            <a:avLst/>
          </a:prstGeom>
          <a:noFill/>
        </p:spPr>
        <p:txBody>
          <a:bodyPr wrap="square" lIns="95250" tIns="95250" rIns="95250" bIns="95250" rtlCol="0" anchor="t">
            <a:spAutoFit/>
          </a:bodyPr>
          <a:lstStyle/>
          <a:p>
            <a:pPr marL="0" indent="0">
              <a:lnSpc>
                <a:spcPct val="100000"/>
              </a:lnSpc>
              <a:spcBef>
                <a:spcPts val="375"/>
              </a:spcBef>
              <a:buNone/>
            </a:pPr>
            <a:r>
              <a:rPr lang="en-US" sz="1150" dirty="0">
                <a:solidFill>
                  <a:srgbClr val="272245"/>
                </a:solidFill>
                <a:latin typeface="微软雅黑" panose="020B0503020204020204" pitchFamily="34" charset="-122"/>
                <a:ea typeface="微软雅黑" panose="020B0503020204020204" pitchFamily="34" charset="-122"/>
                <a:cs typeface="微软雅黑" panose="020B0503020204020204" pitchFamily="34" charset="-120"/>
              </a:rPr>
              <a:t>利用智能推荐算法，全屋定制平台能根据用户行为和偏好精确推送设计方案，帮助商家快速找到潜在客户，提升营销效率。</a:t>
            </a:r>
            <a:endParaRPr lang="en-US" sz="1440" dirty="0"/>
          </a:p>
        </p:txBody>
      </p:sp>
      <p:sp>
        <p:nvSpPr>
          <p:cNvPr id="8" name="Shape 5"/>
          <p:cNvSpPr/>
          <p:nvPr/>
        </p:nvSpPr>
        <p:spPr>
          <a:xfrm>
            <a:off x="278086" y="2415847"/>
            <a:ext cx="615117" cy="615117"/>
          </a:xfrm>
          <a:custGeom>
            <a:avLst/>
            <a:gdLst/>
            <a:ahLst/>
            <a:cxnLst/>
            <a:rect l="l" t="t" r="r" b="b"/>
            <a:pathLst>
              <a:path w="615117" h="615117">
                <a:moveTo>
                  <a:pt x="307559" y="0"/>
                </a:moveTo>
                <a:moveTo>
                  <a:pt x="307559" y="0"/>
                </a:moveTo>
                <a:cubicBezTo>
                  <a:pt x="477305" y="0"/>
                  <a:pt x="615117" y="137812"/>
                  <a:pt x="615117" y="307559"/>
                </a:cubicBezTo>
                <a:cubicBezTo>
                  <a:pt x="615117" y="477305"/>
                  <a:pt x="477305" y="615117"/>
                  <a:pt x="307559" y="615117"/>
                </a:cubicBezTo>
                <a:cubicBezTo>
                  <a:pt x="137812" y="615117"/>
                  <a:pt x="0" y="477305"/>
                  <a:pt x="0" y="307559"/>
                </a:cubicBezTo>
                <a:cubicBezTo>
                  <a:pt x="0" y="137812"/>
                  <a:pt x="137812" y="0"/>
                  <a:pt x="307559" y="0"/>
                </a:cubicBezTo>
                <a:close/>
              </a:path>
            </a:pathLst>
          </a:custGeom>
          <a:solidFill>
            <a:srgbClr val="0084FF"/>
          </a:solidFill>
        </p:spPr>
      </p:sp>
      <p:sp>
        <p:nvSpPr>
          <p:cNvPr id="9" name="Text 6"/>
          <p:cNvSpPr/>
          <p:nvPr/>
        </p:nvSpPr>
        <p:spPr>
          <a:xfrm>
            <a:off x="228600" y="2398793"/>
            <a:ext cx="714089" cy="649224"/>
          </a:xfrm>
          <a:prstGeom prst="rect">
            <a:avLst/>
          </a:prstGeom>
          <a:noFill/>
        </p:spPr>
        <p:txBody>
          <a:bodyPr wrap="square" lIns="95250" tIns="95250" rIns="95250" bIns="95250" rtlCol="0" anchor="t">
            <a:spAutoFit/>
          </a:bodyPr>
          <a:lstStyle/>
          <a:p>
            <a:pPr marL="0" indent="0" algn="ctr">
              <a:lnSpc>
                <a:spcPct val="113000"/>
              </a:lnSpc>
              <a:spcBef>
                <a:spcPts val="375"/>
              </a:spcBef>
              <a:buNone/>
            </a:pPr>
            <a:r>
              <a:rPr lang="en-US" sz="245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2</a:t>
            </a:r>
            <a:endParaRPr lang="en-US" sz="1440" dirty="0"/>
          </a:p>
        </p:txBody>
      </p:sp>
      <p:sp>
        <p:nvSpPr>
          <p:cNvPr id="10" name="Text 7"/>
          <p:cNvSpPr/>
          <p:nvPr/>
        </p:nvSpPr>
        <p:spPr>
          <a:xfrm>
            <a:off x="1015608" y="2277492"/>
            <a:ext cx="4744222" cy="402336"/>
          </a:xfrm>
          <a:prstGeom prst="rect">
            <a:avLst/>
          </a:prstGeom>
          <a:noFill/>
        </p:spPr>
        <p:txBody>
          <a:bodyPr wrap="square" lIns="95250" tIns="95250" rIns="95250" bIns="95250" rtlCol="0" anchor="t">
            <a:spAutoFit/>
          </a:bodyPr>
          <a:lstStyle/>
          <a:p>
            <a:pPr marL="0" indent="0">
              <a:lnSpc>
                <a:spcPct val="100000"/>
              </a:lnSpc>
              <a:spcBef>
                <a:spcPts val="375"/>
              </a:spcBef>
              <a:buNone/>
            </a:pPr>
            <a:r>
              <a:rPr lang="en-US" sz="1730" b="1" dirty="0">
                <a:solidFill>
                  <a:srgbClr val="272245"/>
                </a:solidFill>
                <a:latin typeface="微软雅黑" panose="020B0503020204020204" pitchFamily="34" charset="-122"/>
                <a:ea typeface="微软雅黑" panose="020B0503020204020204" pitchFamily="34" charset="-122"/>
                <a:cs typeface="微软雅黑" panose="020B0503020204020204" pitchFamily="34" charset="-120"/>
              </a:rPr>
              <a:t>降低运营成本</a:t>
            </a:r>
            <a:endParaRPr lang="en-US" sz="1440" dirty="0"/>
          </a:p>
        </p:txBody>
      </p:sp>
      <p:sp>
        <p:nvSpPr>
          <p:cNvPr id="11" name="Text 8"/>
          <p:cNvSpPr/>
          <p:nvPr/>
        </p:nvSpPr>
        <p:spPr>
          <a:xfrm>
            <a:off x="1015608" y="2606676"/>
            <a:ext cx="4730999" cy="603504"/>
          </a:xfrm>
          <a:prstGeom prst="rect">
            <a:avLst/>
          </a:prstGeom>
          <a:noFill/>
        </p:spPr>
        <p:txBody>
          <a:bodyPr wrap="square" lIns="95250" tIns="95250" rIns="95250" bIns="95250" rtlCol="0" anchor="t">
            <a:spAutoFit/>
          </a:bodyPr>
          <a:lstStyle/>
          <a:p>
            <a:pPr marL="0" indent="0">
              <a:lnSpc>
                <a:spcPct val="100000"/>
              </a:lnSpc>
              <a:spcBef>
                <a:spcPts val="375"/>
              </a:spcBef>
              <a:buNone/>
            </a:pPr>
            <a:r>
              <a:rPr lang="en-US" sz="1150" dirty="0">
                <a:solidFill>
                  <a:srgbClr val="272245"/>
                </a:solidFill>
                <a:latin typeface="微软雅黑" panose="020B0503020204020204" pitchFamily="34" charset="-122"/>
                <a:ea typeface="微软雅黑" panose="020B0503020204020204" pitchFamily="34" charset="-122"/>
                <a:cs typeface="微软雅黑" panose="020B0503020204020204" pitchFamily="34" charset="-120"/>
              </a:rPr>
              <a:t>通过技术手段优化营销流程，全屋定制平台减少了传统广告的盲目性，使商家能够以更低的成本实现更高的转化率。</a:t>
            </a:r>
            <a:endParaRPr lang="en-US" sz="1440" dirty="0"/>
          </a:p>
        </p:txBody>
      </p:sp>
      <p:sp>
        <p:nvSpPr>
          <p:cNvPr id="12" name="Shape 9"/>
          <p:cNvSpPr/>
          <p:nvPr/>
        </p:nvSpPr>
        <p:spPr>
          <a:xfrm>
            <a:off x="278086" y="3701792"/>
            <a:ext cx="615117" cy="615117"/>
          </a:xfrm>
          <a:custGeom>
            <a:avLst/>
            <a:gdLst/>
            <a:ahLst/>
            <a:cxnLst/>
            <a:rect l="l" t="t" r="r" b="b"/>
            <a:pathLst>
              <a:path w="615117" h="615117">
                <a:moveTo>
                  <a:pt x="307559" y="0"/>
                </a:moveTo>
                <a:moveTo>
                  <a:pt x="307559" y="0"/>
                </a:moveTo>
                <a:cubicBezTo>
                  <a:pt x="477305" y="0"/>
                  <a:pt x="615117" y="137812"/>
                  <a:pt x="615117" y="307559"/>
                </a:cubicBezTo>
                <a:cubicBezTo>
                  <a:pt x="615117" y="477305"/>
                  <a:pt x="477305" y="615117"/>
                  <a:pt x="307559" y="615117"/>
                </a:cubicBezTo>
                <a:cubicBezTo>
                  <a:pt x="137812" y="615117"/>
                  <a:pt x="0" y="477305"/>
                  <a:pt x="0" y="307559"/>
                </a:cubicBezTo>
                <a:cubicBezTo>
                  <a:pt x="0" y="137812"/>
                  <a:pt x="137812" y="0"/>
                  <a:pt x="307559" y="0"/>
                </a:cubicBezTo>
                <a:close/>
              </a:path>
            </a:pathLst>
          </a:custGeom>
          <a:solidFill>
            <a:srgbClr val="0084FF"/>
          </a:solidFill>
        </p:spPr>
      </p:sp>
      <p:sp>
        <p:nvSpPr>
          <p:cNvPr id="13" name="Text 10"/>
          <p:cNvSpPr/>
          <p:nvPr/>
        </p:nvSpPr>
        <p:spPr>
          <a:xfrm>
            <a:off x="228600" y="3684738"/>
            <a:ext cx="714089" cy="649224"/>
          </a:xfrm>
          <a:prstGeom prst="rect">
            <a:avLst/>
          </a:prstGeom>
          <a:noFill/>
        </p:spPr>
        <p:txBody>
          <a:bodyPr wrap="square" lIns="95250" tIns="95250" rIns="95250" bIns="95250" rtlCol="0" anchor="t">
            <a:spAutoFit/>
          </a:bodyPr>
          <a:lstStyle/>
          <a:p>
            <a:pPr marL="0" indent="0" algn="ctr">
              <a:lnSpc>
                <a:spcPct val="113000"/>
              </a:lnSpc>
              <a:spcBef>
                <a:spcPts val="375"/>
              </a:spcBef>
              <a:buNone/>
            </a:pPr>
            <a:r>
              <a:rPr lang="en-US" sz="245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3</a:t>
            </a:r>
            <a:endParaRPr lang="en-US" sz="1440" dirty="0"/>
          </a:p>
        </p:txBody>
      </p:sp>
      <p:sp>
        <p:nvSpPr>
          <p:cNvPr id="14" name="Text 11"/>
          <p:cNvSpPr/>
          <p:nvPr/>
        </p:nvSpPr>
        <p:spPr>
          <a:xfrm>
            <a:off x="1015608" y="3593102"/>
            <a:ext cx="4744222" cy="402336"/>
          </a:xfrm>
          <a:prstGeom prst="rect">
            <a:avLst/>
          </a:prstGeom>
          <a:noFill/>
        </p:spPr>
        <p:txBody>
          <a:bodyPr wrap="square" lIns="95250" tIns="95250" rIns="95250" bIns="95250" rtlCol="0" anchor="t">
            <a:spAutoFit/>
          </a:bodyPr>
          <a:lstStyle/>
          <a:p>
            <a:pPr marL="0" indent="0">
              <a:lnSpc>
                <a:spcPct val="100000"/>
              </a:lnSpc>
              <a:spcBef>
                <a:spcPts val="375"/>
              </a:spcBef>
              <a:buNone/>
            </a:pPr>
            <a:r>
              <a:rPr lang="en-US" sz="1730" b="1" dirty="0">
                <a:solidFill>
                  <a:srgbClr val="272245"/>
                </a:solidFill>
                <a:latin typeface="微软雅黑" panose="020B0503020204020204" pitchFamily="34" charset="-122"/>
                <a:ea typeface="微软雅黑" panose="020B0503020204020204" pitchFamily="34" charset="-122"/>
                <a:cs typeface="微软雅黑" panose="020B0503020204020204" pitchFamily="34" charset="-120"/>
              </a:rPr>
              <a:t>增强用户互动体验</a:t>
            </a:r>
            <a:endParaRPr lang="en-US" sz="1440" dirty="0"/>
          </a:p>
        </p:txBody>
      </p:sp>
      <p:sp>
        <p:nvSpPr>
          <p:cNvPr id="15" name="Text 12"/>
          <p:cNvSpPr/>
          <p:nvPr/>
        </p:nvSpPr>
        <p:spPr>
          <a:xfrm>
            <a:off x="1015608" y="3922286"/>
            <a:ext cx="4743644" cy="603504"/>
          </a:xfrm>
          <a:prstGeom prst="rect">
            <a:avLst/>
          </a:prstGeom>
          <a:noFill/>
        </p:spPr>
        <p:txBody>
          <a:bodyPr wrap="square" lIns="95250" tIns="95250" rIns="95250" bIns="95250" rtlCol="0" anchor="t">
            <a:spAutoFit/>
          </a:bodyPr>
          <a:lstStyle/>
          <a:p>
            <a:pPr marL="0" indent="0">
              <a:lnSpc>
                <a:spcPct val="100000"/>
              </a:lnSpc>
              <a:spcBef>
                <a:spcPts val="375"/>
              </a:spcBef>
              <a:buNone/>
            </a:pPr>
            <a:r>
              <a:rPr lang="en-US" sz="1150" dirty="0">
                <a:solidFill>
                  <a:srgbClr val="272245"/>
                </a:solidFill>
                <a:latin typeface="微软雅黑" panose="020B0503020204020204" pitchFamily="34" charset="-122"/>
                <a:ea typeface="微软雅黑" panose="020B0503020204020204" pitchFamily="34" charset="-122"/>
                <a:cs typeface="微软雅黑" panose="020B0503020204020204" pitchFamily="34" charset="-120"/>
              </a:rPr>
              <a:t>平台的互动设计如意见反馈和在线客服功能，为用户提供了直接沟通的渠道，增强了用户体验，间接提升了商家的品牌形象和客户忠诚度。</a:t>
            </a:r>
            <a:endParaRPr lang="en-US" sz="144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283641" y="190697"/>
            <a:ext cx="8088253" cy="566928"/>
          </a:xfrm>
          <a:prstGeom prst="rect">
            <a:avLst/>
          </a:prstGeom>
          <a:noFill/>
        </p:spPr>
        <p:txBody>
          <a:bodyPr wrap="square" lIns="95250" tIns="95250" rIns="95250" bIns="95250" rtlCol="0" anchor="t"/>
          <a:lstStyle/>
          <a:p>
            <a:pPr marL="0" indent="0">
              <a:lnSpc>
                <a:spcPct val="113000"/>
              </a:lnSpc>
              <a:spcBef>
                <a:spcPts val="375"/>
              </a:spcBef>
              <a:buNone/>
            </a:pPr>
            <a:r>
              <a:rPr lang="en-US" sz="2015"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推动行业转型</a:t>
            </a:r>
            <a:endParaRPr lang="en-US" sz="1440" dirty="0"/>
          </a:p>
        </p:txBody>
      </p:sp>
      <p:pic>
        <p:nvPicPr>
          <p:cNvPr id="3" name="Image 0" descr="preencoded.png"/>
          <p:cNvPicPr>
            <a:picLocks noChangeAspect="1"/>
          </p:cNvPicPr>
          <p:nvPr/>
        </p:nvPicPr>
        <p:blipFill>
          <a:blip r:embed="rId4"/>
          <a:stretch>
            <a:fillRect/>
          </a:stretch>
        </p:blipFill>
        <p:spPr>
          <a:xfrm>
            <a:off x="333756" y="937504"/>
            <a:ext cx="8475954" cy="3779797"/>
          </a:xfrm>
          <a:prstGeom prst="rect">
            <a:avLst/>
          </a:prstGeom>
        </p:spPr>
      </p:pic>
      <p:pic>
        <p:nvPicPr>
          <p:cNvPr id="4" name="Image 1" descr="preencoded.png"/>
          <p:cNvPicPr>
            <a:picLocks noChangeAspect="1"/>
          </p:cNvPicPr>
          <p:nvPr/>
        </p:nvPicPr>
        <p:blipFill>
          <a:blip r:embed="rId5"/>
          <a:stretch>
            <a:fillRect/>
          </a:stretch>
        </p:blipFill>
        <p:spPr>
          <a:xfrm>
            <a:off x="704367" y="1264076"/>
            <a:ext cx="2606231" cy="595043"/>
          </a:xfrm>
          <a:prstGeom prst="rect">
            <a:avLst/>
          </a:prstGeom>
        </p:spPr>
      </p:pic>
      <p:sp>
        <p:nvSpPr>
          <p:cNvPr id="7" name="Text 3"/>
          <p:cNvSpPr/>
          <p:nvPr/>
        </p:nvSpPr>
        <p:spPr>
          <a:xfrm>
            <a:off x="713511" y="4056765"/>
            <a:ext cx="1142153" cy="374904"/>
          </a:xfrm>
          <a:prstGeom prst="rect">
            <a:avLst/>
          </a:prstGeom>
          <a:noFill/>
        </p:spPr>
        <p:txBody>
          <a:bodyPr wrap="square" lIns="95250" tIns="95250" rIns="95250" bIns="95250" rtlCol="0" anchor="ctr"/>
          <a:lstStyle/>
          <a:p>
            <a:pPr marL="0" indent="0" algn="ctr">
              <a:lnSpc>
                <a:spcPct val="100000"/>
              </a:lnSpc>
              <a:spcBef>
                <a:spcPts val="375"/>
              </a:spcBef>
              <a:buNone/>
            </a:pPr>
            <a:endParaRPr lang="en-US" sz="1440" dirty="0"/>
          </a:p>
        </p:txBody>
      </p:sp>
      <p:sp>
        <p:nvSpPr>
          <p:cNvPr id="8" name="Text 4"/>
          <p:cNvSpPr/>
          <p:nvPr/>
        </p:nvSpPr>
        <p:spPr>
          <a:xfrm>
            <a:off x="2177589" y="4056765"/>
            <a:ext cx="1142153" cy="374904"/>
          </a:xfrm>
          <a:prstGeom prst="rect">
            <a:avLst/>
          </a:prstGeom>
          <a:noFill/>
        </p:spPr>
        <p:txBody>
          <a:bodyPr wrap="square" lIns="95250" tIns="95250" rIns="95250" bIns="95250" rtlCol="0" anchor="ctr"/>
          <a:lstStyle/>
          <a:p>
            <a:pPr marL="0" indent="0" algn="ctr">
              <a:lnSpc>
                <a:spcPct val="100000"/>
              </a:lnSpc>
              <a:spcBef>
                <a:spcPts val="375"/>
              </a:spcBef>
              <a:buNone/>
            </a:pPr>
            <a:endParaRPr lang="en-US" sz="1440" dirty="0"/>
          </a:p>
        </p:txBody>
      </p:sp>
      <p:sp>
        <p:nvSpPr>
          <p:cNvPr id="9" name="Shape 5"/>
          <p:cNvSpPr/>
          <p:nvPr/>
        </p:nvSpPr>
        <p:spPr>
          <a:xfrm>
            <a:off x="3644348" y="1405780"/>
            <a:ext cx="0" cy="3114261"/>
          </a:xfrm>
          <a:custGeom>
            <a:avLst/>
            <a:gdLst/>
            <a:ahLst/>
            <a:cxnLst/>
            <a:rect l="l" t="t" r="r" b="b"/>
            <a:pathLst>
              <a:path h="3114261">
                <a:moveTo>
                  <a:pt x="0" y="3114261"/>
                </a:moveTo>
                <a:moveTo>
                  <a:pt x="0" y="3114261"/>
                </a:moveTo>
                <a:lnTo>
                  <a:pt x="0" y="0"/>
                </a:lnTo>
              </a:path>
            </a:pathLst>
          </a:custGeom>
          <a:noFill/>
          <a:ln w="19050">
            <a:solidFill>
              <a:srgbClr val="2A5899"/>
            </a:solidFill>
            <a:prstDash val="solid"/>
            <a:headEnd type="none"/>
            <a:tailEnd type="arrow"/>
          </a:ln>
        </p:spPr>
      </p:sp>
      <p:sp>
        <p:nvSpPr>
          <p:cNvPr id="10" name="Shape 6"/>
          <p:cNvSpPr/>
          <p:nvPr/>
        </p:nvSpPr>
        <p:spPr>
          <a:xfrm>
            <a:off x="4057432" y="3074588"/>
            <a:ext cx="3518394" cy="476790"/>
          </a:xfrm>
          <a:custGeom>
            <a:avLst/>
            <a:gdLst/>
            <a:ahLst/>
            <a:cxnLst/>
            <a:rect l="l" t="t" r="r" b="b"/>
            <a:pathLst>
              <a:path w="3518394" h="476790">
                <a:moveTo>
                  <a:pt x="100214" y="0"/>
                </a:moveTo>
                <a:moveTo>
                  <a:pt x="100214" y="0"/>
                </a:moveTo>
                <a:lnTo>
                  <a:pt x="3418180" y="0"/>
                </a:lnTo>
                <a:quadBezTo>
                  <a:pt x="3518394" y="0"/>
                  <a:pt x="3518394" y="100214"/>
                </a:quadBezTo>
                <a:lnTo>
                  <a:pt x="3518394" y="376575"/>
                </a:lnTo>
                <a:quadBezTo>
                  <a:pt x="3518394" y="476790"/>
                  <a:pt x="3418180" y="476790"/>
                </a:quadBezTo>
                <a:lnTo>
                  <a:pt x="100214" y="476790"/>
                </a:lnTo>
                <a:quadBezTo>
                  <a:pt x="0" y="476790"/>
                  <a:pt x="0" y="376575"/>
                </a:quadBezTo>
                <a:lnTo>
                  <a:pt x="0" y="100214"/>
                </a:lnTo>
                <a:quadBezTo>
                  <a:pt x="0" y="0"/>
                  <a:pt x="100214" y="0"/>
                </a:quadBezTo>
                <a:close/>
              </a:path>
            </a:pathLst>
          </a:custGeom>
          <a:solidFill>
            <a:srgbClr val="FFFFFF"/>
          </a:solidFill>
          <a:ln w="19050">
            <a:solidFill>
              <a:srgbClr val="459DF3"/>
            </a:solidFill>
            <a:prstDash val="solid"/>
          </a:ln>
        </p:spPr>
      </p:sp>
      <p:sp>
        <p:nvSpPr>
          <p:cNvPr id="11" name="Shape 7"/>
          <p:cNvSpPr/>
          <p:nvPr/>
        </p:nvSpPr>
        <p:spPr>
          <a:xfrm>
            <a:off x="4057432" y="4395007"/>
            <a:ext cx="4395304" cy="0"/>
          </a:xfrm>
          <a:custGeom>
            <a:avLst/>
            <a:gdLst/>
            <a:ahLst/>
            <a:cxnLst/>
            <a:rect l="l" t="t" r="r" b="b"/>
            <a:pathLst>
              <a:path w="4395304">
                <a:moveTo>
                  <a:pt x="4395304" y="0"/>
                </a:moveTo>
                <a:moveTo>
                  <a:pt x="4395304" y="0"/>
                </a:moveTo>
                <a:lnTo>
                  <a:pt x="0" y="0"/>
                </a:lnTo>
              </a:path>
            </a:pathLst>
          </a:custGeom>
          <a:noFill/>
          <a:ln w="19050">
            <a:solidFill>
              <a:srgbClr val="459DF3"/>
            </a:solidFill>
            <a:prstDash val="solid"/>
            <a:headEnd type="none"/>
            <a:tailEnd type="arrow"/>
          </a:ln>
        </p:spPr>
      </p:sp>
      <p:sp>
        <p:nvSpPr>
          <p:cNvPr id="12" name="Text 8"/>
          <p:cNvSpPr/>
          <p:nvPr/>
        </p:nvSpPr>
        <p:spPr>
          <a:xfrm>
            <a:off x="7575826" y="2956771"/>
            <a:ext cx="616541" cy="1801368"/>
          </a:xfrm>
          <a:prstGeom prst="rect">
            <a:avLst/>
          </a:prstGeom>
          <a:noFill/>
        </p:spPr>
        <p:txBody>
          <a:bodyPr wrap="square" lIns="95250" tIns="95250" rIns="95250" bIns="95250" rtlCol="0" anchor="t">
            <a:spAutoFit/>
          </a:bodyPr>
          <a:lstStyle/>
          <a:p>
            <a:pPr marL="0" indent="0">
              <a:lnSpc>
                <a:spcPct val="113000"/>
              </a:lnSpc>
              <a:spcBef>
                <a:spcPts val="375"/>
              </a:spcBef>
              <a:buNone/>
            </a:pPr>
            <a:r>
              <a:rPr lang="en-US" sz="8495" b="1" i="1" dirty="0">
                <a:solidFill>
                  <a:srgbClr val="459DF3"/>
                </a:solidFill>
                <a:latin typeface="Noto Sans" pitchFamily="34" charset="0"/>
                <a:ea typeface="Noto Sans" pitchFamily="34" charset="-122"/>
                <a:cs typeface="Noto Sans" pitchFamily="34" charset="-120"/>
              </a:rPr>
              <a:t>2</a:t>
            </a:r>
            <a:endParaRPr lang="en-US" sz="1440" dirty="0"/>
          </a:p>
        </p:txBody>
      </p:sp>
      <p:sp>
        <p:nvSpPr>
          <p:cNvPr id="13" name="Shape 9"/>
          <p:cNvSpPr/>
          <p:nvPr/>
        </p:nvSpPr>
        <p:spPr>
          <a:xfrm>
            <a:off x="4057432" y="1400180"/>
            <a:ext cx="3518394" cy="476790"/>
          </a:xfrm>
          <a:custGeom>
            <a:avLst/>
            <a:gdLst/>
            <a:ahLst/>
            <a:cxnLst/>
            <a:rect l="l" t="t" r="r" b="b"/>
            <a:pathLst>
              <a:path w="3518394" h="476790">
                <a:moveTo>
                  <a:pt x="100214" y="0"/>
                </a:moveTo>
                <a:moveTo>
                  <a:pt x="100214" y="0"/>
                </a:moveTo>
                <a:lnTo>
                  <a:pt x="3418180" y="0"/>
                </a:lnTo>
                <a:quadBezTo>
                  <a:pt x="3518394" y="0"/>
                  <a:pt x="3518394" y="100214"/>
                </a:quadBezTo>
                <a:lnTo>
                  <a:pt x="3518394" y="376575"/>
                </a:lnTo>
                <a:quadBezTo>
                  <a:pt x="3518394" y="476790"/>
                  <a:pt x="3418180" y="476790"/>
                </a:quadBezTo>
                <a:lnTo>
                  <a:pt x="100214" y="476790"/>
                </a:lnTo>
                <a:quadBezTo>
                  <a:pt x="0" y="476790"/>
                  <a:pt x="0" y="376575"/>
                </a:quadBezTo>
                <a:lnTo>
                  <a:pt x="0" y="100214"/>
                </a:lnTo>
                <a:quadBezTo>
                  <a:pt x="0" y="0"/>
                  <a:pt x="100214" y="0"/>
                </a:quadBezTo>
                <a:close/>
              </a:path>
            </a:pathLst>
          </a:custGeom>
          <a:solidFill>
            <a:srgbClr val="FFFFFF"/>
          </a:solidFill>
          <a:ln w="19050">
            <a:solidFill>
              <a:srgbClr val="2A5899"/>
            </a:solidFill>
            <a:prstDash val="solid"/>
          </a:ln>
        </p:spPr>
      </p:sp>
      <p:sp>
        <p:nvSpPr>
          <p:cNvPr id="14" name="Shape 10"/>
          <p:cNvSpPr/>
          <p:nvPr/>
        </p:nvSpPr>
        <p:spPr>
          <a:xfrm>
            <a:off x="4057432" y="2720600"/>
            <a:ext cx="4395304" cy="0"/>
          </a:xfrm>
          <a:custGeom>
            <a:avLst/>
            <a:gdLst/>
            <a:ahLst/>
            <a:cxnLst/>
            <a:rect l="l" t="t" r="r" b="b"/>
            <a:pathLst>
              <a:path w="4395304">
                <a:moveTo>
                  <a:pt x="4395304" y="0"/>
                </a:moveTo>
                <a:moveTo>
                  <a:pt x="4395304" y="0"/>
                </a:moveTo>
                <a:lnTo>
                  <a:pt x="0" y="0"/>
                </a:lnTo>
              </a:path>
            </a:pathLst>
          </a:custGeom>
          <a:noFill/>
          <a:ln w="19050">
            <a:solidFill>
              <a:srgbClr val="2A5899"/>
            </a:solidFill>
            <a:prstDash val="solid"/>
            <a:headEnd type="none"/>
            <a:tailEnd type="arrow"/>
          </a:ln>
        </p:spPr>
      </p:sp>
      <p:sp>
        <p:nvSpPr>
          <p:cNvPr id="15" name="Text 11"/>
          <p:cNvSpPr/>
          <p:nvPr/>
        </p:nvSpPr>
        <p:spPr>
          <a:xfrm>
            <a:off x="7575826" y="1245788"/>
            <a:ext cx="616541" cy="1801368"/>
          </a:xfrm>
          <a:prstGeom prst="rect">
            <a:avLst/>
          </a:prstGeom>
          <a:noFill/>
        </p:spPr>
        <p:txBody>
          <a:bodyPr wrap="square" lIns="95250" tIns="95250" rIns="95250" bIns="95250" rtlCol="0" anchor="t">
            <a:spAutoFit/>
          </a:bodyPr>
          <a:lstStyle/>
          <a:p>
            <a:pPr marL="0" indent="0">
              <a:lnSpc>
                <a:spcPct val="113000"/>
              </a:lnSpc>
              <a:spcBef>
                <a:spcPts val="375"/>
              </a:spcBef>
              <a:buNone/>
            </a:pPr>
            <a:r>
              <a:rPr lang="en-US" sz="8495" b="1" i="1" dirty="0">
                <a:solidFill>
                  <a:srgbClr val="2A5899"/>
                </a:solidFill>
                <a:latin typeface="Noto Sans" pitchFamily="34" charset="0"/>
                <a:ea typeface="Noto Sans" pitchFamily="34" charset="-122"/>
                <a:cs typeface="Noto Sans" pitchFamily="34" charset="-120"/>
              </a:rPr>
              <a:t>1</a:t>
            </a:r>
            <a:endParaRPr lang="en-US" sz="1440" dirty="0"/>
          </a:p>
        </p:txBody>
      </p:sp>
      <p:sp>
        <p:nvSpPr>
          <p:cNvPr id="16" name="Text 12"/>
          <p:cNvSpPr/>
          <p:nvPr/>
        </p:nvSpPr>
        <p:spPr>
          <a:xfrm>
            <a:off x="754879" y="1374145"/>
            <a:ext cx="2505205" cy="374904"/>
          </a:xfrm>
          <a:prstGeom prst="rect">
            <a:avLst/>
          </a:prstGeom>
          <a:noFill/>
        </p:spPr>
        <p:txBody>
          <a:bodyPr wrap="square" lIns="95250" tIns="95250" rIns="95250" bIns="95250" rtlCol="0" anchor="ctr"/>
          <a:lstStyle/>
          <a:p>
            <a:pPr marL="0" indent="0" algn="ctr">
              <a:lnSpc>
                <a:spcPct val="100000"/>
              </a:lnSpc>
              <a:spcBef>
                <a:spcPts val="375"/>
              </a:spcBef>
              <a:buNone/>
            </a:pPr>
            <a:r>
              <a:rPr lang="en-US" sz="1585" b="1" dirty="0">
                <a:solidFill>
                  <a:srgbClr val="FFFFFF"/>
                </a:solidFill>
                <a:latin typeface="Noto Sans" pitchFamily="34" charset="0"/>
                <a:ea typeface="Noto Sans" pitchFamily="34" charset="-122"/>
                <a:cs typeface="Noto Sans" pitchFamily="34" charset="-120"/>
              </a:rPr>
              <a:t>智能推荐算法的革新应用</a:t>
            </a:r>
            <a:endParaRPr lang="en-US" sz="1440" dirty="0"/>
          </a:p>
        </p:txBody>
      </p:sp>
      <p:sp>
        <p:nvSpPr>
          <p:cNvPr id="17" name="Text 13"/>
          <p:cNvSpPr/>
          <p:nvPr/>
        </p:nvSpPr>
        <p:spPr>
          <a:xfrm>
            <a:off x="726920" y="1888933"/>
            <a:ext cx="2561125" cy="950976"/>
          </a:xfrm>
          <a:prstGeom prst="rect">
            <a:avLst/>
          </a:prstGeom>
          <a:noFill/>
        </p:spPr>
        <p:txBody>
          <a:bodyPr wrap="square" lIns="95250" tIns="95250" rIns="95250" bIns="95250" rtlCol="0" anchor="t">
            <a:spAutoFit/>
          </a:bodyPr>
          <a:lstStyle/>
          <a:p>
            <a:pPr marL="0" indent="0">
              <a:lnSpc>
                <a:spcPct val="101000"/>
              </a:lnSpc>
              <a:spcBef>
                <a:spcPts val="375"/>
              </a:spcBef>
              <a:buNone/>
            </a:pPr>
            <a:r>
              <a:rPr lang="en-US" sz="1010" dirty="0">
                <a:solidFill>
                  <a:srgbClr val="272245"/>
                </a:solidFill>
                <a:latin typeface="Noto Sans" pitchFamily="34" charset="0"/>
                <a:ea typeface="Noto Sans" pitchFamily="34" charset="-122"/>
                <a:cs typeface="Noto Sans" pitchFamily="34" charset="-120"/>
              </a:rPr>
              <a:t>通过深度分析用户行为和偏好，智能推荐算法为全屋定制行业带来革命性变化，实现个性化设计方案的精准推送，极大提升用户体验。</a:t>
            </a:r>
            <a:endParaRPr lang="en-US" sz="1440" dirty="0"/>
          </a:p>
        </p:txBody>
      </p:sp>
      <p:sp>
        <p:nvSpPr>
          <p:cNvPr id="18" name="Text 14"/>
          <p:cNvSpPr/>
          <p:nvPr/>
        </p:nvSpPr>
        <p:spPr>
          <a:xfrm>
            <a:off x="4107945" y="1446551"/>
            <a:ext cx="3376203" cy="374904"/>
          </a:xfrm>
          <a:prstGeom prst="rect">
            <a:avLst/>
          </a:prstGeom>
          <a:noFill/>
        </p:spPr>
        <p:txBody>
          <a:bodyPr wrap="square" lIns="95250" tIns="95250" rIns="95250" bIns="95250" rtlCol="0" anchor="ctr"/>
          <a:lstStyle/>
          <a:p>
            <a:pPr marL="0" indent="0">
              <a:lnSpc>
                <a:spcPct val="100000"/>
              </a:lnSpc>
              <a:spcBef>
                <a:spcPts val="375"/>
              </a:spcBef>
              <a:buNone/>
            </a:pPr>
            <a:r>
              <a:rPr lang="en-US" sz="1585" b="1" dirty="0">
                <a:solidFill>
                  <a:srgbClr val="2A5899"/>
                </a:solidFill>
                <a:latin typeface="Noto Sans" pitchFamily="34" charset="0"/>
                <a:ea typeface="Noto Sans" pitchFamily="34" charset="-122"/>
                <a:cs typeface="Noto Sans" pitchFamily="34" charset="-120"/>
              </a:rPr>
              <a:t>数字化转型的驱动力</a:t>
            </a:r>
            <a:endParaRPr lang="en-US" sz="1440" dirty="0"/>
          </a:p>
        </p:txBody>
      </p:sp>
      <p:sp>
        <p:nvSpPr>
          <p:cNvPr id="19" name="Text 15"/>
          <p:cNvSpPr/>
          <p:nvPr/>
        </p:nvSpPr>
        <p:spPr>
          <a:xfrm>
            <a:off x="4057432" y="1906784"/>
            <a:ext cx="3621765" cy="603504"/>
          </a:xfrm>
          <a:prstGeom prst="rect">
            <a:avLst/>
          </a:prstGeom>
          <a:noFill/>
        </p:spPr>
        <p:txBody>
          <a:bodyPr wrap="square" lIns="95250" tIns="95250" rIns="95250" bIns="95250" rtlCol="0" anchor="t">
            <a:spAutoFit/>
          </a:bodyPr>
          <a:lstStyle/>
          <a:p>
            <a:pPr marL="0" indent="0">
              <a:lnSpc>
                <a:spcPct val="100000"/>
              </a:lnSpc>
              <a:spcBef>
                <a:spcPts val="375"/>
              </a:spcBef>
              <a:buNone/>
            </a:pPr>
            <a:r>
              <a:rPr lang="en-US" sz="1010" dirty="0">
                <a:solidFill>
                  <a:srgbClr val="272245"/>
                </a:solidFill>
                <a:latin typeface="Noto Sans" pitchFamily="34" charset="0"/>
                <a:ea typeface="Noto Sans" pitchFamily="34" charset="-122"/>
                <a:cs typeface="Noto Sans" pitchFamily="34" charset="-120"/>
              </a:rPr>
              <a:t>全屋定制平台利用智能技术优化运营流程，不仅加速了行业的数字化步伐，还通过数据分析提高了市场响应速度和服务质量。</a:t>
            </a:r>
            <a:endParaRPr lang="en-US" sz="1440" dirty="0"/>
          </a:p>
        </p:txBody>
      </p:sp>
      <p:sp>
        <p:nvSpPr>
          <p:cNvPr id="20" name="Text 16"/>
          <p:cNvSpPr/>
          <p:nvPr/>
        </p:nvSpPr>
        <p:spPr>
          <a:xfrm>
            <a:off x="4107945" y="3120958"/>
            <a:ext cx="3376203" cy="374904"/>
          </a:xfrm>
          <a:prstGeom prst="rect">
            <a:avLst/>
          </a:prstGeom>
          <a:noFill/>
        </p:spPr>
        <p:txBody>
          <a:bodyPr wrap="square" lIns="95250" tIns="95250" rIns="95250" bIns="95250" rtlCol="0" anchor="ctr"/>
          <a:lstStyle/>
          <a:p>
            <a:pPr marL="0" indent="0">
              <a:lnSpc>
                <a:spcPct val="100000"/>
              </a:lnSpc>
              <a:spcBef>
                <a:spcPts val="375"/>
              </a:spcBef>
              <a:buNone/>
            </a:pPr>
            <a:r>
              <a:rPr lang="en-US" sz="1585" b="1" dirty="0">
                <a:solidFill>
                  <a:srgbClr val="2A5899"/>
                </a:solidFill>
                <a:latin typeface="Noto Sans" pitchFamily="34" charset="0"/>
                <a:ea typeface="Noto Sans" pitchFamily="34" charset="-122"/>
                <a:cs typeface="Noto Sans" pitchFamily="34" charset="-120"/>
              </a:rPr>
              <a:t>增强用户与商家互动</a:t>
            </a:r>
            <a:endParaRPr lang="en-US" sz="1440" dirty="0"/>
          </a:p>
        </p:txBody>
      </p:sp>
      <p:sp>
        <p:nvSpPr>
          <p:cNvPr id="21" name="Text 17"/>
          <p:cNvSpPr/>
          <p:nvPr/>
        </p:nvSpPr>
        <p:spPr>
          <a:xfrm>
            <a:off x="4057432" y="3581191"/>
            <a:ext cx="3621765" cy="603504"/>
          </a:xfrm>
          <a:prstGeom prst="rect">
            <a:avLst/>
          </a:prstGeom>
          <a:noFill/>
        </p:spPr>
        <p:txBody>
          <a:bodyPr wrap="square" lIns="95250" tIns="95250" rIns="95250" bIns="95250" rtlCol="0" anchor="t">
            <a:spAutoFit/>
          </a:bodyPr>
          <a:lstStyle/>
          <a:p>
            <a:pPr marL="0" indent="0">
              <a:lnSpc>
                <a:spcPct val="100000"/>
              </a:lnSpc>
              <a:spcBef>
                <a:spcPts val="375"/>
              </a:spcBef>
              <a:buNone/>
            </a:pPr>
            <a:r>
              <a:rPr lang="en-US" sz="1010" dirty="0">
                <a:solidFill>
                  <a:srgbClr val="272245"/>
                </a:solidFill>
                <a:latin typeface="Noto Sans" pitchFamily="34" charset="0"/>
                <a:ea typeface="Noto Sans" pitchFamily="34" charset="-122"/>
                <a:cs typeface="Noto Sans" pitchFamily="34" charset="-120"/>
              </a:rPr>
              <a:t>平台的互动设计，如实时反馈和在线客服，加强了消费者与设计师、商家之间的沟通，提升了用户满意度，促进了行业的创新发展。</a:t>
            </a:r>
            <a:endParaRPr lang="en-US" sz="144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246639" y="1071087"/>
            <a:ext cx="2055531" cy="1883664"/>
          </a:xfrm>
          <a:prstGeom prst="rect">
            <a:avLst/>
          </a:prstGeom>
          <a:noFill/>
        </p:spPr>
        <p:txBody>
          <a:bodyPr wrap="square" lIns="95250" tIns="95250" rIns="95250" bIns="95250" rtlCol="0" anchor="t"/>
          <a:lstStyle/>
          <a:p>
            <a:pPr marL="0" indent="0" algn="ctr">
              <a:lnSpc>
                <a:spcPct val="113000"/>
              </a:lnSpc>
              <a:spcBef>
                <a:spcPts val="375"/>
              </a:spcBef>
              <a:buNone/>
            </a:pPr>
            <a:r>
              <a:rPr lang="en-US" sz="8930" b="1" dirty="0">
                <a:solidFill>
                  <a:srgbClr val="2A5899"/>
                </a:solidFill>
                <a:latin typeface="微软雅黑" panose="020B0503020204020204" pitchFamily="34" charset="-122"/>
                <a:ea typeface="微软雅黑" panose="020B0503020204020204" pitchFamily="34" charset="-122"/>
                <a:cs typeface="微软雅黑" panose="020B0503020204020204" pitchFamily="34" charset="-120"/>
              </a:rPr>
              <a:t>05</a:t>
            </a:r>
            <a:endParaRPr lang="en-US" sz="1440" dirty="0"/>
          </a:p>
        </p:txBody>
      </p:sp>
      <p:sp>
        <p:nvSpPr>
          <p:cNvPr id="3" name="Text 1"/>
          <p:cNvSpPr/>
          <p:nvPr/>
        </p:nvSpPr>
        <p:spPr>
          <a:xfrm>
            <a:off x="497579" y="2595807"/>
            <a:ext cx="5218432" cy="813816"/>
          </a:xfrm>
          <a:prstGeom prst="rect">
            <a:avLst/>
          </a:prstGeom>
          <a:noFill/>
        </p:spPr>
        <p:txBody>
          <a:bodyPr wrap="square" lIns="95250" tIns="95250" rIns="95250" bIns="95250" rtlCol="0" anchor="t"/>
          <a:lstStyle/>
          <a:p>
            <a:pPr marL="0" indent="0">
              <a:lnSpc>
                <a:spcPct val="113000"/>
              </a:lnSpc>
              <a:spcBef>
                <a:spcPts val="375"/>
              </a:spcBef>
              <a:buNone/>
            </a:pPr>
            <a:r>
              <a:rPr lang="en-US" sz="3310" b="1" dirty="0">
                <a:solidFill>
                  <a:srgbClr val="272245"/>
                </a:solidFill>
                <a:latin typeface="微软雅黑" panose="020B0503020204020204" pitchFamily="34" charset="-122"/>
                <a:ea typeface="微软雅黑" panose="020B0503020204020204" pitchFamily="34" charset="-122"/>
                <a:cs typeface="微软雅黑" panose="020B0503020204020204" pitchFamily="34" charset="-120"/>
              </a:rPr>
              <a:t>国内外研究现状</a:t>
            </a:r>
            <a:endParaRPr lang="en-US" sz="1440" dirty="0"/>
          </a:p>
        </p:txBody>
      </p:sp>
      <p:pic>
        <p:nvPicPr>
          <p:cNvPr id="4" name="Image 0" descr="https://sgw-dx.xf-yun.com/api/v1/sparkdesk/_19052329831_fVPc9i1733712667757-005544323224029091.png?authorization=c2ltcGxlLWp3dCBhaz1zcGFya2Rlc2s4MDAwMDAwMDAwMDE7ZXhwPTMzMTA1MTI2Nzk7YWxnbz1obWFjLXNoYTI1NjtzaWc9a2pCNm01T2o4VEJER0o1Q3FOV2VJYUpvODByWkFQclRoZVRqRnpXRnY1Yz0=&amp;x_location=7YfmxI7B7uKO7jlRxIftd60Ye5D="/>
          <p:cNvPicPr>
            <a:picLocks noChangeAspect="1"/>
          </p:cNvPicPr>
          <p:nvPr/>
        </p:nvPicPr>
        <p:blipFill>
          <a:blip r:embed="rId4"/>
          <a:stretch>
            <a:fillRect/>
          </a:stretch>
        </p:blipFill>
        <p:spPr>
          <a:xfrm>
            <a:off x="590374" y="2550087"/>
            <a:ext cx="2848105" cy="18288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283641" y="190697"/>
            <a:ext cx="8088253" cy="566928"/>
          </a:xfrm>
          <a:prstGeom prst="rect">
            <a:avLst/>
          </a:prstGeom>
          <a:noFill/>
        </p:spPr>
        <p:txBody>
          <a:bodyPr wrap="square" lIns="95250" tIns="95250" rIns="95250" bIns="95250" rtlCol="0" anchor="t"/>
          <a:lstStyle/>
          <a:p>
            <a:pPr marL="0" indent="0">
              <a:lnSpc>
                <a:spcPct val="113000"/>
              </a:lnSpc>
              <a:spcBef>
                <a:spcPts val="375"/>
              </a:spcBef>
              <a:buNone/>
            </a:pPr>
            <a:r>
              <a:rPr lang="en-US" sz="2015"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国内进展显著</a:t>
            </a:r>
            <a:endParaRPr lang="en-US" sz="1440" dirty="0"/>
          </a:p>
        </p:txBody>
      </p:sp>
      <p:sp>
        <p:nvSpPr>
          <p:cNvPr id="3" name="Shape 1"/>
          <p:cNvSpPr/>
          <p:nvPr/>
        </p:nvSpPr>
        <p:spPr>
          <a:xfrm>
            <a:off x="335027" y="1359647"/>
            <a:ext cx="2628479" cy="3203954"/>
          </a:xfrm>
          <a:custGeom>
            <a:avLst/>
            <a:gdLst/>
            <a:ahLst/>
            <a:cxnLst/>
            <a:rect l="l" t="t" r="r" b="b"/>
            <a:pathLst>
              <a:path w="2628479" h="3203954">
                <a:moveTo>
                  <a:pt x="0" y="0"/>
                </a:moveTo>
                <a:moveTo>
                  <a:pt x="0" y="0"/>
                </a:moveTo>
                <a:lnTo>
                  <a:pt x="2628479" y="0"/>
                </a:lnTo>
                <a:lnTo>
                  <a:pt x="2628479" y="3203954"/>
                </a:lnTo>
                <a:lnTo>
                  <a:pt x="0" y="3203954"/>
                </a:lnTo>
                <a:close/>
              </a:path>
            </a:pathLst>
          </a:custGeom>
          <a:solidFill>
            <a:srgbClr val="FFFFFF"/>
          </a:solidFill>
          <a:ln w="9525">
            <a:solidFill>
              <a:srgbClr val="2A5899"/>
            </a:solidFill>
            <a:prstDash val="solid"/>
          </a:ln>
        </p:spPr>
      </p:sp>
      <p:sp>
        <p:nvSpPr>
          <p:cNvPr id="4" name="Shape 2"/>
          <p:cNvSpPr/>
          <p:nvPr/>
        </p:nvSpPr>
        <p:spPr>
          <a:xfrm>
            <a:off x="326084" y="1075926"/>
            <a:ext cx="2642616" cy="719633"/>
          </a:xfrm>
          <a:custGeom>
            <a:avLst/>
            <a:gdLst/>
            <a:ahLst/>
            <a:cxnLst/>
            <a:rect l="l" t="t" r="r" b="b"/>
            <a:pathLst>
              <a:path w="2642616" h="719633">
                <a:moveTo>
                  <a:pt x="0" y="0"/>
                </a:moveTo>
                <a:moveTo>
                  <a:pt x="0" y="0"/>
                </a:moveTo>
                <a:lnTo>
                  <a:pt x="2642616" y="0"/>
                </a:lnTo>
                <a:lnTo>
                  <a:pt x="2642616" y="719633"/>
                </a:lnTo>
                <a:lnTo>
                  <a:pt x="0" y="719633"/>
                </a:lnTo>
                <a:close/>
              </a:path>
            </a:pathLst>
          </a:custGeom>
          <a:solidFill>
            <a:srgbClr val="0084FF"/>
          </a:solidFill>
        </p:spPr>
      </p:sp>
      <p:sp>
        <p:nvSpPr>
          <p:cNvPr id="5" name="Text 3"/>
          <p:cNvSpPr/>
          <p:nvPr/>
        </p:nvSpPr>
        <p:spPr>
          <a:xfrm>
            <a:off x="335228" y="3974508"/>
            <a:ext cx="611856" cy="566928"/>
          </a:xfrm>
          <a:prstGeom prst="rect">
            <a:avLst/>
          </a:prstGeom>
          <a:noFill/>
        </p:spPr>
        <p:txBody>
          <a:bodyPr wrap="square" lIns="95250" tIns="95250" rIns="95250" bIns="95250" rtlCol="0" anchor="t">
            <a:spAutoFit/>
          </a:bodyPr>
          <a:lstStyle/>
          <a:p>
            <a:pPr marL="0" indent="0" algn="ctr">
              <a:lnSpc>
                <a:spcPct val="113000"/>
              </a:lnSpc>
              <a:spcBef>
                <a:spcPts val="375"/>
              </a:spcBef>
              <a:buNone/>
            </a:pPr>
            <a:r>
              <a:rPr lang="en-US" sz="2015" b="1" dirty="0">
                <a:solidFill>
                  <a:srgbClr val="2A5899"/>
                </a:solidFill>
                <a:latin typeface="Noto Sans" pitchFamily="34" charset="0"/>
                <a:ea typeface="Noto Sans" pitchFamily="34" charset="-122"/>
                <a:cs typeface="Noto Sans" pitchFamily="34" charset="-120"/>
              </a:rPr>
              <a:t>1</a:t>
            </a:r>
            <a:endParaRPr lang="en-US" sz="1440" dirty="0"/>
          </a:p>
        </p:txBody>
      </p:sp>
      <p:sp>
        <p:nvSpPr>
          <p:cNvPr id="6" name="Text 4"/>
          <p:cNvSpPr/>
          <p:nvPr/>
        </p:nvSpPr>
        <p:spPr>
          <a:xfrm>
            <a:off x="2322804" y="3782484"/>
            <a:ext cx="461709" cy="758952"/>
          </a:xfrm>
          <a:prstGeom prst="rect">
            <a:avLst/>
          </a:prstGeom>
          <a:noFill/>
        </p:spPr>
        <p:txBody>
          <a:bodyPr wrap="square" lIns="95250" tIns="95250" rIns="95250" bIns="95250" rtlCol="0" anchor="t"/>
          <a:lstStyle/>
          <a:p>
            <a:pPr marL="0" indent="0" algn="ctr">
              <a:lnSpc>
                <a:spcPct val="113000"/>
              </a:lnSpc>
              <a:spcBef>
                <a:spcPts val="375"/>
              </a:spcBef>
              <a:buNone/>
            </a:pPr>
            <a:r>
              <a:rPr lang="en-US" sz="4320" b="1" dirty="0">
                <a:solidFill>
                  <a:srgbClr val="2A5899"/>
                </a:solidFill>
                <a:latin typeface="Noto Sans" pitchFamily="34" charset="0"/>
                <a:ea typeface="Noto Sans" pitchFamily="34" charset="-122"/>
                <a:cs typeface="Noto Sans" pitchFamily="34" charset="-120"/>
              </a:rPr>
              <a:t>·</a:t>
            </a:r>
            <a:endParaRPr lang="en-US" sz="1440" dirty="0"/>
          </a:p>
        </p:txBody>
      </p:sp>
      <p:sp>
        <p:nvSpPr>
          <p:cNvPr id="7" name="Shape 5"/>
          <p:cNvSpPr/>
          <p:nvPr/>
        </p:nvSpPr>
        <p:spPr>
          <a:xfrm>
            <a:off x="3247065" y="1359647"/>
            <a:ext cx="2628900" cy="3203954"/>
          </a:xfrm>
          <a:custGeom>
            <a:avLst/>
            <a:gdLst/>
            <a:ahLst/>
            <a:cxnLst/>
            <a:rect l="l" t="t" r="r" b="b"/>
            <a:pathLst>
              <a:path w="2628900" h="3203954">
                <a:moveTo>
                  <a:pt x="0" y="0"/>
                </a:moveTo>
                <a:moveTo>
                  <a:pt x="0" y="0"/>
                </a:moveTo>
                <a:lnTo>
                  <a:pt x="2628900" y="0"/>
                </a:lnTo>
                <a:lnTo>
                  <a:pt x="2628900" y="3203954"/>
                </a:lnTo>
                <a:lnTo>
                  <a:pt x="0" y="3203954"/>
                </a:lnTo>
                <a:close/>
              </a:path>
            </a:pathLst>
          </a:custGeom>
          <a:solidFill>
            <a:srgbClr val="FFFFFF"/>
          </a:solidFill>
          <a:ln w="9525">
            <a:solidFill>
              <a:srgbClr val="459DF3"/>
            </a:solidFill>
            <a:prstDash val="solid"/>
          </a:ln>
        </p:spPr>
      </p:sp>
      <p:sp>
        <p:nvSpPr>
          <p:cNvPr id="8" name="Shape 6"/>
          <p:cNvSpPr/>
          <p:nvPr/>
        </p:nvSpPr>
        <p:spPr>
          <a:xfrm>
            <a:off x="3247065" y="1075926"/>
            <a:ext cx="2642616" cy="719633"/>
          </a:xfrm>
          <a:custGeom>
            <a:avLst/>
            <a:gdLst/>
            <a:ahLst/>
            <a:cxnLst/>
            <a:rect l="l" t="t" r="r" b="b"/>
            <a:pathLst>
              <a:path w="2642616" h="719633">
                <a:moveTo>
                  <a:pt x="0" y="0"/>
                </a:moveTo>
                <a:moveTo>
                  <a:pt x="0" y="0"/>
                </a:moveTo>
                <a:lnTo>
                  <a:pt x="2642616" y="0"/>
                </a:lnTo>
                <a:lnTo>
                  <a:pt x="2642616" y="719633"/>
                </a:lnTo>
                <a:lnTo>
                  <a:pt x="0" y="719633"/>
                </a:lnTo>
                <a:close/>
              </a:path>
            </a:pathLst>
          </a:custGeom>
          <a:solidFill>
            <a:srgbClr val="5196FF"/>
          </a:solidFill>
        </p:spPr>
      </p:sp>
      <p:sp>
        <p:nvSpPr>
          <p:cNvPr id="9" name="Text 7"/>
          <p:cNvSpPr/>
          <p:nvPr/>
        </p:nvSpPr>
        <p:spPr>
          <a:xfrm>
            <a:off x="3246804" y="3974508"/>
            <a:ext cx="611856" cy="566928"/>
          </a:xfrm>
          <a:prstGeom prst="rect">
            <a:avLst/>
          </a:prstGeom>
          <a:noFill/>
        </p:spPr>
        <p:txBody>
          <a:bodyPr wrap="square" lIns="95250" tIns="95250" rIns="95250" bIns="95250" rtlCol="0" anchor="t">
            <a:spAutoFit/>
          </a:bodyPr>
          <a:lstStyle/>
          <a:p>
            <a:pPr marL="0" indent="0" algn="ctr">
              <a:lnSpc>
                <a:spcPct val="113000"/>
              </a:lnSpc>
              <a:spcBef>
                <a:spcPts val="375"/>
              </a:spcBef>
              <a:buNone/>
            </a:pPr>
            <a:r>
              <a:rPr lang="en-US" sz="2015" b="1" dirty="0">
                <a:solidFill>
                  <a:srgbClr val="459DF3"/>
                </a:solidFill>
                <a:latin typeface="Noto Sans" pitchFamily="34" charset="0"/>
                <a:ea typeface="Noto Sans" pitchFamily="34" charset="-122"/>
                <a:cs typeface="Noto Sans" pitchFamily="34" charset="-120"/>
              </a:rPr>
              <a:t>2</a:t>
            </a:r>
            <a:endParaRPr lang="en-US" sz="1440" dirty="0"/>
          </a:p>
        </p:txBody>
      </p:sp>
      <p:sp>
        <p:nvSpPr>
          <p:cNvPr id="10" name="Text 8"/>
          <p:cNvSpPr/>
          <p:nvPr/>
        </p:nvSpPr>
        <p:spPr>
          <a:xfrm>
            <a:off x="5234380" y="3782484"/>
            <a:ext cx="461709" cy="758952"/>
          </a:xfrm>
          <a:prstGeom prst="rect">
            <a:avLst/>
          </a:prstGeom>
          <a:noFill/>
        </p:spPr>
        <p:txBody>
          <a:bodyPr wrap="square" lIns="95250" tIns="95250" rIns="95250" bIns="95250" rtlCol="0" anchor="t"/>
          <a:lstStyle/>
          <a:p>
            <a:pPr marL="0" indent="0" algn="ctr">
              <a:lnSpc>
                <a:spcPct val="113000"/>
              </a:lnSpc>
              <a:spcBef>
                <a:spcPts val="375"/>
              </a:spcBef>
              <a:buNone/>
            </a:pPr>
            <a:r>
              <a:rPr lang="en-US" sz="4320" b="1" dirty="0">
                <a:solidFill>
                  <a:srgbClr val="459DF3"/>
                </a:solidFill>
                <a:latin typeface="Noto Sans" pitchFamily="34" charset="0"/>
                <a:ea typeface="Noto Sans" pitchFamily="34" charset="-122"/>
                <a:cs typeface="Noto Sans" pitchFamily="34" charset="-120"/>
              </a:rPr>
              <a:t>·</a:t>
            </a:r>
            <a:endParaRPr lang="en-US" sz="1440" dirty="0"/>
          </a:p>
        </p:txBody>
      </p:sp>
      <p:sp>
        <p:nvSpPr>
          <p:cNvPr id="11" name="Shape 9"/>
          <p:cNvSpPr/>
          <p:nvPr/>
        </p:nvSpPr>
        <p:spPr>
          <a:xfrm>
            <a:off x="6175300" y="1359647"/>
            <a:ext cx="2628900" cy="3203954"/>
          </a:xfrm>
          <a:custGeom>
            <a:avLst/>
            <a:gdLst/>
            <a:ahLst/>
            <a:cxnLst/>
            <a:rect l="l" t="t" r="r" b="b"/>
            <a:pathLst>
              <a:path w="2628900" h="3203954">
                <a:moveTo>
                  <a:pt x="0" y="0"/>
                </a:moveTo>
                <a:moveTo>
                  <a:pt x="0" y="0"/>
                </a:moveTo>
                <a:lnTo>
                  <a:pt x="2628900" y="0"/>
                </a:lnTo>
                <a:lnTo>
                  <a:pt x="2628900" y="3203954"/>
                </a:lnTo>
                <a:lnTo>
                  <a:pt x="0" y="3203954"/>
                </a:lnTo>
                <a:close/>
              </a:path>
            </a:pathLst>
          </a:custGeom>
          <a:solidFill>
            <a:srgbClr val="FFFFFF"/>
          </a:solidFill>
          <a:ln w="9525">
            <a:solidFill>
              <a:srgbClr val="2A5899"/>
            </a:solidFill>
            <a:prstDash val="solid"/>
          </a:ln>
        </p:spPr>
      </p:sp>
      <p:sp>
        <p:nvSpPr>
          <p:cNvPr id="12" name="Shape 10"/>
          <p:cNvSpPr/>
          <p:nvPr/>
        </p:nvSpPr>
        <p:spPr>
          <a:xfrm>
            <a:off x="6175300" y="1075926"/>
            <a:ext cx="2642616" cy="719633"/>
          </a:xfrm>
          <a:custGeom>
            <a:avLst/>
            <a:gdLst/>
            <a:ahLst/>
            <a:cxnLst/>
            <a:rect l="l" t="t" r="r" b="b"/>
            <a:pathLst>
              <a:path w="2642616" h="719633">
                <a:moveTo>
                  <a:pt x="0" y="0"/>
                </a:moveTo>
                <a:moveTo>
                  <a:pt x="0" y="0"/>
                </a:moveTo>
                <a:lnTo>
                  <a:pt x="2642616" y="0"/>
                </a:lnTo>
                <a:lnTo>
                  <a:pt x="2642616" y="719633"/>
                </a:lnTo>
                <a:lnTo>
                  <a:pt x="0" y="719633"/>
                </a:lnTo>
                <a:close/>
              </a:path>
            </a:pathLst>
          </a:custGeom>
          <a:solidFill>
            <a:srgbClr val="0084FF"/>
          </a:solidFill>
        </p:spPr>
      </p:sp>
      <p:sp>
        <p:nvSpPr>
          <p:cNvPr id="13" name="Text 11"/>
          <p:cNvSpPr/>
          <p:nvPr/>
        </p:nvSpPr>
        <p:spPr>
          <a:xfrm>
            <a:off x="6175492" y="3974508"/>
            <a:ext cx="611856" cy="566928"/>
          </a:xfrm>
          <a:prstGeom prst="rect">
            <a:avLst/>
          </a:prstGeom>
          <a:noFill/>
        </p:spPr>
        <p:txBody>
          <a:bodyPr wrap="square" lIns="95250" tIns="95250" rIns="95250" bIns="95250" rtlCol="0" anchor="t">
            <a:spAutoFit/>
          </a:bodyPr>
          <a:lstStyle/>
          <a:p>
            <a:pPr marL="0" indent="0" algn="ctr">
              <a:lnSpc>
                <a:spcPct val="113000"/>
              </a:lnSpc>
              <a:spcBef>
                <a:spcPts val="375"/>
              </a:spcBef>
              <a:buNone/>
            </a:pPr>
            <a:r>
              <a:rPr lang="en-US" sz="2015" b="1" dirty="0">
                <a:solidFill>
                  <a:srgbClr val="2A5899"/>
                </a:solidFill>
                <a:latin typeface="Noto Sans" pitchFamily="34" charset="0"/>
                <a:ea typeface="Noto Sans" pitchFamily="34" charset="-122"/>
                <a:cs typeface="Noto Sans" pitchFamily="34" charset="-120"/>
              </a:rPr>
              <a:t>3</a:t>
            </a:r>
            <a:endParaRPr lang="en-US" sz="1440" dirty="0"/>
          </a:p>
        </p:txBody>
      </p:sp>
      <p:sp>
        <p:nvSpPr>
          <p:cNvPr id="14" name="Text 12"/>
          <p:cNvSpPr/>
          <p:nvPr/>
        </p:nvSpPr>
        <p:spPr>
          <a:xfrm>
            <a:off x="8163068" y="3782484"/>
            <a:ext cx="461709" cy="758952"/>
          </a:xfrm>
          <a:prstGeom prst="rect">
            <a:avLst/>
          </a:prstGeom>
          <a:noFill/>
        </p:spPr>
        <p:txBody>
          <a:bodyPr wrap="square" lIns="95250" tIns="95250" rIns="95250" bIns="95250" rtlCol="0" anchor="t"/>
          <a:lstStyle/>
          <a:p>
            <a:pPr marL="0" indent="0" algn="ctr">
              <a:lnSpc>
                <a:spcPct val="113000"/>
              </a:lnSpc>
              <a:spcBef>
                <a:spcPts val="375"/>
              </a:spcBef>
              <a:buNone/>
            </a:pPr>
            <a:r>
              <a:rPr lang="en-US" sz="4320" b="1" dirty="0">
                <a:solidFill>
                  <a:srgbClr val="2A5899"/>
                </a:solidFill>
                <a:latin typeface="Noto Sans" pitchFamily="34" charset="0"/>
                <a:ea typeface="Noto Sans" pitchFamily="34" charset="-122"/>
                <a:cs typeface="Noto Sans" pitchFamily="34" charset="-120"/>
              </a:rPr>
              <a:t>·</a:t>
            </a:r>
            <a:endParaRPr lang="en-US" sz="1440" dirty="0"/>
          </a:p>
        </p:txBody>
      </p:sp>
      <p:sp>
        <p:nvSpPr>
          <p:cNvPr id="15" name="Text 13"/>
          <p:cNvSpPr/>
          <p:nvPr/>
        </p:nvSpPr>
        <p:spPr>
          <a:xfrm>
            <a:off x="456962" y="1248291"/>
            <a:ext cx="2506545" cy="374904"/>
          </a:xfrm>
          <a:prstGeom prst="rect">
            <a:avLst/>
          </a:prstGeom>
          <a:noFill/>
        </p:spPr>
        <p:txBody>
          <a:bodyPr wrap="square" lIns="95250" tIns="95250" rIns="95250" bIns="95250" rtlCol="0" anchor="ctr"/>
          <a:lstStyle/>
          <a:p>
            <a:pPr marL="0" indent="0">
              <a:lnSpc>
                <a:spcPct val="100000"/>
              </a:lnSpc>
              <a:spcBef>
                <a:spcPts val="375"/>
              </a:spcBef>
              <a:buNone/>
            </a:pPr>
            <a:r>
              <a:rPr lang="en-US" sz="1585" b="1" dirty="0">
                <a:solidFill>
                  <a:srgbClr val="FFFFFF"/>
                </a:solidFill>
                <a:latin typeface="Noto Sans" pitchFamily="34" charset="0"/>
                <a:ea typeface="Noto Sans" pitchFamily="34" charset="-122"/>
                <a:cs typeface="Noto Sans" pitchFamily="34" charset="-120"/>
              </a:rPr>
              <a:t>智能推荐算法的国内研究进展</a:t>
            </a:r>
            <a:endParaRPr lang="en-US" sz="1440" dirty="0"/>
          </a:p>
        </p:txBody>
      </p:sp>
      <p:sp>
        <p:nvSpPr>
          <p:cNvPr id="16" name="Text 14"/>
          <p:cNvSpPr/>
          <p:nvPr/>
        </p:nvSpPr>
        <p:spPr>
          <a:xfrm>
            <a:off x="420386" y="1942867"/>
            <a:ext cx="2364127" cy="1719072"/>
          </a:xfrm>
          <a:prstGeom prst="rect">
            <a:avLst/>
          </a:prstGeom>
          <a:noFill/>
        </p:spPr>
        <p:txBody>
          <a:bodyPr wrap="square" lIns="95250" tIns="95250" rIns="95250" bIns="95250" rtlCol="0" anchor="t">
            <a:spAutoFit/>
          </a:bodyPr>
          <a:lstStyle/>
          <a:p>
            <a:pPr marL="0" indent="0">
              <a:lnSpc>
                <a:spcPct val="100000"/>
              </a:lnSpc>
              <a:spcBef>
                <a:spcPts val="375"/>
              </a:spcBef>
              <a:buNone/>
            </a:pPr>
            <a:r>
              <a:rPr lang="en-US" sz="1150" dirty="0">
                <a:solidFill>
                  <a:srgbClr val="272245"/>
                </a:solidFill>
                <a:latin typeface="Noto Sans" pitchFamily="34" charset="0"/>
                <a:ea typeface="Noto Sans" pitchFamily="34" charset="-122"/>
                <a:cs typeface="Noto Sans" pitchFamily="34" charset="-120"/>
              </a:rPr>
              <a:t>国内在智能推荐算法领域的研究取得了显著成果，学者和企业开始关注如何利用这些算法优化用户体验和提高运营效率。</a:t>
            </a:r>
            <a:endParaRPr lang="en-US" sz="1440" dirty="0"/>
          </a:p>
        </p:txBody>
      </p:sp>
      <p:sp>
        <p:nvSpPr>
          <p:cNvPr id="17" name="Text 15"/>
          <p:cNvSpPr/>
          <p:nvPr/>
        </p:nvSpPr>
        <p:spPr>
          <a:xfrm>
            <a:off x="3368538" y="1248291"/>
            <a:ext cx="2472943" cy="374904"/>
          </a:xfrm>
          <a:prstGeom prst="rect">
            <a:avLst/>
          </a:prstGeom>
          <a:noFill/>
        </p:spPr>
        <p:txBody>
          <a:bodyPr wrap="square" lIns="95250" tIns="95250" rIns="95250" bIns="95250" rtlCol="0" anchor="ctr"/>
          <a:lstStyle/>
          <a:p>
            <a:pPr marL="0" indent="0">
              <a:lnSpc>
                <a:spcPct val="100000"/>
              </a:lnSpc>
              <a:spcBef>
                <a:spcPts val="375"/>
              </a:spcBef>
              <a:buNone/>
            </a:pPr>
            <a:r>
              <a:rPr lang="en-US" sz="1585" b="1" dirty="0">
                <a:solidFill>
                  <a:srgbClr val="FFFFFF"/>
                </a:solidFill>
                <a:latin typeface="Noto Sans" pitchFamily="34" charset="0"/>
                <a:ea typeface="Noto Sans" pitchFamily="34" charset="-122"/>
                <a:cs typeface="Noto Sans" pitchFamily="34" charset="-120"/>
              </a:rPr>
              <a:t>全屋定制行业的热点研究</a:t>
            </a:r>
            <a:endParaRPr lang="en-US" sz="1440" dirty="0"/>
          </a:p>
        </p:txBody>
      </p:sp>
      <p:sp>
        <p:nvSpPr>
          <p:cNvPr id="18" name="Text 16"/>
          <p:cNvSpPr/>
          <p:nvPr/>
        </p:nvSpPr>
        <p:spPr>
          <a:xfrm>
            <a:off x="3331962" y="1942867"/>
            <a:ext cx="2352212" cy="1719072"/>
          </a:xfrm>
          <a:prstGeom prst="rect">
            <a:avLst/>
          </a:prstGeom>
          <a:noFill/>
        </p:spPr>
        <p:txBody>
          <a:bodyPr wrap="square" lIns="95250" tIns="95250" rIns="95250" bIns="95250" rtlCol="0" anchor="t">
            <a:spAutoFit/>
          </a:bodyPr>
          <a:lstStyle/>
          <a:p>
            <a:pPr marL="0" indent="0">
              <a:lnSpc>
                <a:spcPct val="100000"/>
              </a:lnSpc>
              <a:spcBef>
                <a:spcPts val="375"/>
              </a:spcBef>
              <a:buNone/>
            </a:pPr>
            <a:r>
              <a:rPr lang="en-US" sz="1150" dirty="0">
                <a:solidFill>
                  <a:srgbClr val="272245"/>
                </a:solidFill>
                <a:latin typeface="Noto Sans" pitchFamily="34" charset="0"/>
                <a:ea typeface="Noto Sans" pitchFamily="34" charset="-122"/>
                <a:cs typeface="Noto Sans" pitchFamily="34" charset="-120"/>
              </a:rPr>
              <a:t>全屋定制行业中，智能推荐系统的研究逐渐成为热点，通过收集与分析用户行为数据，构建个性化推荐模型，实现精准推送设计方案、装修材料和家具商品。</a:t>
            </a:r>
            <a:endParaRPr lang="en-US" sz="1440" dirty="0"/>
          </a:p>
        </p:txBody>
      </p:sp>
      <p:sp>
        <p:nvSpPr>
          <p:cNvPr id="19" name="Text 17"/>
          <p:cNvSpPr/>
          <p:nvPr/>
        </p:nvSpPr>
        <p:spPr>
          <a:xfrm>
            <a:off x="6297226" y="1248291"/>
            <a:ext cx="2450575" cy="374904"/>
          </a:xfrm>
          <a:prstGeom prst="rect">
            <a:avLst/>
          </a:prstGeom>
          <a:noFill/>
        </p:spPr>
        <p:txBody>
          <a:bodyPr wrap="square" lIns="95250" tIns="95250" rIns="95250" bIns="95250" rtlCol="0" anchor="ctr"/>
          <a:lstStyle/>
          <a:p>
            <a:pPr marL="0" indent="0">
              <a:lnSpc>
                <a:spcPct val="100000"/>
              </a:lnSpc>
              <a:spcBef>
                <a:spcPts val="375"/>
              </a:spcBef>
              <a:buNone/>
            </a:pPr>
            <a:r>
              <a:rPr lang="en-US" sz="1585" b="1" dirty="0">
                <a:solidFill>
                  <a:srgbClr val="FFFFFF"/>
                </a:solidFill>
                <a:latin typeface="Noto Sans" pitchFamily="34" charset="0"/>
                <a:ea typeface="Noto Sans" pitchFamily="34" charset="-122"/>
                <a:cs typeface="Noto Sans" pitchFamily="34" charset="-120"/>
              </a:rPr>
              <a:t>实际应用效果评估的重要性</a:t>
            </a:r>
            <a:endParaRPr lang="en-US" sz="1440" dirty="0"/>
          </a:p>
        </p:txBody>
      </p:sp>
      <p:sp>
        <p:nvSpPr>
          <p:cNvPr id="20" name="Text 18"/>
          <p:cNvSpPr/>
          <p:nvPr/>
        </p:nvSpPr>
        <p:spPr>
          <a:xfrm>
            <a:off x="6260650" y="1942867"/>
            <a:ext cx="2364127" cy="1719072"/>
          </a:xfrm>
          <a:prstGeom prst="rect">
            <a:avLst/>
          </a:prstGeom>
          <a:noFill/>
        </p:spPr>
        <p:txBody>
          <a:bodyPr wrap="square" lIns="95250" tIns="95250" rIns="95250" bIns="95250" rtlCol="0" anchor="t">
            <a:spAutoFit/>
          </a:bodyPr>
          <a:lstStyle/>
          <a:p>
            <a:pPr marL="0" indent="0">
              <a:lnSpc>
                <a:spcPct val="100000"/>
              </a:lnSpc>
              <a:spcBef>
                <a:spcPts val="375"/>
              </a:spcBef>
              <a:buNone/>
            </a:pPr>
            <a:r>
              <a:rPr lang="en-US" sz="1150" dirty="0">
                <a:solidFill>
                  <a:srgbClr val="272245"/>
                </a:solidFill>
                <a:latin typeface="Noto Sans" pitchFamily="34" charset="0"/>
                <a:ea typeface="Noto Sans" pitchFamily="34" charset="-122"/>
                <a:cs typeface="Noto Sans" pitchFamily="34" charset="-120"/>
              </a:rPr>
              <a:t>国内研究机构和高校与企业合作开发的全屋定制平台，注重实际应用效果评估，确保基于协同过滤、内容推荐和混合推荐算法的平台能满足用户需求。</a:t>
            </a:r>
            <a:endParaRPr lang="en-US" sz="144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283641" y="190697"/>
            <a:ext cx="8088253" cy="566928"/>
          </a:xfrm>
          <a:prstGeom prst="rect">
            <a:avLst/>
          </a:prstGeom>
          <a:noFill/>
        </p:spPr>
        <p:txBody>
          <a:bodyPr wrap="square" lIns="95250" tIns="95250" rIns="95250" bIns="95250" rtlCol="0" anchor="t"/>
          <a:lstStyle/>
          <a:p>
            <a:pPr marL="0" indent="0">
              <a:lnSpc>
                <a:spcPct val="113000"/>
              </a:lnSpc>
              <a:spcBef>
                <a:spcPts val="375"/>
              </a:spcBef>
              <a:buNone/>
            </a:pPr>
            <a:r>
              <a:rPr lang="en-US" sz="2015"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国外技术成熟</a:t>
            </a:r>
            <a:endParaRPr lang="en-US" sz="1440" dirty="0"/>
          </a:p>
        </p:txBody>
      </p:sp>
      <p:sp>
        <p:nvSpPr>
          <p:cNvPr id="3" name="Shape 1"/>
          <p:cNvSpPr/>
          <p:nvPr/>
        </p:nvSpPr>
        <p:spPr>
          <a:xfrm>
            <a:off x="275547" y="2510489"/>
            <a:ext cx="1950182" cy="2207440"/>
          </a:xfrm>
          <a:custGeom>
            <a:avLst/>
            <a:gdLst/>
            <a:ahLst/>
            <a:cxnLst/>
            <a:rect l="l" t="t" r="r" b="b"/>
            <a:pathLst>
              <a:path w="1950182" h="2207440">
                <a:moveTo>
                  <a:pt x="0" y="0"/>
                </a:moveTo>
                <a:moveTo>
                  <a:pt x="0" y="0"/>
                </a:moveTo>
                <a:lnTo>
                  <a:pt x="1950182" y="0"/>
                </a:lnTo>
                <a:lnTo>
                  <a:pt x="1950182" y="2207440"/>
                </a:lnTo>
                <a:lnTo>
                  <a:pt x="0" y="2207440"/>
                </a:lnTo>
                <a:close/>
              </a:path>
            </a:pathLst>
          </a:custGeom>
          <a:solidFill>
            <a:srgbClr val="0084FF"/>
          </a:solidFill>
        </p:spPr>
      </p:sp>
      <p:sp>
        <p:nvSpPr>
          <p:cNvPr id="4" name="Shape 2"/>
          <p:cNvSpPr/>
          <p:nvPr/>
        </p:nvSpPr>
        <p:spPr>
          <a:xfrm>
            <a:off x="2310798" y="2030496"/>
            <a:ext cx="1950182" cy="2687432"/>
          </a:xfrm>
          <a:custGeom>
            <a:avLst/>
            <a:gdLst/>
            <a:ahLst/>
            <a:cxnLst/>
            <a:rect l="l" t="t" r="r" b="b"/>
            <a:pathLst>
              <a:path w="1950182" h="2687432">
                <a:moveTo>
                  <a:pt x="0" y="0"/>
                </a:moveTo>
                <a:moveTo>
                  <a:pt x="0" y="0"/>
                </a:moveTo>
                <a:lnTo>
                  <a:pt x="1950182" y="0"/>
                </a:lnTo>
                <a:lnTo>
                  <a:pt x="1950182" y="2687432"/>
                </a:lnTo>
                <a:lnTo>
                  <a:pt x="0" y="2687432"/>
                </a:lnTo>
                <a:close/>
              </a:path>
            </a:pathLst>
          </a:custGeom>
          <a:solidFill>
            <a:srgbClr val="0084FF"/>
          </a:solidFill>
        </p:spPr>
      </p:sp>
      <p:sp>
        <p:nvSpPr>
          <p:cNvPr id="5" name="Shape 3"/>
          <p:cNvSpPr/>
          <p:nvPr/>
        </p:nvSpPr>
        <p:spPr>
          <a:xfrm>
            <a:off x="4346048" y="1483296"/>
            <a:ext cx="1950308" cy="3234633"/>
          </a:xfrm>
          <a:custGeom>
            <a:avLst/>
            <a:gdLst/>
            <a:ahLst/>
            <a:cxnLst/>
            <a:rect l="l" t="t" r="r" b="b"/>
            <a:pathLst>
              <a:path w="1950308" h="3234633">
                <a:moveTo>
                  <a:pt x="0" y="0"/>
                </a:moveTo>
                <a:moveTo>
                  <a:pt x="0" y="0"/>
                </a:moveTo>
                <a:lnTo>
                  <a:pt x="1950308" y="0"/>
                </a:lnTo>
                <a:lnTo>
                  <a:pt x="1950308" y="3234633"/>
                </a:lnTo>
                <a:lnTo>
                  <a:pt x="0" y="3234633"/>
                </a:lnTo>
                <a:close/>
              </a:path>
            </a:pathLst>
          </a:custGeom>
          <a:solidFill>
            <a:srgbClr val="0084FF"/>
          </a:solidFill>
        </p:spPr>
      </p:sp>
      <p:sp>
        <p:nvSpPr>
          <p:cNvPr id="6" name="Text 4"/>
          <p:cNvSpPr/>
          <p:nvPr/>
        </p:nvSpPr>
        <p:spPr>
          <a:xfrm>
            <a:off x="275547" y="2510489"/>
            <a:ext cx="1950182" cy="797696"/>
          </a:xfrm>
          <a:prstGeom prst="rect">
            <a:avLst/>
          </a:prstGeom>
          <a:noFill/>
        </p:spPr>
        <p:txBody>
          <a:bodyPr wrap="square" lIns="95250" tIns="95250" rIns="95250" bIns="95250" rtlCol="0" anchor="ctr"/>
          <a:lstStyle/>
          <a:p>
            <a:pPr marL="0" indent="0">
              <a:lnSpc>
                <a:spcPct val="100000"/>
              </a:lnSpc>
              <a:spcBef>
                <a:spcPts val="375"/>
              </a:spcBef>
              <a:buNone/>
            </a:pPr>
            <a:r>
              <a:rPr lang="en-US" sz="1585" b="1" dirty="0">
                <a:solidFill>
                  <a:srgbClr val="FFFFFF"/>
                </a:solidFill>
                <a:latin typeface="Noto Sans" pitchFamily="34" charset="0"/>
                <a:ea typeface="Noto Sans" pitchFamily="34" charset="-122"/>
                <a:cs typeface="Noto Sans" pitchFamily="34" charset="-120"/>
              </a:rPr>
              <a:t>先进制造技术</a:t>
            </a:r>
            <a:endParaRPr lang="en-US" sz="1440" dirty="0"/>
          </a:p>
        </p:txBody>
      </p:sp>
      <p:pic>
        <p:nvPicPr>
          <p:cNvPr id="7" name="Image 0" descr="https://sgw-dx.xf-yun.com/api/v1/sparkdesk/_1744117074386ecbaea82c00d4e4aad050e6711a378af.jpg?authorization=c2ltcGxlLWp3dCBhaz1zcGFya2Rlc2s4MDAwMDAwMDAwMDE7ZXhwPTMzMjA5MTcwNzQ7YWxnbz1obWFjLXNoYTI1NjtzaWc9UnF3T3BuU0dORXk5dmNKbFVINTJjMllzc2Npd3NKYUlJcGlnR2wwSXFRdz0=&amp;x_location=7YfmxI7B7uKO7jlRxIftd6UoePD="/>
          <p:cNvPicPr>
            <a:picLocks noChangeAspect="1"/>
          </p:cNvPicPr>
          <p:nvPr/>
        </p:nvPicPr>
        <p:blipFill>
          <a:blip r:embed="rId4"/>
          <a:srcRect l="16667" r="16667"/>
          <a:stretch>
            <a:fillRect/>
          </a:stretch>
        </p:blipFill>
        <p:spPr>
          <a:xfrm>
            <a:off x="6381425" y="987386"/>
            <a:ext cx="2487028" cy="3730543"/>
          </a:xfrm>
          <a:prstGeom prst="rect">
            <a:avLst/>
          </a:prstGeom>
        </p:spPr>
      </p:pic>
      <p:sp>
        <p:nvSpPr>
          <p:cNvPr id="8" name="Text 5"/>
          <p:cNvSpPr/>
          <p:nvPr/>
        </p:nvSpPr>
        <p:spPr>
          <a:xfrm>
            <a:off x="275547" y="3220684"/>
            <a:ext cx="1950182" cy="1024128"/>
          </a:xfrm>
          <a:prstGeom prst="rect">
            <a:avLst/>
          </a:prstGeom>
          <a:noFill/>
        </p:spPr>
        <p:txBody>
          <a:bodyPr wrap="square" lIns="95250" tIns="95250" rIns="95250" bIns="95250" rtlCol="0" anchor="t">
            <a:spAutoFit/>
          </a:bodyPr>
          <a:lstStyle/>
          <a:p>
            <a:pPr marL="0" indent="0">
              <a:lnSpc>
                <a:spcPct val="100000"/>
              </a:lnSpc>
              <a:spcBef>
                <a:spcPts val="375"/>
              </a:spcBef>
              <a:buNone/>
            </a:pPr>
            <a:r>
              <a:rPr lang="en-US" sz="1150" dirty="0">
                <a:solidFill>
                  <a:srgbClr val="FFFFFF"/>
                </a:solidFill>
                <a:latin typeface="Noto Sans" pitchFamily="34" charset="0"/>
                <a:ea typeface="Noto Sans" pitchFamily="34" charset="-122"/>
                <a:cs typeface="Noto Sans" pitchFamily="34" charset="-120"/>
              </a:rPr>
              <a:t>国外在先进制造技术领域拥有深厚的积累，通过持续的研发投入和技术创新，实现了生产过程的自动化、智能化，显著提升了生产效率和产品质量。</a:t>
            </a:r>
            <a:endParaRPr lang="en-US" sz="1440" dirty="0"/>
          </a:p>
        </p:txBody>
      </p:sp>
      <p:sp>
        <p:nvSpPr>
          <p:cNvPr id="9" name="Text 6"/>
          <p:cNvSpPr/>
          <p:nvPr/>
        </p:nvSpPr>
        <p:spPr>
          <a:xfrm>
            <a:off x="2310798" y="2134379"/>
            <a:ext cx="1950182" cy="752219"/>
          </a:xfrm>
          <a:prstGeom prst="rect">
            <a:avLst/>
          </a:prstGeom>
          <a:noFill/>
        </p:spPr>
        <p:txBody>
          <a:bodyPr wrap="square" lIns="95250" tIns="95250" rIns="95250" bIns="95250" rtlCol="0" anchor="ctr"/>
          <a:lstStyle/>
          <a:p>
            <a:pPr marL="0" indent="0">
              <a:lnSpc>
                <a:spcPct val="100000"/>
              </a:lnSpc>
              <a:spcBef>
                <a:spcPts val="375"/>
              </a:spcBef>
              <a:buNone/>
            </a:pPr>
            <a:r>
              <a:rPr lang="en-US" sz="1585" b="1" dirty="0">
                <a:solidFill>
                  <a:srgbClr val="FFFFFF"/>
                </a:solidFill>
                <a:latin typeface="Noto Sans" pitchFamily="34" charset="0"/>
                <a:ea typeface="Noto Sans" pitchFamily="34" charset="-122"/>
                <a:cs typeface="Noto Sans" pitchFamily="34" charset="-120"/>
              </a:rPr>
              <a:t>清洁能源技术</a:t>
            </a:r>
            <a:endParaRPr lang="en-US" sz="1440" dirty="0"/>
          </a:p>
        </p:txBody>
      </p:sp>
      <p:sp>
        <p:nvSpPr>
          <p:cNvPr id="10" name="Text 7"/>
          <p:cNvSpPr/>
          <p:nvPr/>
        </p:nvSpPr>
        <p:spPr>
          <a:xfrm>
            <a:off x="2310798" y="2996607"/>
            <a:ext cx="1950182" cy="1024128"/>
          </a:xfrm>
          <a:prstGeom prst="rect">
            <a:avLst/>
          </a:prstGeom>
          <a:noFill/>
        </p:spPr>
        <p:txBody>
          <a:bodyPr wrap="square" lIns="95250" tIns="95250" rIns="95250" bIns="95250" rtlCol="0" anchor="t">
            <a:spAutoFit/>
          </a:bodyPr>
          <a:lstStyle/>
          <a:p>
            <a:pPr marL="0" indent="0">
              <a:lnSpc>
                <a:spcPct val="100000"/>
              </a:lnSpc>
              <a:spcBef>
                <a:spcPts val="375"/>
              </a:spcBef>
              <a:buNone/>
            </a:pPr>
            <a:r>
              <a:rPr lang="en-US" sz="1150" dirty="0">
                <a:solidFill>
                  <a:srgbClr val="FFFFFF"/>
                </a:solidFill>
                <a:latin typeface="Noto Sans" pitchFamily="34" charset="0"/>
                <a:ea typeface="Noto Sans" pitchFamily="34" charset="-122"/>
                <a:cs typeface="Noto Sans" pitchFamily="34" charset="-120"/>
              </a:rPr>
              <a:t>国外在清洁能源技术方面取得了显著成就，特别是在太阳能、风能等可再生能源的利用上，不仅技术成熟，而且应用广泛，有效促进了能源结构的优化和环境保护。</a:t>
            </a:r>
            <a:endParaRPr lang="en-US" sz="1440" dirty="0"/>
          </a:p>
        </p:txBody>
      </p:sp>
      <p:sp>
        <p:nvSpPr>
          <p:cNvPr id="11" name="Text 8"/>
          <p:cNvSpPr/>
          <p:nvPr/>
        </p:nvSpPr>
        <p:spPr>
          <a:xfrm>
            <a:off x="4346111" y="1694495"/>
            <a:ext cx="1950182" cy="841565"/>
          </a:xfrm>
          <a:prstGeom prst="rect">
            <a:avLst/>
          </a:prstGeom>
          <a:noFill/>
        </p:spPr>
        <p:txBody>
          <a:bodyPr wrap="square" lIns="95250" tIns="95250" rIns="95250" bIns="95250" rtlCol="0" anchor="ctr"/>
          <a:lstStyle/>
          <a:p>
            <a:pPr marL="0" indent="0">
              <a:lnSpc>
                <a:spcPct val="100000"/>
              </a:lnSpc>
              <a:spcBef>
                <a:spcPts val="375"/>
              </a:spcBef>
              <a:buNone/>
            </a:pPr>
            <a:r>
              <a:rPr lang="en-US" sz="1585" b="1" dirty="0">
                <a:solidFill>
                  <a:srgbClr val="FFFFFF"/>
                </a:solidFill>
                <a:latin typeface="Noto Sans" pitchFamily="34" charset="0"/>
                <a:ea typeface="Noto Sans" pitchFamily="34" charset="-122"/>
                <a:cs typeface="Noto Sans" pitchFamily="34" charset="-120"/>
              </a:rPr>
              <a:t>信息技术与通信</a:t>
            </a:r>
            <a:endParaRPr lang="en-US" sz="1440" dirty="0"/>
          </a:p>
        </p:txBody>
      </p:sp>
      <p:sp>
        <p:nvSpPr>
          <p:cNvPr id="12" name="Text 9"/>
          <p:cNvSpPr/>
          <p:nvPr/>
        </p:nvSpPr>
        <p:spPr>
          <a:xfrm>
            <a:off x="4346048" y="2607712"/>
            <a:ext cx="1950182" cy="1024128"/>
          </a:xfrm>
          <a:prstGeom prst="rect">
            <a:avLst/>
          </a:prstGeom>
          <a:noFill/>
        </p:spPr>
        <p:txBody>
          <a:bodyPr wrap="square" lIns="95250" tIns="95250" rIns="95250" bIns="95250" rtlCol="0" anchor="t">
            <a:spAutoFit/>
          </a:bodyPr>
          <a:lstStyle/>
          <a:p>
            <a:pPr marL="0" indent="0">
              <a:lnSpc>
                <a:spcPct val="100000"/>
              </a:lnSpc>
              <a:spcBef>
                <a:spcPts val="375"/>
              </a:spcBef>
              <a:buNone/>
            </a:pPr>
            <a:r>
              <a:rPr lang="en-US" sz="1150" dirty="0">
                <a:solidFill>
                  <a:srgbClr val="FFFFFF"/>
                </a:solidFill>
                <a:latin typeface="Noto Sans" pitchFamily="34" charset="0"/>
                <a:ea typeface="Noto Sans" pitchFamily="34" charset="-122"/>
                <a:cs typeface="Noto Sans" pitchFamily="34" charset="-120"/>
              </a:rPr>
              <a:t>国外的信息技术与通信领域发展迅速，5G、物联网、大数据等前沿技术已广泛应用，极大地推动了社会信息化进程，提高了数据处理能力和通信效率。</a:t>
            </a:r>
            <a:endParaRPr lang="en-US" sz="144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246639" y="1071087"/>
            <a:ext cx="2055531" cy="1883664"/>
          </a:xfrm>
          <a:prstGeom prst="rect">
            <a:avLst/>
          </a:prstGeom>
          <a:noFill/>
        </p:spPr>
        <p:txBody>
          <a:bodyPr wrap="square" lIns="95250" tIns="95250" rIns="95250" bIns="95250" rtlCol="0" anchor="t"/>
          <a:lstStyle/>
          <a:p>
            <a:pPr marL="0" indent="0" algn="ctr">
              <a:lnSpc>
                <a:spcPct val="113000"/>
              </a:lnSpc>
              <a:spcBef>
                <a:spcPts val="375"/>
              </a:spcBef>
              <a:buNone/>
            </a:pPr>
            <a:r>
              <a:rPr lang="en-US" sz="8930" b="1" dirty="0">
                <a:solidFill>
                  <a:srgbClr val="2A5899"/>
                </a:solidFill>
                <a:latin typeface="微软雅黑" panose="020B0503020204020204" pitchFamily="34" charset="-122"/>
                <a:ea typeface="微软雅黑" panose="020B0503020204020204" pitchFamily="34" charset="-122"/>
                <a:cs typeface="微软雅黑" panose="020B0503020204020204" pitchFamily="34" charset="-120"/>
              </a:rPr>
              <a:t>06</a:t>
            </a:r>
            <a:endParaRPr lang="en-US" sz="1440" dirty="0"/>
          </a:p>
        </p:txBody>
      </p:sp>
      <p:sp>
        <p:nvSpPr>
          <p:cNvPr id="3" name="Text 1"/>
          <p:cNvSpPr/>
          <p:nvPr/>
        </p:nvSpPr>
        <p:spPr>
          <a:xfrm>
            <a:off x="497579" y="2595807"/>
            <a:ext cx="5218432" cy="813816"/>
          </a:xfrm>
          <a:prstGeom prst="rect">
            <a:avLst/>
          </a:prstGeom>
          <a:noFill/>
        </p:spPr>
        <p:txBody>
          <a:bodyPr wrap="square" lIns="95250" tIns="95250" rIns="95250" bIns="95250" rtlCol="0" anchor="t"/>
          <a:lstStyle/>
          <a:p>
            <a:pPr marL="0" indent="0">
              <a:lnSpc>
                <a:spcPct val="113000"/>
              </a:lnSpc>
              <a:spcBef>
                <a:spcPts val="375"/>
              </a:spcBef>
              <a:buNone/>
            </a:pPr>
            <a:r>
              <a:rPr lang="en-US" sz="3310" b="1" dirty="0">
                <a:solidFill>
                  <a:srgbClr val="272245"/>
                </a:solidFill>
                <a:latin typeface="微软雅黑" panose="020B0503020204020204" pitchFamily="34" charset="-122"/>
                <a:ea typeface="微软雅黑" panose="020B0503020204020204" pitchFamily="34" charset="-122"/>
                <a:cs typeface="微软雅黑" panose="020B0503020204020204" pitchFamily="34" charset="-120"/>
              </a:rPr>
              <a:t>平台功能模块</a:t>
            </a:r>
            <a:endParaRPr lang="en-US" sz="1440" dirty="0"/>
          </a:p>
        </p:txBody>
      </p:sp>
      <p:pic>
        <p:nvPicPr>
          <p:cNvPr id="4" name="Image 0" descr="https://sgw-dx.xf-yun.com/api/v1/sparkdesk/_19052329831_fVPc9i1733712667757-005544323224029091.png?authorization=c2ltcGxlLWp3dCBhaz1zcGFya2Rlc2s4MDAwMDAwMDAwMDE7ZXhwPTMzMTA1MTI2Nzk7YWxnbz1obWFjLXNoYTI1NjtzaWc9a2pCNm01T2o4VEJER0o1Q3FOV2VJYUpvODByWkFQclRoZVRqRnpXRnY1Yz0=&amp;x_location=7YfmxI7B7uKO7jlRxIftd60Ye5D="/>
          <p:cNvPicPr>
            <a:picLocks noChangeAspect="1"/>
          </p:cNvPicPr>
          <p:nvPr/>
        </p:nvPicPr>
        <p:blipFill>
          <a:blip r:embed="rId4"/>
          <a:stretch>
            <a:fillRect/>
          </a:stretch>
        </p:blipFill>
        <p:spPr>
          <a:xfrm>
            <a:off x="590374" y="2550087"/>
            <a:ext cx="2848105" cy="18288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283641" y="190697"/>
            <a:ext cx="8088253" cy="566928"/>
          </a:xfrm>
          <a:prstGeom prst="rect">
            <a:avLst/>
          </a:prstGeom>
          <a:noFill/>
        </p:spPr>
        <p:txBody>
          <a:bodyPr wrap="square" lIns="95250" tIns="95250" rIns="95250" bIns="95250" rtlCol="0" anchor="t"/>
          <a:lstStyle/>
          <a:p>
            <a:pPr marL="0" indent="0">
              <a:lnSpc>
                <a:spcPct val="113000"/>
              </a:lnSpc>
              <a:spcBef>
                <a:spcPts val="375"/>
              </a:spcBef>
              <a:buNone/>
            </a:pPr>
            <a:r>
              <a:rPr lang="en-US" sz="2015"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用户行为数据整合</a:t>
            </a:r>
            <a:endParaRPr lang="en-US" sz="1440" dirty="0"/>
          </a:p>
        </p:txBody>
      </p:sp>
      <p:pic>
        <p:nvPicPr>
          <p:cNvPr id="3" name="Image 0" descr="preencoded.png"/>
          <p:cNvPicPr>
            <a:picLocks noChangeAspect="1"/>
          </p:cNvPicPr>
          <p:nvPr/>
        </p:nvPicPr>
        <p:blipFill>
          <a:blip r:embed="rId4"/>
          <a:stretch>
            <a:fillRect/>
          </a:stretch>
        </p:blipFill>
        <p:spPr>
          <a:xfrm>
            <a:off x="1112410" y="1125448"/>
            <a:ext cx="990933" cy="1431347"/>
          </a:xfrm>
          <a:prstGeom prst="rect">
            <a:avLst/>
          </a:prstGeom>
        </p:spPr>
      </p:pic>
      <p:sp>
        <p:nvSpPr>
          <p:cNvPr id="4" name="Text 1"/>
          <p:cNvSpPr/>
          <p:nvPr/>
        </p:nvSpPr>
        <p:spPr>
          <a:xfrm>
            <a:off x="1250831" y="1156121"/>
            <a:ext cx="714089" cy="1033272"/>
          </a:xfrm>
          <a:prstGeom prst="rect">
            <a:avLst/>
          </a:prstGeom>
          <a:noFill/>
        </p:spPr>
        <p:txBody>
          <a:bodyPr wrap="square" lIns="95250" tIns="95250" rIns="95250" bIns="95250" rtlCol="0" anchor="ctr">
            <a:spAutoFit/>
          </a:bodyPr>
          <a:lstStyle/>
          <a:p>
            <a:pPr marL="0" indent="0" algn="ctr">
              <a:lnSpc>
                <a:spcPct val="113000"/>
              </a:lnSpc>
              <a:spcBef>
                <a:spcPts val="375"/>
              </a:spcBef>
              <a:buNone/>
            </a:pPr>
            <a:r>
              <a:rPr lang="en-US" sz="4465" b="1" dirty="0">
                <a:solidFill>
                  <a:srgbClr val="FFFFFF"/>
                </a:solidFill>
                <a:latin typeface="Noto Sans" pitchFamily="34" charset="0"/>
                <a:ea typeface="Noto Sans" pitchFamily="34" charset="-122"/>
                <a:cs typeface="Noto Sans" pitchFamily="34" charset="-120"/>
              </a:rPr>
              <a:t>1</a:t>
            </a:r>
            <a:endParaRPr lang="en-US" sz="1440" dirty="0"/>
          </a:p>
        </p:txBody>
      </p:sp>
      <p:pic>
        <p:nvPicPr>
          <p:cNvPr id="5" name="Image 1" descr="preencoded.png"/>
          <p:cNvPicPr>
            <a:picLocks noChangeAspect="1"/>
          </p:cNvPicPr>
          <p:nvPr/>
        </p:nvPicPr>
        <p:blipFill>
          <a:blip r:embed="rId5"/>
          <a:stretch>
            <a:fillRect/>
          </a:stretch>
        </p:blipFill>
        <p:spPr>
          <a:xfrm>
            <a:off x="4076377" y="1125448"/>
            <a:ext cx="990933" cy="1431347"/>
          </a:xfrm>
          <a:prstGeom prst="rect">
            <a:avLst/>
          </a:prstGeom>
        </p:spPr>
      </p:pic>
      <p:sp>
        <p:nvSpPr>
          <p:cNvPr id="6" name="Text 2"/>
          <p:cNvSpPr/>
          <p:nvPr/>
        </p:nvSpPr>
        <p:spPr>
          <a:xfrm>
            <a:off x="4214798" y="1156121"/>
            <a:ext cx="714089" cy="1033272"/>
          </a:xfrm>
          <a:prstGeom prst="rect">
            <a:avLst/>
          </a:prstGeom>
          <a:noFill/>
        </p:spPr>
        <p:txBody>
          <a:bodyPr wrap="square" lIns="95250" tIns="95250" rIns="95250" bIns="95250" rtlCol="0" anchor="ctr">
            <a:spAutoFit/>
          </a:bodyPr>
          <a:lstStyle/>
          <a:p>
            <a:pPr marL="0" indent="0" algn="ctr">
              <a:lnSpc>
                <a:spcPct val="113000"/>
              </a:lnSpc>
              <a:spcBef>
                <a:spcPts val="375"/>
              </a:spcBef>
              <a:buNone/>
            </a:pPr>
            <a:r>
              <a:rPr lang="en-US" sz="4465" b="1" dirty="0">
                <a:solidFill>
                  <a:srgbClr val="FFFFFF"/>
                </a:solidFill>
                <a:latin typeface="Noto Sans" pitchFamily="34" charset="0"/>
                <a:ea typeface="Noto Sans" pitchFamily="34" charset="-122"/>
                <a:cs typeface="Noto Sans" pitchFamily="34" charset="-120"/>
              </a:rPr>
              <a:t>2</a:t>
            </a:r>
            <a:endParaRPr lang="en-US" sz="1440" dirty="0"/>
          </a:p>
        </p:txBody>
      </p:sp>
      <p:pic>
        <p:nvPicPr>
          <p:cNvPr id="7" name="Image 2" descr="preencoded.png"/>
          <p:cNvPicPr>
            <a:picLocks noChangeAspect="1"/>
          </p:cNvPicPr>
          <p:nvPr/>
        </p:nvPicPr>
        <p:blipFill>
          <a:blip r:embed="rId4"/>
          <a:stretch>
            <a:fillRect/>
          </a:stretch>
        </p:blipFill>
        <p:spPr>
          <a:xfrm>
            <a:off x="7040501" y="1125448"/>
            <a:ext cx="990933" cy="1431347"/>
          </a:xfrm>
          <a:prstGeom prst="rect">
            <a:avLst/>
          </a:prstGeom>
        </p:spPr>
      </p:pic>
      <p:sp>
        <p:nvSpPr>
          <p:cNvPr id="8" name="Text 3"/>
          <p:cNvSpPr/>
          <p:nvPr/>
        </p:nvSpPr>
        <p:spPr>
          <a:xfrm>
            <a:off x="7178922" y="1156121"/>
            <a:ext cx="714089" cy="1033272"/>
          </a:xfrm>
          <a:prstGeom prst="rect">
            <a:avLst/>
          </a:prstGeom>
          <a:noFill/>
        </p:spPr>
        <p:txBody>
          <a:bodyPr wrap="square" lIns="95250" tIns="95250" rIns="95250" bIns="95250" rtlCol="0" anchor="ctr">
            <a:spAutoFit/>
          </a:bodyPr>
          <a:lstStyle/>
          <a:p>
            <a:pPr marL="0" indent="0" algn="ctr">
              <a:lnSpc>
                <a:spcPct val="113000"/>
              </a:lnSpc>
              <a:spcBef>
                <a:spcPts val="375"/>
              </a:spcBef>
              <a:buNone/>
            </a:pPr>
            <a:r>
              <a:rPr lang="en-US" sz="4465" b="1" dirty="0">
                <a:solidFill>
                  <a:srgbClr val="FFFFFF"/>
                </a:solidFill>
                <a:latin typeface="Noto Sans" pitchFamily="34" charset="0"/>
                <a:ea typeface="Noto Sans" pitchFamily="34" charset="-122"/>
                <a:cs typeface="Noto Sans" pitchFamily="34" charset="-120"/>
              </a:rPr>
              <a:t>3</a:t>
            </a:r>
            <a:endParaRPr lang="en-US" sz="1440" dirty="0"/>
          </a:p>
        </p:txBody>
      </p:sp>
      <p:sp>
        <p:nvSpPr>
          <p:cNvPr id="9" name="Text 4"/>
          <p:cNvSpPr/>
          <p:nvPr/>
        </p:nvSpPr>
        <p:spPr>
          <a:xfrm>
            <a:off x="254264" y="2737892"/>
            <a:ext cx="2707225" cy="374904"/>
          </a:xfrm>
          <a:prstGeom prst="rect">
            <a:avLst/>
          </a:prstGeom>
          <a:noFill/>
        </p:spPr>
        <p:txBody>
          <a:bodyPr wrap="square" lIns="95250" tIns="95250" rIns="95250" bIns="95250" rtlCol="0" anchor="ctr"/>
          <a:lstStyle/>
          <a:p>
            <a:pPr marL="0" indent="0" algn="ctr">
              <a:lnSpc>
                <a:spcPct val="100000"/>
              </a:lnSpc>
              <a:spcBef>
                <a:spcPts val="375"/>
              </a:spcBef>
              <a:buNone/>
            </a:pPr>
            <a:r>
              <a:rPr lang="en-US" sz="1585" b="1" dirty="0">
                <a:solidFill>
                  <a:srgbClr val="2A5899"/>
                </a:solidFill>
                <a:latin typeface="Noto Sans" pitchFamily="34" charset="0"/>
                <a:ea typeface="Noto Sans" pitchFamily="34" charset="-122"/>
                <a:cs typeface="Noto Sans" pitchFamily="34" charset="-120"/>
              </a:rPr>
              <a:t>数据收集与预处理</a:t>
            </a:r>
            <a:endParaRPr lang="en-US" sz="1440" dirty="0"/>
          </a:p>
        </p:txBody>
      </p:sp>
      <p:sp>
        <p:nvSpPr>
          <p:cNvPr id="10" name="Text 5"/>
          <p:cNvSpPr/>
          <p:nvPr/>
        </p:nvSpPr>
        <p:spPr>
          <a:xfrm>
            <a:off x="474071" y="3195092"/>
            <a:ext cx="2267609" cy="1024128"/>
          </a:xfrm>
          <a:prstGeom prst="rect">
            <a:avLst/>
          </a:prstGeom>
          <a:noFill/>
        </p:spPr>
        <p:txBody>
          <a:bodyPr wrap="square" lIns="95250" tIns="95250" rIns="95250" bIns="95250" rtlCol="0" anchor="t">
            <a:spAutoFit/>
          </a:bodyPr>
          <a:lstStyle/>
          <a:p>
            <a:pPr marL="0" indent="0" algn="ctr">
              <a:lnSpc>
                <a:spcPct val="100000"/>
              </a:lnSpc>
              <a:spcBef>
                <a:spcPts val="375"/>
              </a:spcBef>
              <a:buNone/>
            </a:pPr>
            <a:r>
              <a:rPr lang="en-US" sz="1150" dirty="0">
                <a:solidFill>
                  <a:srgbClr val="272245"/>
                </a:solidFill>
                <a:latin typeface="Noto Sans" pitchFamily="34" charset="0"/>
                <a:ea typeface="Noto Sans" pitchFamily="34" charset="-122"/>
                <a:cs typeface="Noto Sans" pitchFamily="34" charset="-120"/>
              </a:rPr>
              <a:t>通过多渠道收集用户行为数据，并进行清洗和预处理，确保数据的质量和完整性，为后续的用户画像构建和行为分析打下坚实基础。</a:t>
            </a:r>
            <a:endParaRPr lang="en-US" sz="1440" dirty="0"/>
          </a:p>
        </p:txBody>
      </p:sp>
      <p:sp>
        <p:nvSpPr>
          <p:cNvPr id="11" name="Text 6"/>
          <p:cNvSpPr/>
          <p:nvPr/>
        </p:nvSpPr>
        <p:spPr>
          <a:xfrm>
            <a:off x="3218074" y="2737892"/>
            <a:ext cx="2707538" cy="374904"/>
          </a:xfrm>
          <a:prstGeom prst="rect">
            <a:avLst/>
          </a:prstGeom>
          <a:noFill/>
        </p:spPr>
        <p:txBody>
          <a:bodyPr wrap="square" lIns="95250" tIns="95250" rIns="95250" bIns="95250" rtlCol="0" anchor="ctr"/>
          <a:lstStyle/>
          <a:p>
            <a:pPr marL="0" indent="0" algn="ctr">
              <a:lnSpc>
                <a:spcPct val="100000"/>
              </a:lnSpc>
              <a:spcBef>
                <a:spcPts val="375"/>
              </a:spcBef>
              <a:buNone/>
            </a:pPr>
            <a:r>
              <a:rPr lang="en-US" sz="1585" b="1" dirty="0">
                <a:solidFill>
                  <a:srgbClr val="459DF3"/>
                </a:solidFill>
                <a:latin typeface="Noto Sans" pitchFamily="34" charset="0"/>
                <a:ea typeface="Noto Sans" pitchFamily="34" charset="-122"/>
                <a:cs typeface="Noto Sans" pitchFamily="34" charset="-120"/>
              </a:rPr>
              <a:t>用户画像与行为分析</a:t>
            </a:r>
            <a:endParaRPr lang="en-US" sz="1440" dirty="0"/>
          </a:p>
        </p:txBody>
      </p:sp>
      <p:sp>
        <p:nvSpPr>
          <p:cNvPr id="12" name="Text 7"/>
          <p:cNvSpPr/>
          <p:nvPr/>
        </p:nvSpPr>
        <p:spPr>
          <a:xfrm>
            <a:off x="3438038" y="3195092"/>
            <a:ext cx="2267609" cy="1024128"/>
          </a:xfrm>
          <a:prstGeom prst="rect">
            <a:avLst/>
          </a:prstGeom>
          <a:noFill/>
        </p:spPr>
        <p:txBody>
          <a:bodyPr wrap="square" lIns="95250" tIns="95250" rIns="95250" bIns="95250" rtlCol="0" anchor="t">
            <a:spAutoFit/>
          </a:bodyPr>
          <a:lstStyle/>
          <a:p>
            <a:pPr marL="0" indent="0" algn="ctr">
              <a:lnSpc>
                <a:spcPct val="100000"/>
              </a:lnSpc>
              <a:spcBef>
                <a:spcPts val="375"/>
              </a:spcBef>
              <a:buNone/>
            </a:pPr>
            <a:r>
              <a:rPr lang="en-US" sz="1150" dirty="0">
                <a:solidFill>
                  <a:srgbClr val="272245"/>
                </a:solidFill>
                <a:latin typeface="Noto Sans" pitchFamily="34" charset="0"/>
                <a:ea typeface="Noto Sans" pitchFamily="34" charset="-122"/>
                <a:cs typeface="Noto Sans" pitchFamily="34" charset="-120"/>
              </a:rPr>
              <a:t>利用机器学习技术对处理后的数据进行深度分析，构建详细的用户画像，揭示用户的偏好和消费习惯，为个性化推荐提供科学依据。</a:t>
            </a:r>
            <a:endParaRPr lang="en-US" sz="1440" dirty="0"/>
          </a:p>
        </p:txBody>
      </p:sp>
      <p:sp>
        <p:nvSpPr>
          <p:cNvPr id="13" name="Text 8"/>
          <p:cNvSpPr/>
          <p:nvPr/>
        </p:nvSpPr>
        <p:spPr>
          <a:xfrm>
            <a:off x="6182198" y="2737892"/>
            <a:ext cx="2707538" cy="374904"/>
          </a:xfrm>
          <a:prstGeom prst="rect">
            <a:avLst/>
          </a:prstGeom>
          <a:noFill/>
        </p:spPr>
        <p:txBody>
          <a:bodyPr wrap="square" lIns="95250" tIns="95250" rIns="95250" bIns="95250" rtlCol="0" anchor="ctr"/>
          <a:lstStyle/>
          <a:p>
            <a:pPr marL="0" indent="0" algn="ctr">
              <a:lnSpc>
                <a:spcPct val="100000"/>
              </a:lnSpc>
              <a:spcBef>
                <a:spcPts val="375"/>
              </a:spcBef>
              <a:buNone/>
            </a:pPr>
            <a:r>
              <a:rPr lang="en-US" sz="1585" b="1" dirty="0">
                <a:solidFill>
                  <a:srgbClr val="2A5899"/>
                </a:solidFill>
                <a:latin typeface="Noto Sans" pitchFamily="34" charset="0"/>
                <a:ea typeface="Noto Sans" pitchFamily="34" charset="-122"/>
                <a:cs typeface="Noto Sans" pitchFamily="34" charset="-120"/>
              </a:rPr>
              <a:t>实时数据处理与隐私保护</a:t>
            </a:r>
            <a:endParaRPr lang="en-US" sz="1440" dirty="0"/>
          </a:p>
        </p:txBody>
      </p:sp>
      <p:sp>
        <p:nvSpPr>
          <p:cNvPr id="14" name="Text 9"/>
          <p:cNvSpPr/>
          <p:nvPr/>
        </p:nvSpPr>
        <p:spPr>
          <a:xfrm>
            <a:off x="6402162" y="3195092"/>
            <a:ext cx="2267609" cy="1024128"/>
          </a:xfrm>
          <a:prstGeom prst="rect">
            <a:avLst/>
          </a:prstGeom>
          <a:noFill/>
        </p:spPr>
        <p:txBody>
          <a:bodyPr wrap="square" lIns="95250" tIns="95250" rIns="95250" bIns="95250" rtlCol="0" anchor="t">
            <a:spAutoFit/>
          </a:bodyPr>
          <a:lstStyle/>
          <a:p>
            <a:pPr marL="0" indent="0" algn="ctr">
              <a:lnSpc>
                <a:spcPct val="100000"/>
              </a:lnSpc>
              <a:spcBef>
                <a:spcPts val="375"/>
              </a:spcBef>
              <a:buNone/>
            </a:pPr>
            <a:r>
              <a:rPr lang="en-US" sz="1150" dirty="0">
                <a:solidFill>
                  <a:srgbClr val="272245"/>
                </a:solidFill>
                <a:latin typeface="Noto Sans" pitchFamily="34" charset="0"/>
                <a:ea typeface="Noto Sans" pitchFamily="34" charset="-122"/>
                <a:cs typeface="Noto Sans" pitchFamily="34" charset="-120"/>
              </a:rPr>
              <a:t>平台需具备实时数据处理能力，即时更新推荐结果，同时采取加密存储和匿名化处理等措施，确保用户数据的安全和隐私。</a:t>
            </a:r>
            <a:endParaRPr lang="en-US" sz="144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283641" y="190697"/>
            <a:ext cx="8088253" cy="566928"/>
          </a:xfrm>
          <a:prstGeom prst="rect">
            <a:avLst/>
          </a:prstGeom>
          <a:noFill/>
        </p:spPr>
        <p:txBody>
          <a:bodyPr wrap="square" lIns="95250" tIns="95250" rIns="95250" bIns="95250" rtlCol="0" anchor="t"/>
          <a:lstStyle/>
          <a:p>
            <a:pPr marL="0" indent="0">
              <a:lnSpc>
                <a:spcPct val="113000"/>
              </a:lnSpc>
              <a:spcBef>
                <a:spcPts val="375"/>
              </a:spcBef>
              <a:buNone/>
            </a:pPr>
            <a:r>
              <a:rPr lang="en-US" sz="2015"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实现个性化推荐</a:t>
            </a:r>
            <a:endParaRPr lang="en-US" sz="1440" dirty="0"/>
          </a:p>
        </p:txBody>
      </p:sp>
      <p:sp>
        <p:nvSpPr>
          <p:cNvPr id="3" name="Text 1"/>
          <p:cNvSpPr/>
          <p:nvPr/>
        </p:nvSpPr>
        <p:spPr>
          <a:xfrm>
            <a:off x="245637" y="978502"/>
            <a:ext cx="878203" cy="813816"/>
          </a:xfrm>
          <a:prstGeom prst="rect">
            <a:avLst/>
          </a:prstGeom>
          <a:noFill/>
        </p:spPr>
        <p:txBody>
          <a:bodyPr wrap="square" lIns="95250" tIns="95250" rIns="95250" bIns="95250" rtlCol="0" anchor="ctr">
            <a:spAutoFit/>
          </a:bodyPr>
          <a:lstStyle/>
          <a:p>
            <a:pPr marL="0" indent="0" algn="ctr">
              <a:lnSpc>
                <a:spcPct val="113000"/>
              </a:lnSpc>
              <a:spcBef>
                <a:spcPts val="375"/>
              </a:spcBef>
              <a:buNone/>
            </a:pPr>
            <a:r>
              <a:rPr lang="en-US" sz="3310" b="1" dirty="0">
                <a:solidFill>
                  <a:srgbClr val="2A5899"/>
                </a:solidFill>
                <a:latin typeface="Noto Sans" pitchFamily="34" charset="0"/>
                <a:ea typeface="Noto Sans" pitchFamily="34" charset="-122"/>
                <a:cs typeface="Noto Sans" pitchFamily="34" charset="-120"/>
              </a:rPr>
              <a:t>01</a:t>
            </a:r>
            <a:endParaRPr lang="en-US" sz="1440" dirty="0"/>
          </a:p>
        </p:txBody>
      </p:sp>
      <p:sp>
        <p:nvSpPr>
          <p:cNvPr id="4" name="Text 2"/>
          <p:cNvSpPr/>
          <p:nvPr/>
        </p:nvSpPr>
        <p:spPr>
          <a:xfrm>
            <a:off x="2457840" y="978502"/>
            <a:ext cx="878203" cy="813816"/>
          </a:xfrm>
          <a:prstGeom prst="rect">
            <a:avLst/>
          </a:prstGeom>
          <a:noFill/>
        </p:spPr>
        <p:txBody>
          <a:bodyPr wrap="square" lIns="95250" tIns="95250" rIns="95250" bIns="95250" rtlCol="0" anchor="ctr">
            <a:spAutoFit/>
          </a:bodyPr>
          <a:lstStyle/>
          <a:p>
            <a:pPr marL="0" indent="0" algn="ctr">
              <a:lnSpc>
                <a:spcPct val="113000"/>
              </a:lnSpc>
              <a:spcBef>
                <a:spcPts val="375"/>
              </a:spcBef>
              <a:buNone/>
            </a:pPr>
            <a:r>
              <a:rPr lang="en-US" sz="3310" b="1" dirty="0">
                <a:solidFill>
                  <a:srgbClr val="459DF3"/>
                </a:solidFill>
                <a:latin typeface="Noto Sans" pitchFamily="34" charset="0"/>
                <a:ea typeface="Noto Sans" pitchFamily="34" charset="-122"/>
                <a:cs typeface="Noto Sans" pitchFamily="34" charset="-120"/>
              </a:rPr>
              <a:t>02</a:t>
            </a:r>
            <a:endParaRPr lang="en-US" sz="1440" dirty="0"/>
          </a:p>
        </p:txBody>
      </p:sp>
      <p:sp>
        <p:nvSpPr>
          <p:cNvPr id="5" name="Text 3"/>
          <p:cNvSpPr/>
          <p:nvPr/>
        </p:nvSpPr>
        <p:spPr>
          <a:xfrm>
            <a:off x="4595299" y="978502"/>
            <a:ext cx="878203" cy="813816"/>
          </a:xfrm>
          <a:prstGeom prst="rect">
            <a:avLst/>
          </a:prstGeom>
          <a:noFill/>
        </p:spPr>
        <p:txBody>
          <a:bodyPr wrap="square" lIns="95250" tIns="95250" rIns="95250" bIns="95250" rtlCol="0" anchor="ctr">
            <a:spAutoFit/>
          </a:bodyPr>
          <a:lstStyle/>
          <a:p>
            <a:pPr marL="0" indent="0" algn="ctr">
              <a:lnSpc>
                <a:spcPct val="113000"/>
              </a:lnSpc>
              <a:spcBef>
                <a:spcPts val="375"/>
              </a:spcBef>
              <a:buNone/>
            </a:pPr>
            <a:r>
              <a:rPr lang="en-US" sz="3310" b="1" dirty="0">
                <a:solidFill>
                  <a:srgbClr val="2A5899"/>
                </a:solidFill>
                <a:latin typeface="Noto Sans" pitchFamily="34" charset="0"/>
                <a:ea typeface="Noto Sans" pitchFamily="34" charset="-122"/>
                <a:cs typeface="Noto Sans" pitchFamily="34" charset="-120"/>
              </a:rPr>
              <a:t>03</a:t>
            </a:r>
            <a:endParaRPr lang="en-US" sz="1440" dirty="0"/>
          </a:p>
        </p:txBody>
      </p:sp>
      <p:sp>
        <p:nvSpPr>
          <p:cNvPr id="6" name="Text 4"/>
          <p:cNvSpPr/>
          <p:nvPr/>
        </p:nvSpPr>
        <p:spPr>
          <a:xfrm>
            <a:off x="319916" y="1796031"/>
            <a:ext cx="1976937" cy="383070"/>
          </a:xfrm>
          <a:prstGeom prst="rect">
            <a:avLst/>
          </a:prstGeom>
          <a:noFill/>
        </p:spPr>
        <p:txBody>
          <a:bodyPr wrap="square" lIns="95250" tIns="95250" rIns="95250" bIns="95250" rtlCol="0" anchor="t"/>
          <a:lstStyle/>
          <a:p>
            <a:pPr marL="0" indent="0">
              <a:lnSpc>
                <a:spcPct val="100000"/>
              </a:lnSpc>
              <a:spcBef>
                <a:spcPts val="375"/>
              </a:spcBef>
              <a:buNone/>
            </a:pPr>
            <a:r>
              <a:rPr lang="en-US" sz="1585" b="1" dirty="0">
                <a:solidFill>
                  <a:srgbClr val="272245"/>
                </a:solidFill>
                <a:latin typeface="Noto Sans" pitchFamily="34" charset="0"/>
                <a:ea typeface="Noto Sans" pitchFamily="34" charset="-122"/>
                <a:cs typeface="Noto Sans" pitchFamily="34" charset="-120"/>
              </a:rPr>
              <a:t>用户行为数据分析</a:t>
            </a:r>
            <a:endParaRPr lang="en-US" sz="1440" dirty="0"/>
          </a:p>
        </p:txBody>
      </p:sp>
      <p:pic>
        <p:nvPicPr>
          <p:cNvPr id="7" name="Image 0" descr="https://sgw-dx.xf-yun.com/api/v1/sparkdesk/_1744117094431fa29165058d649158ec8448e47f4bbc7.jpg?authorization=c2ltcGxlLWp3dCBhaz1zcGFya2Rlc2s4MDAwMDAwMDAwMDE7ZXhwPTMzMjA5MTcwOTQ7YWxnbz1obWFjLXNoYTI1NjtzaWc9WkdnTnk2NFB0T25tekFIMXRXQmxmeVprak1mcDlidDBGZlRnUXkxSFJPcz0=&amp;x_location=7YfmxI7B7uKO7jlRxIftd6UoePD="/>
          <p:cNvPicPr>
            <a:picLocks noChangeAspect="1"/>
          </p:cNvPicPr>
          <p:nvPr/>
        </p:nvPicPr>
        <p:blipFill>
          <a:blip r:embed="rId4"/>
          <a:srcRect l="20000" r="20000"/>
          <a:stretch>
            <a:fillRect/>
          </a:stretch>
        </p:blipFill>
        <p:spPr>
          <a:xfrm>
            <a:off x="6741344" y="978502"/>
            <a:ext cx="2136517" cy="3560861"/>
          </a:xfrm>
          <a:prstGeom prst="rect">
            <a:avLst/>
          </a:prstGeom>
        </p:spPr>
      </p:pic>
      <p:sp>
        <p:nvSpPr>
          <p:cNvPr id="8" name="Text 5"/>
          <p:cNvSpPr/>
          <p:nvPr/>
        </p:nvSpPr>
        <p:spPr>
          <a:xfrm>
            <a:off x="319916" y="2351627"/>
            <a:ext cx="1977017" cy="1024128"/>
          </a:xfrm>
          <a:prstGeom prst="rect">
            <a:avLst/>
          </a:prstGeom>
          <a:noFill/>
        </p:spPr>
        <p:txBody>
          <a:bodyPr wrap="square" lIns="95250" tIns="95250" rIns="95250" bIns="95250" rtlCol="0" anchor="t">
            <a:spAutoFit/>
          </a:bodyPr>
          <a:lstStyle/>
          <a:p>
            <a:pPr marL="0" indent="0">
              <a:lnSpc>
                <a:spcPct val="100000"/>
              </a:lnSpc>
              <a:spcBef>
                <a:spcPts val="375"/>
              </a:spcBef>
              <a:buNone/>
            </a:pPr>
            <a:r>
              <a:rPr lang="en-US" sz="1150" dirty="0">
                <a:solidFill>
                  <a:srgbClr val="272245"/>
                </a:solidFill>
                <a:latin typeface="Noto Sans" pitchFamily="34" charset="0"/>
                <a:ea typeface="Noto Sans" pitchFamily="34" charset="-122"/>
                <a:cs typeface="Noto Sans" pitchFamily="34" charset="-120"/>
              </a:rPr>
              <a:t>通过收集用户的浏览历史、偏好设置和购买行为等多维度数据，平台构建了详细的用户画像，为精准推送个性化设计方案、装修材料和家具商品提供了坚实的基础。</a:t>
            </a:r>
            <a:endParaRPr lang="en-US" sz="1440" dirty="0"/>
          </a:p>
        </p:txBody>
      </p:sp>
      <p:sp>
        <p:nvSpPr>
          <p:cNvPr id="9" name="Text 6"/>
          <p:cNvSpPr/>
          <p:nvPr/>
        </p:nvSpPr>
        <p:spPr>
          <a:xfrm>
            <a:off x="2532381" y="1796031"/>
            <a:ext cx="1977017" cy="383070"/>
          </a:xfrm>
          <a:prstGeom prst="rect">
            <a:avLst/>
          </a:prstGeom>
          <a:noFill/>
        </p:spPr>
        <p:txBody>
          <a:bodyPr wrap="square" lIns="95250" tIns="95250" rIns="95250" bIns="95250" rtlCol="0" anchor="t"/>
          <a:lstStyle/>
          <a:p>
            <a:pPr marL="0" indent="0">
              <a:lnSpc>
                <a:spcPct val="100000"/>
              </a:lnSpc>
              <a:spcBef>
                <a:spcPts val="375"/>
              </a:spcBef>
              <a:buNone/>
            </a:pPr>
            <a:r>
              <a:rPr lang="en-US" sz="1585" b="1" dirty="0">
                <a:solidFill>
                  <a:srgbClr val="272245"/>
                </a:solidFill>
                <a:latin typeface="Noto Sans" pitchFamily="34" charset="0"/>
                <a:ea typeface="Noto Sans" pitchFamily="34" charset="-122"/>
                <a:cs typeface="Noto Sans" pitchFamily="34" charset="-120"/>
              </a:rPr>
              <a:t>智能推荐算法的应用</a:t>
            </a:r>
            <a:endParaRPr lang="en-US" sz="1440" dirty="0"/>
          </a:p>
        </p:txBody>
      </p:sp>
      <p:sp>
        <p:nvSpPr>
          <p:cNvPr id="10" name="Text 7"/>
          <p:cNvSpPr/>
          <p:nvPr/>
        </p:nvSpPr>
        <p:spPr>
          <a:xfrm>
            <a:off x="2532381" y="2351557"/>
            <a:ext cx="1977017" cy="1024128"/>
          </a:xfrm>
          <a:prstGeom prst="rect">
            <a:avLst/>
          </a:prstGeom>
          <a:noFill/>
        </p:spPr>
        <p:txBody>
          <a:bodyPr wrap="square" lIns="95250" tIns="95250" rIns="95250" bIns="95250" rtlCol="0" anchor="t">
            <a:spAutoFit/>
          </a:bodyPr>
          <a:lstStyle/>
          <a:p>
            <a:pPr marL="0" indent="0">
              <a:lnSpc>
                <a:spcPct val="100000"/>
              </a:lnSpc>
              <a:spcBef>
                <a:spcPts val="375"/>
              </a:spcBef>
              <a:buNone/>
            </a:pPr>
            <a:r>
              <a:rPr lang="en-US" sz="1150" dirty="0">
                <a:solidFill>
                  <a:srgbClr val="272245"/>
                </a:solidFill>
                <a:latin typeface="Noto Sans" pitchFamily="34" charset="0"/>
                <a:ea typeface="Noto Sans" pitchFamily="34" charset="-122"/>
                <a:cs typeface="Noto Sans" pitchFamily="34" charset="-120"/>
              </a:rPr>
              <a:t>采用协同过滤、内容推荐和混合推荐等多种智能推荐算法，根据用户的历史行为和相似用户的偏好，生成个性化的推荐列表，有效提升了推荐的相关性和用户满意度。</a:t>
            </a:r>
            <a:endParaRPr lang="en-US" sz="1440" dirty="0"/>
          </a:p>
        </p:txBody>
      </p:sp>
      <p:sp>
        <p:nvSpPr>
          <p:cNvPr id="11" name="Text 8"/>
          <p:cNvSpPr/>
          <p:nvPr/>
        </p:nvSpPr>
        <p:spPr>
          <a:xfrm>
            <a:off x="4670101" y="1796428"/>
            <a:ext cx="1977017" cy="383070"/>
          </a:xfrm>
          <a:prstGeom prst="rect">
            <a:avLst/>
          </a:prstGeom>
          <a:noFill/>
        </p:spPr>
        <p:txBody>
          <a:bodyPr wrap="square" lIns="95250" tIns="95250" rIns="95250" bIns="95250" rtlCol="0" anchor="t"/>
          <a:lstStyle/>
          <a:p>
            <a:pPr marL="0" indent="0">
              <a:lnSpc>
                <a:spcPct val="100000"/>
              </a:lnSpc>
              <a:spcBef>
                <a:spcPts val="375"/>
              </a:spcBef>
              <a:buNone/>
            </a:pPr>
            <a:r>
              <a:rPr lang="en-US" sz="1585" b="1" dirty="0">
                <a:solidFill>
                  <a:srgbClr val="272245"/>
                </a:solidFill>
                <a:latin typeface="Noto Sans" pitchFamily="34" charset="0"/>
                <a:ea typeface="Noto Sans" pitchFamily="34" charset="-122"/>
                <a:cs typeface="Noto Sans" pitchFamily="34" charset="-120"/>
              </a:rPr>
              <a:t>实时反馈机制</a:t>
            </a:r>
            <a:endParaRPr lang="en-US" sz="1440" dirty="0"/>
          </a:p>
        </p:txBody>
      </p:sp>
      <p:sp>
        <p:nvSpPr>
          <p:cNvPr id="12" name="Text 9"/>
          <p:cNvSpPr/>
          <p:nvPr/>
        </p:nvSpPr>
        <p:spPr>
          <a:xfrm>
            <a:off x="4670044" y="2351557"/>
            <a:ext cx="1977017" cy="1024128"/>
          </a:xfrm>
          <a:prstGeom prst="rect">
            <a:avLst/>
          </a:prstGeom>
          <a:noFill/>
        </p:spPr>
        <p:txBody>
          <a:bodyPr wrap="square" lIns="95250" tIns="95250" rIns="95250" bIns="95250" rtlCol="0" anchor="t">
            <a:spAutoFit/>
          </a:bodyPr>
          <a:lstStyle/>
          <a:p>
            <a:pPr marL="0" indent="0">
              <a:lnSpc>
                <a:spcPct val="100000"/>
              </a:lnSpc>
              <a:spcBef>
                <a:spcPts val="375"/>
              </a:spcBef>
              <a:buNone/>
            </a:pPr>
            <a:r>
              <a:rPr lang="en-US" sz="1150" dirty="0">
                <a:solidFill>
                  <a:srgbClr val="272245"/>
                </a:solidFill>
                <a:latin typeface="Noto Sans" pitchFamily="34" charset="0"/>
                <a:ea typeface="Noto Sans" pitchFamily="34" charset="-122"/>
                <a:cs typeface="Noto Sans" pitchFamily="34" charset="-120"/>
              </a:rPr>
              <a:t>设计意见反馈功能，用户可以对推荐结果进行评价和反馈。系统根据这些反馈不断优化推荐算法，提高推荐的准确性和用户满意度，实现持续改进。</a:t>
            </a:r>
            <a:endParaRPr lang="en-US" sz="144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246639" y="1071087"/>
            <a:ext cx="2055531" cy="1883664"/>
          </a:xfrm>
          <a:prstGeom prst="rect">
            <a:avLst/>
          </a:prstGeom>
          <a:noFill/>
        </p:spPr>
        <p:txBody>
          <a:bodyPr wrap="square" lIns="95250" tIns="95250" rIns="95250" bIns="95250" rtlCol="0" anchor="t"/>
          <a:lstStyle/>
          <a:p>
            <a:pPr marL="0" indent="0" algn="ctr">
              <a:lnSpc>
                <a:spcPct val="113000"/>
              </a:lnSpc>
              <a:spcBef>
                <a:spcPts val="375"/>
              </a:spcBef>
              <a:buNone/>
            </a:pPr>
            <a:r>
              <a:rPr lang="en-US" sz="8930" b="1" dirty="0">
                <a:solidFill>
                  <a:srgbClr val="2A5899"/>
                </a:solidFill>
                <a:latin typeface="微软雅黑" panose="020B0503020204020204" pitchFamily="34" charset="-122"/>
                <a:ea typeface="微软雅黑" panose="020B0503020204020204" pitchFamily="34" charset="-122"/>
                <a:cs typeface="微软雅黑" panose="020B0503020204020204" pitchFamily="34" charset="-120"/>
              </a:rPr>
              <a:t>07</a:t>
            </a:r>
            <a:endParaRPr lang="en-US" sz="1440" dirty="0"/>
          </a:p>
        </p:txBody>
      </p:sp>
      <p:sp>
        <p:nvSpPr>
          <p:cNvPr id="3" name="Text 1"/>
          <p:cNvSpPr/>
          <p:nvPr/>
        </p:nvSpPr>
        <p:spPr>
          <a:xfrm>
            <a:off x="497579" y="2595807"/>
            <a:ext cx="5218432" cy="813816"/>
          </a:xfrm>
          <a:prstGeom prst="rect">
            <a:avLst/>
          </a:prstGeom>
          <a:noFill/>
        </p:spPr>
        <p:txBody>
          <a:bodyPr wrap="square" lIns="95250" tIns="95250" rIns="95250" bIns="95250" rtlCol="0" anchor="t"/>
          <a:lstStyle/>
          <a:p>
            <a:pPr marL="0" indent="0">
              <a:lnSpc>
                <a:spcPct val="113000"/>
              </a:lnSpc>
              <a:spcBef>
                <a:spcPts val="375"/>
              </a:spcBef>
              <a:buNone/>
            </a:pPr>
            <a:r>
              <a:rPr lang="en-US" sz="3310" b="1" dirty="0">
                <a:solidFill>
                  <a:srgbClr val="272245"/>
                </a:solidFill>
                <a:latin typeface="微软雅黑" panose="020B0503020204020204" pitchFamily="34" charset="-122"/>
                <a:ea typeface="微软雅黑" panose="020B0503020204020204" pitchFamily="34" charset="-122"/>
                <a:cs typeface="微软雅黑" panose="020B0503020204020204" pitchFamily="34" charset="-120"/>
              </a:rPr>
              <a:t>管理系统开发</a:t>
            </a:r>
            <a:endParaRPr lang="en-US" sz="1440" dirty="0"/>
          </a:p>
        </p:txBody>
      </p:sp>
      <p:pic>
        <p:nvPicPr>
          <p:cNvPr id="4" name="Image 0" descr="https://sgw-dx.xf-yun.com/api/v1/sparkdesk/_19052329831_fVPc9i1733712667757-005544323224029091.png?authorization=c2ltcGxlLWp3dCBhaz1zcGFya2Rlc2s4MDAwMDAwMDAwMDE7ZXhwPTMzMTA1MTI2Nzk7YWxnbz1obWFjLXNoYTI1NjtzaWc9a2pCNm01T2o4VEJER0o1Q3FOV2VJYUpvODByWkFQclRoZVRqRnpXRnY1Yz0=&amp;x_location=7YfmxI7B7uKO7jlRxIftd60Ye5D="/>
          <p:cNvPicPr>
            <a:picLocks noChangeAspect="1"/>
          </p:cNvPicPr>
          <p:nvPr/>
        </p:nvPicPr>
        <p:blipFill>
          <a:blip r:embed="rId4"/>
          <a:stretch>
            <a:fillRect/>
          </a:stretch>
        </p:blipFill>
        <p:spPr>
          <a:xfrm>
            <a:off x="590374" y="2550087"/>
            <a:ext cx="2848105" cy="18288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283641" y="190697"/>
            <a:ext cx="8088253" cy="566928"/>
          </a:xfrm>
          <a:prstGeom prst="rect">
            <a:avLst/>
          </a:prstGeom>
          <a:noFill/>
        </p:spPr>
        <p:txBody>
          <a:bodyPr wrap="square" lIns="95250" tIns="95250" rIns="95250" bIns="95250" rtlCol="0" anchor="t"/>
          <a:lstStyle/>
          <a:p>
            <a:pPr marL="0" indent="0">
              <a:lnSpc>
                <a:spcPct val="113000"/>
              </a:lnSpc>
              <a:spcBef>
                <a:spcPts val="375"/>
              </a:spcBef>
              <a:buNone/>
            </a:pPr>
            <a:r>
              <a:rPr lang="en-US" sz="2015"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采用多种技术</a:t>
            </a:r>
            <a:endParaRPr lang="en-US" sz="1440" dirty="0"/>
          </a:p>
        </p:txBody>
      </p:sp>
      <p:pic>
        <p:nvPicPr>
          <p:cNvPr id="3" name="Image 0" descr="preencoded.png"/>
          <p:cNvPicPr>
            <a:picLocks noChangeAspect="1"/>
          </p:cNvPicPr>
          <p:nvPr/>
        </p:nvPicPr>
        <p:blipFill>
          <a:blip r:embed="rId4"/>
          <a:stretch>
            <a:fillRect/>
          </a:stretch>
        </p:blipFill>
        <p:spPr>
          <a:xfrm>
            <a:off x="2292401" y="1328506"/>
            <a:ext cx="6190318" cy="715773"/>
          </a:xfrm>
          <a:prstGeom prst="rect">
            <a:avLst/>
          </a:prstGeom>
        </p:spPr>
      </p:pic>
      <p:sp>
        <p:nvSpPr>
          <p:cNvPr id="4" name="Shape 1"/>
          <p:cNvSpPr/>
          <p:nvPr/>
        </p:nvSpPr>
        <p:spPr>
          <a:xfrm>
            <a:off x="7947616" y="1261402"/>
            <a:ext cx="849980" cy="849980"/>
          </a:xfrm>
          <a:custGeom>
            <a:avLst/>
            <a:gdLst/>
            <a:ahLst/>
            <a:cxnLst/>
            <a:rect l="l" t="t" r="r" b="b"/>
            <a:pathLst>
              <a:path w="849980" h="849980">
                <a:moveTo>
                  <a:pt x="424990" y="0"/>
                </a:moveTo>
                <a:moveTo>
                  <a:pt x="424990" y="0"/>
                </a:moveTo>
                <a:cubicBezTo>
                  <a:pt x="659549" y="0"/>
                  <a:pt x="849980" y="190432"/>
                  <a:pt x="849980" y="424990"/>
                </a:cubicBezTo>
                <a:cubicBezTo>
                  <a:pt x="849980" y="659549"/>
                  <a:pt x="659549" y="849980"/>
                  <a:pt x="424990" y="849980"/>
                </a:cubicBezTo>
                <a:cubicBezTo>
                  <a:pt x="190432" y="849980"/>
                  <a:pt x="0" y="659549"/>
                  <a:pt x="0" y="424990"/>
                </a:cubicBezTo>
                <a:cubicBezTo>
                  <a:pt x="0" y="190432"/>
                  <a:pt x="190432" y="0"/>
                  <a:pt x="424990" y="0"/>
                </a:cubicBezTo>
                <a:close/>
              </a:path>
            </a:pathLst>
          </a:custGeom>
          <a:solidFill>
            <a:srgbClr val="0084FF"/>
          </a:solidFill>
        </p:spPr>
      </p:sp>
      <p:pic>
        <p:nvPicPr>
          <p:cNvPr id="5" name="Image 1" descr="preencoded.png"/>
          <p:cNvPicPr>
            <a:picLocks noChangeAspect="1"/>
          </p:cNvPicPr>
          <p:nvPr/>
        </p:nvPicPr>
        <p:blipFill>
          <a:blip r:embed="rId5"/>
          <a:stretch>
            <a:fillRect/>
          </a:stretch>
        </p:blipFill>
        <p:spPr>
          <a:xfrm>
            <a:off x="8156770" y="1470556"/>
            <a:ext cx="431673" cy="431673"/>
          </a:xfrm>
          <a:prstGeom prst="rect">
            <a:avLst/>
          </a:prstGeom>
        </p:spPr>
      </p:pic>
      <p:pic>
        <p:nvPicPr>
          <p:cNvPr id="6" name="Image 2" descr="preencoded.png"/>
          <p:cNvPicPr>
            <a:picLocks noChangeAspect="1"/>
          </p:cNvPicPr>
          <p:nvPr/>
        </p:nvPicPr>
        <p:blipFill>
          <a:blip r:embed="rId4"/>
          <a:stretch>
            <a:fillRect/>
          </a:stretch>
        </p:blipFill>
        <p:spPr>
          <a:xfrm>
            <a:off x="2292401" y="2465646"/>
            <a:ext cx="6190318" cy="715773"/>
          </a:xfrm>
          <a:prstGeom prst="rect">
            <a:avLst/>
          </a:prstGeom>
        </p:spPr>
      </p:pic>
      <p:sp>
        <p:nvSpPr>
          <p:cNvPr id="7" name="Shape 2"/>
          <p:cNvSpPr/>
          <p:nvPr/>
        </p:nvSpPr>
        <p:spPr>
          <a:xfrm>
            <a:off x="7947616" y="2398542"/>
            <a:ext cx="849980" cy="849980"/>
          </a:xfrm>
          <a:custGeom>
            <a:avLst/>
            <a:gdLst/>
            <a:ahLst/>
            <a:cxnLst/>
            <a:rect l="l" t="t" r="r" b="b"/>
            <a:pathLst>
              <a:path w="849980" h="849980">
                <a:moveTo>
                  <a:pt x="424990" y="0"/>
                </a:moveTo>
                <a:moveTo>
                  <a:pt x="424990" y="0"/>
                </a:moveTo>
                <a:cubicBezTo>
                  <a:pt x="659549" y="0"/>
                  <a:pt x="849980" y="190432"/>
                  <a:pt x="849980" y="424990"/>
                </a:cubicBezTo>
                <a:cubicBezTo>
                  <a:pt x="849980" y="659549"/>
                  <a:pt x="659549" y="849980"/>
                  <a:pt x="424990" y="849980"/>
                </a:cubicBezTo>
                <a:cubicBezTo>
                  <a:pt x="190432" y="849980"/>
                  <a:pt x="0" y="659549"/>
                  <a:pt x="0" y="424990"/>
                </a:cubicBezTo>
                <a:cubicBezTo>
                  <a:pt x="0" y="190432"/>
                  <a:pt x="190432" y="0"/>
                  <a:pt x="424990" y="0"/>
                </a:cubicBezTo>
                <a:close/>
              </a:path>
            </a:pathLst>
          </a:custGeom>
          <a:solidFill>
            <a:srgbClr val="0084FF"/>
          </a:solidFill>
        </p:spPr>
      </p:sp>
      <p:pic>
        <p:nvPicPr>
          <p:cNvPr id="8" name="Image 3" descr="preencoded.png"/>
          <p:cNvPicPr>
            <a:picLocks noChangeAspect="1"/>
          </p:cNvPicPr>
          <p:nvPr/>
        </p:nvPicPr>
        <p:blipFill>
          <a:blip r:embed="rId5"/>
          <a:stretch>
            <a:fillRect/>
          </a:stretch>
        </p:blipFill>
        <p:spPr>
          <a:xfrm>
            <a:off x="8156770" y="2607696"/>
            <a:ext cx="431673" cy="431673"/>
          </a:xfrm>
          <a:prstGeom prst="rect">
            <a:avLst/>
          </a:prstGeom>
        </p:spPr>
      </p:pic>
      <p:pic>
        <p:nvPicPr>
          <p:cNvPr id="9" name="Image 4" descr="preencoded.png"/>
          <p:cNvPicPr>
            <a:picLocks noChangeAspect="1"/>
          </p:cNvPicPr>
          <p:nvPr/>
        </p:nvPicPr>
        <p:blipFill>
          <a:blip r:embed="rId4"/>
          <a:stretch>
            <a:fillRect/>
          </a:stretch>
        </p:blipFill>
        <p:spPr>
          <a:xfrm>
            <a:off x="2292401" y="3602785"/>
            <a:ext cx="6190318" cy="715773"/>
          </a:xfrm>
          <a:prstGeom prst="rect">
            <a:avLst/>
          </a:prstGeom>
        </p:spPr>
      </p:pic>
      <p:sp>
        <p:nvSpPr>
          <p:cNvPr id="10" name="Shape 3"/>
          <p:cNvSpPr/>
          <p:nvPr/>
        </p:nvSpPr>
        <p:spPr>
          <a:xfrm>
            <a:off x="7947616" y="3535681"/>
            <a:ext cx="849980" cy="849980"/>
          </a:xfrm>
          <a:custGeom>
            <a:avLst/>
            <a:gdLst/>
            <a:ahLst/>
            <a:cxnLst/>
            <a:rect l="l" t="t" r="r" b="b"/>
            <a:pathLst>
              <a:path w="849980" h="849980">
                <a:moveTo>
                  <a:pt x="424990" y="0"/>
                </a:moveTo>
                <a:moveTo>
                  <a:pt x="424990" y="0"/>
                </a:moveTo>
                <a:cubicBezTo>
                  <a:pt x="659549" y="0"/>
                  <a:pt x="849980" y="190432"/>
                  <a:pt x="849980" y="424990"/>
                </a:cubicBezTo>
                <a:cubicBezTo>
                  <a:pt x="849980" y="659549"/>
                  <a:pt x="659549" y="849980"/>
                  <a:pt x="424990" y="849980"/>
                </a:cubicBezTo>
                <a:cubicBezTo>
                  <a:pt x="190432" y="849980"/>
                  <a:pt x="0" y="659549"/>
                  <a:pt x="0" y="424990"/>
                </a:cubicBezTo>
                <a:cubicBezTo>
                  <a:pt x="0" y="190432"/>
                  <a:pt x="190432" y="0"/>
                  <a:pt x="424990" y="0"/>
                </a:cubicBezTo>
                <a:close/>
              </a:path>
            </a:pathLst>
          </a:custGeom>
          <a:solidFill>
            <a:srgbClr val="0084FF"/>
          </a:solidFill>
        </p:spPr>
      </p:sp>
      <p:pic>
        <p:nvPicPr>
          <p:cNvPr id="11" name="Image 5" descr="preencoded.png"/>
          <p:cNvPicPr>
            <a:picLocks noChangeAspect="1"/>
          </p:cNvPicPr>
          <p:nvPr/>
        </p:nvPicPr>
        <p:blipFill>
          <a:blip r:embed="rId5"/>
          <a:stretch>
            <a:fillRect/>
          </a:stretch>
        </p:blipFill>
        <p:spPr>
          <a:xfrm>
            <a:off x="8156770" y="3744835"/>
            <a:ext cx="431673" cy="431673"/>
          </a:xfrm>
          <a:prstGeom prst="rect">
            <a:avLst/>
          </a:prstGeom>
        </p:spPr>
      </p:pic>
      <p:sp>
        <p:nvSpPr>
          <p:cNvPr id="12" name="Shape 4"/>
          <p:cNvSpPr/>
          <p:nvPr/>
        </p:nvSpPr>
        <p:spPr>
          <a:xfrm>
            <a:off x="2112529" y="948422"/>
            <a:ext cx="0" cy="3858464"/>
          </a:xfrm>
          <a:custGeom>
            <a:avLst/>
            <a:gdLst/>
            <a:ahLst/>
            <a:cxnLst/>
            <a:rect l="l" t="t" r="r" b="b"/>
            <a:pathLst>
              <a:path h="3858464">
                <a:moveTo>
                  <a:pt x="0" y="0"/>
                </a:moveTo>
                <a:moveTo>
                  <a:pt x="0" y="0"/>
                </a:moveTo>
                <a:lnTo>
                  <a:pt x="0" y="3858464"/>
                </a:lnTo>
              </a:path>
            </a:pathLst>
          </a:custGeom>
          <a:noFill/>
          <a:ln w="9525">
            <a:solidFill>
              <a:srgbClr val="2A5899">
                <a:alpha val="47059"/>
              </a:srgbClr>
            </a:solidFill>
            <a:prstDash val="solid"/>
            <a:headEnd type="none"/>
            <a:tailEnd type="none"/>
          </a:ln>
        </p:spPr>
      </p:sp>
      <p:pic>
        <p:nvPicPr>
          <p:cNvPr id="13" name="Image 6" descr="preencoded.png"/>
          <p:cNvPicPr>
            <a:picLocks noChangeAspect="1"/>
          </p:cNvPicPr>
          <p:nvPr/>
        </p:nvPicPr>
        <p:blipFill>
          <a:blip r:embed="rId6"/>
          <a:stretch>
            <a:fillRect/>
          </a:stretch>
        </p:blipFill>
        <p:spPr>
          <a:xfrm>
            <a:off x="2021089" y="1087716"/>
            <a:ext cx="182880" cy="3444250"/>
          </a:xfrm>
          <a:prstGeom prst="rect">
            <a:avLst/>
          </a:prstGeom>
        </p:spPr>
      </p:pic>
      <p:sp>
        <p:nvSpPr>
          <p:cNvPr id="14" name="Text 5"/>
          <p:cNvSpPr/>
          <p:nvPr/>
        </p:nvSpPr>
        <p:spPr>
          <a:xfrm>
            <a:off x="346989" y="1375496"/>
            <a:ext cx="1674101" cy="566928"/>
          </a:xfrm>
          <a:prstGeom prst="rect">
            <a:avLst/>
          </a:prstGeom>
          <a:noFill/>
        </p:spPr>
        <p:txBody>
          <a:bodyPr wrap="square" lIns="95250" tIns="95250" rIns="95250" bIns="95250" rtlCol="0" anchor="ctr"/>
          <a:lstStyle/>
          <a:p>
            <a:pPr marL="0" indent="0">
              <a:lnSpc>
                <a:spcPct val="100000"/>
              </a:lnSpc>
              <a:spcBef>
                <a:spcPts val="375"/>
              </a:spcBef>
              <a:buNone/>
            </a:pPr>
            <a:r>
              <a:rPr lang="en-US" sz="1440" b="1" dirty="0">
                <a:solidFill>
                  <a:srgbClr val="272245"/>
                </a:solidFill>
                <a:latin typeface="Noto Sans" pitchFamily="34" charset="0"/>
                <a:ea typeface="Noto Sans" pitchFamily="34" charset="-122"/>
                <a:cs typeface="Noto Sans" pitchFamily="34" charset="-120"/>
              </a:rPr>
              <a:t>多技术融合的必要性</a:t>
            </a:r>
            <a:endParaRPr lang="en-US" sz="1440" dirty="0"/>
          </a:p>
        </p:txBody>
      </p:sp>
      <p:sp>
        <p:nvSpPr>
          <p:cNvPr id="15" name="Text 6"/>
          <p:cNvSpPr/>
          <p:nvPr/>
        </p:nvSpPr>
        <p:spPr>
          <a:xfrm>
            <a:off x="2476522" y="1384640"/>
            <a:ext cx="5525701" cy="603504"/>
          </a:xfrm>
          <a:prstGeom prst="rect">
            <a:avLst/>
          </a:prstGeom>
          <a:noFill/>
        </p:spPr>
        <p:txBody>
          <a:bodyPr wrap="square" lIns="95250" tIns="95250" rIns="95250" bIns="95250" rtlCol="0" anchor="t">
            <a:spAutoFit/>
          </a:bodyPr>
          <a:lstStyle/>
          <a:p>
            <a:pPr marL="0" indent="0">
              <a:lnSpc>
                <a:spcPct val="100000"/>
              </a:lnSpc>
              <a:spcBef>
                <a:spcPts val="375"/>
              </a:spcBef>
              <a:buNone/>
            </a:pPr>
            <a:r>
              <a:rPr lang="en-US" sz="1150" dirty="0">
                <a:solidFill>
                  <a:srgbClr val="272245"/>
                </a:solidFill>
                <a:latin typeface="Noto Sans" pitchFamily="34" charset="0"/>
                <a:ea typeface="Noto Sans" pitchFamily="34" charset="-122"/>
                <a:cs typeface="Noto Sans" pitchFamily="34" charset="-120"/>
              </a:rPr>
              <a:t>在当今快速发展的科技时代，单一技术往往难以满足复杂多变的需求。因此，采用多种技术的融合成为解决复杂问题、推动创新的关键途径。</a:t>
            </a:r>
            <a:endParaRPr lang="en-US" sz="1440" dirty="0"/>
          </a:p>
        </p:txBody>
      </p:sp>
      <p:sp>
        <p:nvSpPr>
          <p:cNvPr id="16" name="Text 7"/>
          <p:cNvSpPr/>
          <p:nvPr/>
        </p:nvSpPr>
        <p:spPr>
          <a:xfrm>
            <a:off x="346404" y="2541339"/>
            <a:ext cx="1674686" cy="566928"/>
          </a:xfrm>
          <a:prstGeom prst="rect">
            <a:avLst/>
          </a:prstGeom>
          <a:noFill/>
        </p:spPr>
        <p:txBody>
          <a:bodyPr wrap="square" lIns="95250" tIns="95250" rIns="95250" bIns="95250" rtlCol="0" anchor="ctr"/>
          <a:lstStyle/>
          <a:p>
            <a:pPr marL="0" indent="0">
              <a:lnSpc>
                <a:spcPct val="100000"/>
              </a:lnSpc>
              <a:spcBef>
                <a:spcPts val="375"/>
              </a:spcBef>
              <a:buNone/>
            </a:pPr>
            <a:r>
              <a:rPr lang="en-US" sz="1440" b="1" dirty="0">
                <a:solidFill>
                  <a:srgbClr val="272245"/>
                </a:solidFill>
                <a:latin typeface="Noto Sans" pitchFamily="34" charset="0"/>
                <a:ea typeface="Noto Sans" pitchFamily="34" charset="-122"/>
                <a:cs typeface="Noto Sans" pitchFamily="34" charset="-120"/>
              </a:rPr>
              <a:t>跨领域技术整合的优势</a:t>
            </a:r>
            <a:endParaRPr lang="en-US" sz="1440" dirty="0"/>
          </a:p>
        </p:txBody>
      </p:sp>
      <p:sp>
        <p:nvSpPr>
          <p:cNvPr id="17" name="Text 8"/>
          <p:cNvSpPr/>
          <p:nvPr/>
        </p:nvSpPr>
        <p:spPr>
          <a:xfrm>
            <a:off x="2476522" y="2521780"/>
            <a:ext cx="5525701" cy="603504"/>
          </a:xfrm>
          <a:prstGeom prst="rect">
            <a:avLst/>
          </a:prstGeom>
          <a:noFill/>
        </p:spPr>
        <p:txBody>
          <a:bodyPr wrap="square" lIns="95250" tIns="95250" rIns="95250" bIns="95250" rtlCol="0" anchor="t">
            <a:spAutoFit/>
          </a:bodyPr>
          <a:lstStyle/>
          <a:p>
            <a:pPr marL="0" indent="0">
              <a:lnSpc>
                <a:spcPct val="100000"/>
              </a:lnSpc>
              <a:spcBef>
                <a:spcPts val="375"/>
              </a:spcBef>
              <a:buNone/>
            </a:pPr>
            <a:r>
              <a:rPr lang="en-US" sz="1150" dirty="0">
                <a:solidFill>
                  <a:srgbClr val="272245"/>
                </a:solidFill>
                <a:latin typeface="Noto Sans" pitchFamily="34" charset="0"/>
                <a:ea typeface="Noto Sans" pitchFamily="34" charset="-122"/>
                <a:cs typeface="Noto Sans" pitchFamily="34" charset="-120"/>
              </a:rPr>
              <a:t>通过整合不同领域的技术，如人工智能与大数据分析，可以创造出更智能、高效的解决方案，这种跨领域的技术整合为各行各业带来了革命性的变革。</a:t>
            </a:r>
            <a:endParaRPr lang="en-US" sz="1440" dirty="0"/>
          </a:p>
        </p:txBody>
      </p:sp>
      <p:sp>
        <p:nvSpPr>
          <p:cNvPr id="18" name="Text 9"/>
          <p:cNvSpPr/>
          <p:nvPr/>
        </p:nvSpPr>
        <p:spPr>
          <a:xfrm>
            <a:off x="346404" y="3678478"/>
            <a:ext cx="1674686" cy="621792"/>
          </a:xfrm>
          <a:prstGeom prst="rect">
            <a:avLst/>
          </a:prstGeom>
          <a:noFill/>
        </p:spPr>
        <p:txBody>
          <a:bodyPr wrap="square" lIns="95250" tIns="95250" rIns="95250" bIns="95250" rtlCol="0" anchor="ctr"/>
          <a:lstStyle/>
          <a:p>
            <a:pPr marL="0" indent="0">
              <a:lnSpc>
                <a:spcPct val="100000"/>
              </a:lnSpc>
              <a:spcBef>
                <a:spcPts val="375"/>
              </a:spcBef>
              <a:buNone/>
            </a:pPr>
            <a:r>
              <a:rPr lang="en-US" sz="1440" b="1" dirty="0">
                <a:solidFill>
                  <a:srgbClr val="272245"/>
                </a:solidFill>
                <a:latin typeface="Noto Sans" pitchFamily="34" charset="0"/>
                <a:ea typeface="Noto Sans" pitchFamily="34" charset="-122"/>
                <a:cs typeface="Noto Sans" pitchFamily="34" charset="-120"/>
              </a:rPr>
              <a:t>持续技术创新的挑战</a:t>
            </a:r>
            <a:endParaRPr lang="en-US" sz="1440" dirty="0"/>
          </a:p>
        </p:txBody>
      </p:sp>
      <p:sp>
        <p:nvSpPr>
          <p:cNvPr id="19" name="Text 10"/>
          <p:cNvSpPr/>
          <p:nvPr/>
        </p:nvSpPr>
        <p:spPr>
          <a:xfrm>
            <a:off x="2476522" y="3658920"/>
            <a:ext cx="5525701" cy="603504"/>
          </a:xfrm>
          <a:prstGeom prst="rect">
            <a:avLst/>
          </a:prstGeom>
          <a:noFill/>
        </p:spPr>
        <p:txBody>
          <a:bodyPr wrap="square" lIns="95250" tIns="95250" rIns="95250" bIns="95250" rtlCol="0" anchor="t">
            <a:spAutoFit/>
          </a:bodyPr>
          <a:lstStyle/>
          <a:p>
            <a:pPr marL="0" indent="0">
              <a:lnSpc>
                <a:spcPct val="100000"/>
              </a:lnSpc>
              <a:spcBef>
                <a:spcPts val="375"/>
              </a:spcBef>
              <a:buNone/>
            </a:pPr>
            <a:r>
              <a:rPr lang="en-US" sz="1150" dirty="0">
                <a:solidFill>
                  <a:srgbClr val="272245"/>
                </a:solidFill>
                <a:latin typeface="Noto Sans" pitchFamily="34" charset="0"/>
                <a:ea typeface="Noto Sans" pitchFamily="34" charset="-122"/>
                <a:cs typeface="Noto Sans" pitchFamily="34" charset="-120"/>
              </a:rPr>
              <a:t>尽管采用多种技术带来了显著的好处，但同时也面临着如何保持技术更新、兼容性和安全性等挑战，这要求我们不断探索和适应新的技术趋势。</a:t>
            </a:r>
            <a:endParaRPr lang="en-US" sz="144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283641" y="190697"/>
            <a:ext cx="8088253" cy="566928"/>
          </a:xfrm>
          <a:prstGeom prst="rect">
            <a:avLst/>
          </a:prstGeom>
          <a:noFill/>
        </p:spPr>
        <p:txBody>
          <a:bodyPr wrap="square" lIns="95250" tIns="95250" rIns="95250" bIns="95250" rtlCol="0" anchor="t"/>
          <a:lstStyle/>
          <a:p>
            <a:pPr marL="0" indent="0">
              <a:lnSpc>
                <a:spcPct val="113000"/>
              </a:lnSpc>
              <a:spcBef>
                <a:spcPts val="375"/>
              </a:spcBef>
              <a:buNone/>
            </a:pPr>
            <a:r>
              <a:rPr lang="en-US" sz="2015"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实现高效界面</a:t>
            </a:r>
            <a:endParaRPr lang="en-US" sz="1440" dirty="0"/>
          </a:p>
        </p:txBody>
      </p:sp>
      <p:sp>
        <p:nvSpPr>
          <p:cNvPr id="3" name="Shape 1"/>
          <p:cNvSpPr/>
          <p:nvPr/>
        </p:nvSpPr>
        <p:spPr>
          <a:xfrm>
            <a:off x="3442169" y="1112387"/>
            <a:ext cx="5357114" cy="1151947"/>
          </a:xfrm>
          <a:custGeom>
            <a:avLst/>
            <a:gdLst/>
            <a:ahLst/>
            <a:cxnLst/>
            <a:rect l="l" t="t" r="r" b="b"/>
            <a:pathLst>
              <a:path w="5357114" h="1151947">
                <a:moveTo>
                  <a:pt x="153957" y="0"/>
                </a:moveTo>
                <a:moveTo>
                  <a:pt x="153957" y="0"/>
                </a:moveTo>
                <a:lnTo>
                  <a:pt x="5203156" y="0"/>
                </a:lnTo>
                <a:quadBezTo>
                  <a:pt x="5357114" y="0"/>
                  <a:pt x="5357114" y="143993"/>
                </a:quadBezTo>
                <a:lnTo>
                  <a:pt x="5357114" y="1007954"/>
                </a:lnTo>
                <a:quadBezTo>
                  <a:pt x="5357114" y="1151947"/>
                  <a:pt x="5203156" y="1151947"/>
                </a:quadBezTo>
                <a:lnTo>
                  <a:pt x="153957" y="1151947"/>
                </a:lnTo>
                <a:quadBezTo>
                  <a:pt x="0" y="1151947"/>
                  <a:pt x="0" y="1007954"/>
                </a:quadBezTo>
                <a:lnTo>
                  <a:pt x="0" y="143993"/>
                </a:lnTo>
                <a:quadBezTo>
                  <a:pt x="0" y="0"/>
                  <a:pt x="153957" y="0"/>
                </a:quadBezTo>
                <a:close/>
              </a:path>
            </a:pathLst>
          </a:custGeom>
          <a:solidFill>
            <a:srgbClr val="0084FF">
              <a:alpha val="9020"/>
            </a:srgbClr>
          </a:solidFill>
          <a:ln w="9525">
            <a:solidFill>
              <a:srgbClr val="2A5899">
                <a:alpha val="43137"/>
              </a:srgbClr>
            </a:solidFill>
            <a:prstDash val="solid"/>
          </a:ln>
        </p:spPr>
      </p:sp>
      <p:sp>
        <p:nvSpPr>
          <p:cNvPr id="4" name="Shape 2"/>
          <p:cNvSpPr/>
          <p:nvPr/>
        </p:nvSpPr>
        <p:spPr>
          <a:xfrm>
            <a:off x="3537233" y="1218635"/>
            <a:ext cx="0" cy="939452"/>
          </a:xfrm>
          <a:custGeom>
            <a:avLst/>
            <a:gdLst/>
            <a:ahLst/>
            <a:cxnLst/>
            <a:rect l="l" t="t" r="r" b="b"/>
            <a:pathLst>
              <a:path h="939452">
                <a:moveTo>
                  <a:pt x="0" y="0"/>
                </a:moveTo>
                <a:moveTo>
                  <a:pt x="0" y="0"/>
                </a:moveTo>
                <a:lnTo>
                  <a:pt x="0" y="939452"/>
                </a:lnTo>
              </a:path>
            </a:pathLst>
          </a:custGeom>
          <a:noFill/>
          <a:ln w="28575">
            <a:solidFill>
              <a:srgbClr val="2A5899"/>
            </a:solidFill>
            <a:prstDash val="solid"/>
            <a:headEnd type="none"/>
            <a:tailEnd type="none"/>
          </a:ln>
        </p:spPr>
      </p:sp>
      <p:sp>
        <p:nvSpPr>
          <p:cNvPr id="5" name="Shape 3"/>
          <p:cNvSpPr/>
          <p:nvPr/>
        </p:nvSpPr>
        <p:spPr>
          <a:xfrm>
            <a:off x="3442169" y="2385837"/>
            <a:ext cx="5357114" cy="1151947"/>
          </a:xfrm>
          <a:custGeom>
            <a:avLst/>
            <a:gdLst/>
            <a:ahLst/>
            <a:cxnLst/>
            <a:rect l="l" t="t" r="r" b="b"/>
            <a:pathLst>
              <a:path w="5357114" h="1151947">
                <a:moveTo>
                  <a:pt x="153957" y="0"/>
                </a:moveTo>
                <a:moveTo>
                  <a:pt x="153957" y="0"/>
                </a:moveTo>
                <a:lnTo>
                  <a:pt x="5203156" y="0"/>
                </a:lnTo>
                <a:quadBezTo>
                  <a:pt x="5357114" y="0"/>
                  <a:pt x="5357114" y="143993"/>
                </a:quadBezTo>
                <a:lnTo>
                  <a:pt x="5357114" y="1007954"/>
                </a:lnTo>
                <a:quadBezTo>
                  <a:pt x="5357114" y="1151947"/>
                  <a:pt x="5203156" y="1151947"/>
                </a:quadBezTo>
                <a:lnTo>
                  <a:pt x="153957" y="1151947"/>
                </a:lnTo>
                <a:quadBezTo>
                  <a:pt x="0" y="1151947"/>
                  <a:pt x="0" y="1007954"/>
                </a:quadBezTo>
                <a:lnTo>
                  <a:pt x="0" y="143993"/>
                </a:lnTo>
                <a:quadBezTo>
                  <a:pt x="0" y="0"/>
                  <a:pt x="153957" y="0"/>
                </a:quadBezTo>
                <a:close/>
              </a:path>
            </a:pathLst>
          </a:custGeom>
          <a:solidFill>
            <a:srgbClr val="5196FF">
              <a:alpha val="5882"/>
            </a:srgbClr>
          </a:solidFill>
          <a:ln w="9525">
            <a:solidFill>
              <a:srgbClr val="459DF3">
                <a:alpha val="43137"/>
              </a:srgbClr>
            </a:solidFill>
            <a:prstDash val="solid"/>
          </a:ln>
        </p:spPr>
      </p:sp>
      <p:sp>
        <p:nvSpPr>
          <p:cNvPr id="6" name="Shape 4"/>
          <p:cNvSpPr/>
          <p:nvPr/>
        </p:nvSpPr>
        <p:spPr>
          <a:xfrm>
            <a:off x="3537233" y="2492084"/>
            <a:ext cx="0" cy="939452"/>
          </a:xfrm>
          <a:custGeom>
            <a:avLst/>
            <a:gdLst/>
            <a:ahLst/>
            <a:cxnLst/>
            <a:rect l="l" t="t" r="r" b="b"/>
            <a:pathLst>
              <a:path h="939452">
                <a:moveTo>
                  <a:pt x="0" y="0"/>
                </a:moveTo>
                <a:moveTo>
                  <a:pt x="0" y="0"/>
                </a:moveTo>
                <a:lnTo>
                  <a:pt x="0" y="939452"/>
                </a:lnTo>
              </a:path>
            </a:pathLst>
          </a:custGeom>
          <a:noFill/>
          <a:ln w="28575">
            <a:solidFill>
              <a:srgbClr val="459DF3"/>
            </a:solidFill>
            <a:prstDash val="solid"/>
            <a:headEnd type="none"/>
            <a:tailEnd type="none"/>
          </a:ln>
        </p:spPr>
      </p:sp>
      <p:sp>
        <p:nvSpPr>
          <p:cNvPr id="7" name="Shape 5"/>
          <p:cNvSpPr/>
          <p:nvPr/>
        </p:nvSpPr>
        <p:spPr>
          <a:xfrm>
            <a:off x="3442169" y="3659287"/>
            <a:ext cx="5357114" cy="1151947"/>
          </a:xfrm>
          <a:custGeom>
            <a:avLst/>
            <a:gdLst/>
            <a:ahLst/>
            <a:cxnLst/>
            <a:rect l="l" t="t" r="r" b="b"/>
            <a:pathLst>
              <a:path w="5357114" h="1151947">
                <a:moveTo>
                  <a:pt x="153957" y="0"/>
                </a:moveTo>
                <a:moveTo>
                  <a:pt x="153957" y="0"/>
                </a:moveTo>
                <a:lnTo>
                  <a:pt x="5203156" y="0"/>
                </a:lnTo>
                <a:quadBezTo>
                  <a:pt x="5357114" y="0"/>
                  <a:pt x="5357114" y="143993"/>
                </a:quadBezTo>
                <a:lnTo>
                  <a:pt x="5357114" y="1007954"/>
                </a:lnTo>
                <a:quadBezTo>
                  <a:pt x="5357114" y="1151947"/>
                  <a:pt x="5203156" y="1151947"/>
                </a:quadBezTo>
                <a:lnTo>
                  <a:pt x="153957" y="1151947"/>
                </a:lnTo>
                <a:quadBezTo>
                  <a:pt x="0" y="1151947"/>
                  <a:pt x="0" y="1007954"/>
                </a:quadBezTo>
                <a:lnTo>
                  <a:pt x="0" y="143993"/>
                </a:lnTo>
                <a:quadBezTo>
                  <a:pt x="0" y="0"/>
                  <a:pt x="153957" y="0"/>
                </a:quadBezTo>
                <a:close/>
              </a:path>
            </a:pathLst>
          </a:custGeom>
          <a:solidFill>
            <a:srgbClr val="0084FF">
              <a:alpha val="9020"/>
            </a:srgbClr>
          </a:solidFill>
          <a:ln w="9525">
            <a:solidFill>
              <a:srgbClr val="2A5899">
                <a:alpha val="43137"/>
              </a:srgbClr>
            </a:solidFill>
            <a:prstDash val="solid"/>
          </a:ln>
        </p:spPr>
      </p:sp>
      <p:sp>
        <p:nvSpPr>
          <p:cNvPr id="8" name="Shape 6"/>
          <p:cNvSpPr/>
          <p:nvPr/>
        </p:nvSpPr>
        <p:spPr>
          <a:xfrm>
            <a:off x="3537233" y="3765534"/>
            <a:ext cx="0" cy="939452"/>
          </a:xfrm>
          <a:custGeom>
            <a:avLst/>
            <a:gdLst/>
            <a:ahLst/>
            <a:cxnLst/>
            <a:rect l="l" t="t" r="r" b="b"/>
            <a:pathLst>
              <a:path h="939452">
                <a:moveTo>
                  <a:pt x="0" y="0"/>
                </a:moveTo>
                <a:moveTo>
                  <a:pt x="0" y="0"/>
                </a:moveTo>
                <a:lnTo>
                  <a:pt x="0" y="939452"/>
                </a:lnTo>
              </a:path>
            </a:pathLst>
          </a:custGeom>
          <a:noFill/>
          <a:ln w="28575">
            <a:solidFill>
              <a:srgbClr val="2A5899"/>
            </a:solidFill>
            <a:prstDash val="solid"/>
            <a:headEnd type="none"/>
            <a:tailEnd type="none"/>
          </a:ln>
        </p:spPr>
      </p:sp>
      <p:sp>
        <p:nvSpPr>
          <p:cNvPr id="9" name="Shape 7"/>
          <p:cNvSpPr/>
          <p:nvPr/>
        </p:nvSpPr>
        <p:spPr>
          <a:xfrm>
            <a:off x="362236" y="1112387"/>
            <a:ext cx="2891701" cy="1151947"/>
          </a:xfrm>
          <a:custGeom>
            <a:avLst/>
            <a:gdLst/>
            <a:ahLst/>
            <a:cxnLst/>
            <a:rect l="l" t="t" r="r" b="b"/>
            <a:pathLst>
              <a:path w="2891701" h="1151947">
                <a:moveTo>
                  <a:pt x="143993" y="0"/>
                </a:moveTo>
                <a:moveTo>
                  <a:pt x="143993" y="0"/>
                </a:moveTo>
                <a:lnTo>
                  <a:pt x="2747707" y="0"/>
                </a:lnTo>
                <a:quadBezTo>
                  <a:pt x="2891701" y="0"/>
                  <a:pt x="2891701" y="143993"/>
                </a:quadBezTo>
                <a:lnTo>
                  <a:pt x="2891701" y="1007954"/>
                </a:lnTo>
                <a:quadBezTo>
                  <a:pt x="2891701" y="1151947"/>
                  <a:pt x="2747707" y="1151947"/>
                </a:quadBezTo>
                <a:lnTo>
                  <a:pt x="143993" y="1151947"/>
                </a:lnTo>
                <a:quadBezTo>
                  <a:pt x="0" y="1151947"/>
                  <a:pt x="0" y="1007954"/>
                </a:quadBezTo>
                <a:lnTo>
                  <a:pt x="0" y="143993"/>
                </a:lnTo>
                <a:quadBezTo>
                  <a:pt x="0" y="0"/>
                  <a:pt x="143993" y="0"/>
                </a:quadBezTo>
                <a:close/>
              </a:path>
            </a:pathLst>
          </a:custGeom>
          <a:solidFill>
            <a:srgbClr val="0084FF"/>
          </a:solidFill>
        </p:spPr>
      </p:sp>
      <p:sp>
        <p:nvSpPr>
          <p:cNvPr id="10" name="Text 8"/>
          <p:cNvSpPr/>
          <p:nvPr/>
        </p:nvSpPr>
        <p:spPr>
          <a:xfrm>
            <a:off x="362236" y="1391181"/>
            <a:ext cx="2891701" cy="594360"/>
          </a:xfrm>
          <a:prstGeom prst="rect">
            <a:avLst/>
          </a:prstGeom>
          <a:noFill/>
        </p:spPr>
        <p:txBody>
          <a:bodyPr wrap="square" lIns="95250" tIns="95250" rIns="95250" bIns="95250" rtlCol="0" anchor="t">
            <a:spAutoFit/>
          </a:bodyPr>
          <a:lstStyle/>
          <a:p>
            <a:pPr marL="0" indent="0" algn="ctr">
              <a:lnSpc>
                <a:spcPct val="101000"/>
              </a:lnSpc>
              <a:spcBef>
                <a:spcPts val="375"/>
              </a:spcBef>
              <a:buNone/>
            </a:pPr>
            <a:r>
              <a:rPr lang="en-US" sz="2305" b="1" dirty="0">
                <a:solidFill>
                  <a:srgbClr val="FFFFFF"/>
                </a:solidFill>
                <a:latin typeface="Noto Sans" pitchFamily="34" charset="0"/>
                <a:ea typeface="Noto Sans" pitchFamily="34" charset="-122"/>
                <a:cs typeface="Noto Sans" pitchFamily="34" charset="-120"/>
              </a:rPr>
              <a:t>一句话总结</a:t>
            </a:r>
            <a:endParaRPr lang="en-US" sz="1440" dirty="0"/>
          </a:p>
        </p:txBody>
      </p:sp>
      <p:sp>
        <p:nvSpPr>
          <p:cNvPr id="11" name="Text 9"/>
          <p:cNvSpPr/>
          <p:nvPr/>
        </p:nvSpPr>
        <p:spPr>
          <a:xfrm>
            <a:off x="3691454" y="1261930"/>
            <a:ext cx="5088184" cy="384048"/>
          </a:xfrm>
          <a:prstGeom prst="rect">
            <a:avLst/>
          </a:prstGeom>
          <a:noFill/>
        </p:spPr>
        <p:txBody>
          <a:bodyPr wrap="square" lIns="95250" tIns="95250" rIns="95250" bIns="95250" rtlCol="0" anchor="t">
            <a:spAutoFit/>
          </a:bodyPr>
          <a:lstStyle/>
          <a:p>
            <a:pPr marL="0" indent="0">
              <a:lnSpc>
                <a:spcPct val="100000"/>
              </a:lnSpc>
              <a:spcBef>
                <a:spcPts val="375"/>
              </a:spcBef>
              <a:buNone/>
            </a:pPr>
            <a:r>
              <a:rPr lang="en-US" sz="1585" b="1" dirty="0">
                <a:solidFill>
                  <a:srgbClr val="272245"/>
                </a:solidFill>
                <a:latin typeface="Noto Sans" pitchFamily="34" charset="0"/>
                <a:ea typeface="Noto Sans" pitchFamily="34" charset="-122"/>
                <a:cs typeface="Noto Sans" pitchFamily="34" charset="-120"/>
              </a:rPr>
              <a:t>界面设计原则</a:t>
            </a:r>
            <a:endParaRPr lang="en-US" sz="1440" dirty="0"/>
          </a:p>
        </p:txBody>
      </p:sp>
      <p:pic>
        <p:nvPicPr>
          <p:cNvPr id="12" name="Image 0" descr="https://sgw-dx.xf-yun.com/api/v1/sparkdesk/_1744117101249c0798260f66643d5a96d5e04ac6f59cf.jpg?authorization=c2ltcGxlLWp3dCBhaz1zcGFya2Rlc2s4MDAwMDAwMDAwMDE7ZXhwPTMzMjA5MTcxMDE7YWxnbz1obWFjLXNoYTI1NjtzaWc9Uy9yU2d2eTJYQzNVdVVqM212bW5oR3pJa09SM0Q4OCtkLzVHNjIvV0xPbz0=&amp;x_location=7YfmxI7B7uKO7jlRxIftd6UoePD="/>
          <p:cNvPicPr>
            <a:picLocks noChangeAspect="1"/>
          </p:cNvPicPr>
          <p:nvPr/>
        </p:nvPicPr>
        <p:blipFill>
          <a:blip r:embed="rId4"/>
          <a:srcRect t="9322" b="5932"/>
          <a:stretch>
            <a:fillRect/>
          </a:stretch>
        </p:blipFill>
        <p:spPr>
          <a:xfrm>
            <a:off x="362236" y="2385837"/>
            <a:ext cx="2891701" cy="2436384"/>
          </a:xfrm>
          <a:prstGeom prst="rect">
            <a:avLst/>
          </a:prstGeom>
        </p:spPr>
      </p:pic>
      <p:sp>
        <p:nvSpPr>
          <p:cNvPr id="13" name="Text 10"/>
          <p:cNvSpPr/>
          <p:nvPr/>
        </p:nvSpPr>
        <p:spPr>
          <a:xfrm>
            <a:off x="3691454" y="1527034"/>
            <a:ext cx="4873500" cy="603504"/>
          </a:xfrm>
          <a:prstGeom prst="rect">
            <a:avLst/>
          </a:prstGeom>
          <a:noFill/>
        </p:spPr>
        <p:txBody>
          <a:bodyPr wrap="square" lIns="95250" tIns="95250" rIns="95250" bIns="95250" rtlCol="0" anchor="t">
            <a:spAutoFit/>
          </a:bodyPr>
          <a:lstStyle/>
          <a:p>
            <a:pPr marL="0" indent="0">
              <a:lnSpc>
                <a:spcPct val="100000"/>
              </a:lnSpc>
              <a:spcBef>
                <a:spcPts val="375"/>
              </a:spcBef>
              <a:buNone/>
            </a:pPr>
            <a:r>
              <a:rPr lang="en-US" sz="1150" dirty="0">
                <a:solidFill>
                  <a:srgbClr val="272245"/>
                </a:solidFill>
                <a:latin typeface="Noto Sans" pitchFamily="34" charset="0"/>
                <a:ea typeface="Noto Sans" pitchFamily="34" charset="-122"/>
                <a:cs typeface="Noto Sans" pitchFamily="34" charset="-120"/>
              </a:rPr>
              <a:t>实现高效界面的关键在于遵循简洁、直观的设计原则，确保用户能够快速理解和操作，减少认知负担，提升用户体验。</a:t>
            </a:r>
            <a:endParaRPr lang="en-US" sz="1440" dirty="0"/>
          </a:p>
        </p:txBody>
      </p:sp>
      <p:sp>
        <p:nvSpPr>
          <p:cNvPr id="14" name="Text 11"/>
          <p:cNvSpPr/>
          <p:nvPr/>
        </p:nvSpPr>
        <p:spPr>
          <a:xfrm>
            <a:off x="3691454" y="2535631"/>
            <a:ext cx="5088448" cy="384048"/>
          </a:xfrm>
          <a:prstGeom prst="rect">
            <a:avLst/>
          </a:prstGeom>
          <a:noFill/>
        </p:spPr>
        <p:txBody>
          <a:bodyPr wrap="square" lIns="95250" tIns="95250" rIns="95250" bIns="95250" rtlCol="0" anchor="t">
            <a:spAutoFit/>
          </a:bodyPr>
          <a:lstStyle/>
          <a:p>
            <a:pPr marL="0" indent="0">
              <a:lnSpc>
                <a:spcPct val="100000"/>
              </a:lnSpc>
              <a:spcBef>
                <a:spcPts val="375"/>
              </a:spcBef>
              <a:buNone/>
            </a:pPr>
            <a:r>
              <a:rPr lang="en-US" sz="1585" b="1" dirty="0">
                <a:solidFill>
                  <a:srgbClr val="272245"/>
                </a:solidFill>
                <a:latin typeface="Noto Sans" pitchFamily="34" charset="0"/>
                <a:ea typeface="Noto Sans" pitchFamily="34" charset="-122"/>
                <a:cs typeface="Noto Sans" pitchFamily="34" charset="-120"/>
              </a:rPr>
              <a:t>用户交互优化</a:t>
            </a:r>
            <a:endParaRPr lang="en-US" sz="1440" dirty="0"/>
          </a:p>
        </p:txBody>
      </p:sp>
      <p:sp>
        <p:nvSpPr>
          <p:cNvPr id="15" name="Text 12"/>
          <p:cNvSpPr/>
          <p:nvPr/>
        </p:nvSpPr>
        <p:spPr>
          <a:xfrm>
            <a:off x="3691454" y="2800807"/>
            <a:ext cx="4873752" cy="603504"/>
          </a:xfrm>
          <a:prstGeom prst="rect">
            <a:avLst/>
          </a:prstGeom>
          <a:noFill/>
        </p:spPr>
        <p:txBody>
          <a:bodyPr wrap="square" lIns="95250" tIns="95250" rIns="95250" bIns="95250" rtlCol="0" anchor="t">
            <a:spAutoFit/>
          </a:bodyPr>
          <a:lstStyle/>
          <a:p>
            <a:pPr marL="0" indent="0">
              <a:lnSpc>
                <a:spcPct val="100000"/>
              </a:lnSpc>
              <a:spcBef>
                <a:spcPts val="375"/>
              </a:spcBef>
              <a:buNone/>
            </a:pPr>
            <a:r>
              <a:rPr lang="en-US" sz="1150" dirty="0">
                <a:solidFill>
                  <a:srgbClr val="272245"/>
                </a:solidFill>
                <a:latin typeface="Noto Sans" pitchFamily="34" charset="0"/>
                <a:ea typeface="Noto Sans" pitchFamily="34" charset="-122"/>
                <a:cs typeface="Noto Sans" pitchFamily="34" charset="-120"/>
              </a:rPr>
              <a:t>高效的界面需要优化用户交互流程，通过合理的布局和反馈机制，使用户在使用过程中感到流畅和自然，从而提高操作效率。</a:t>
            </a:r>
            <a:endParaRPr lang="en-US" sz="1440" dirty="0"/>
          </a:p>
        </p:txBody>
      </p:sp>
      <p:sp>
        <p:nvSpPr>
          <p:cNvPr id="16" name="Text 13"/>
          <p:cNvSpPr/>
          <p:nvPr/>
        </p:nvSpPr>
        <p:spPr>
          <a:xfrm>
            <a:off x="3691454" y="3808476"/>
            <a:ext cx="5088448" cy="384048"/>
          </a:xfrm>
          <a:prstGeom prst="rect">
            <a:avLst/>
          </a:prstGeom>
          <a:noFill/>
        </p:spPr>
        <p:txBody>
          <a:bodyPr wrap="square" lIns="95250" tIns="95250" rIns="95250" bIns="95250" rtlCol="0" anchor="t">
            <a:spAutoFit/>
          </a:bodyPr>
          <a:lstStyle/>
          <a:p>
            <a:pPr marL="0" indent="0">
              <a:lnSpc>
                <a:spcPct val="100000"/>
              </a:lnSpc>
              <a:spcBef>
                <a:spcPts val="375"/>
              </a:spcBef>
              <a:buNone/>
            </a:pPr>
            <a:r>
              <a:rPr lang="en-US" sz="1585" b="1" dirty="0">
                <a:solidFill>
                  <a:srgbClr val="272245"/>
                </a:solidFill>
                <a:latin typeface="Noto Sans" pitchFamily="34" charset="0"/>
                <a:ea typeface="Noto Sans" pitchFamily="34" charset="-122"/>
                <a:cs typeface="Noto Sans" pitchFamily="34" charset="-120"/>
              </a:rPr>
              <a:t>技术与创新应用</a:t>
            </a:r>
            <a:endParaRPr lang="en-US" sz="1440" dirty="0"/>
          </a:p>
        </p:txBody>
      </p:sp>
      <p:sp>
        <p:nvSpPr>
          <p:cNvPr id="17" name="Text 14"/>
          <p:cNvSpPr/>
          <p:nvPr/>
        </p:nvSpPr>
        <p:spPr>
          <a:xfrm>
            <a:off x="3691454" y="4073652"/>
            <a:ext cx="4873752" cy="603504"/>
          </a:xfrm>
          <a:prstGeom prst="rect">
            <a:avLst/>
          </a:prstGeom>
          <a:noFill/>
        </p:spPr>
        <p:txBody>
          <a:bodyPr wrap="square" lIns="95250" tIns="95250" rIns="95250" bIns="95250" rtlCol="0" anchor="t">
            <a:spAutoFit/>
          </a:bodyPr>
          <a:lstStyle/>
          <a:p>
            <a:pPr marL="0" indent="0">
              <a:lnSpc>
                <a:spcPct val="100000"/>
              </a:lnSpc>
              <a:spcBef>
                <a:spcPts val="375"/>
              </a:spcBef>
              <a:buNone/>
            </a:pPr>
            <a:r>
              <a:rPr lang="en-US" sz="1150" dirty="0">
                <a:solidFill>
                  <a:srgbClr val="272245"/>
                </a:solidFill>
                <a:latin typeface="Noto Sans" pitchFamily="34" charset="0"/>
                <a:ea typeface="Noto Sans" pitchFamily="34" charset="-122"/>
                <a:cs typeface="Noto Sans" pitchFamily="34" charset="-120"/>
              </a:rPr>
              <a:t>利用最新的技术和创新方法，如人工智能和机器学习，可以进一步提升界面的智能化水平，为用户提供更加个性化和高效的服务。</a:t>
            </a:r>
            <a:endParaRPr lang="en-US" sz="144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246639" y="1071087"/>
            <a:ext cx="2055531" cy="1883664"/>
          </a:xfrm>
          <a:prstGeom prst="rect">
            <a:avLst/>
          </a:prstGeom>
          <a:noFill/>
        </p:spPr>
        <p:txBody>
          <a:bodyPr wrap="square" lIns="95250" tIns="95250" rIns="95250" bIns="95250" rtlCol="0" anchor="t"/>
          <a:lstStyle/>
          <a:p>
            <a:pPr marL="0" indent="0" algn="ctr">
              <a:lnSpc>
                <a:spcPct val="113000"/>
              </a:lnSpc>
              <a:spcBef>
                <a:spcPts val="375"/>
              </a:spcBef>
              <a:buNone/>
            </a:pPr>
            <a:r>
              <a:rPr lang="en-US" sz="8930" b="1" dirty="0">
                <a:solidFill>
                  <a:srgbClr val="2A5899"/>
                </a:solidFill>
                <a:latin typeface="微软雅黑" panose="020B0503020204020204" pitchFamily="34" charset="-122"/>
                <a:ea typeface="微软雅黑" panose="020B0503020204020204" pitchFamily="34" charset="-122"/>
                <a:cs typeface="微软雅黑" panose="020B0503020204020204" pitchFamily="34" charset="-120"/>
              </a:rPr>
              <a:t>08</a:t>
            </a:r>
            <a:endParaRPr lang="en-US" sz="1440" dirty="0"/>
          </a:p>
        </p:txBody>
      </p:sp>
      <p:sp>
        <p:nvSpPr>
          <p:cNvPr id="3" name="Text 1"/>
          <p:cNvSpPr/>
          <p:nvPr/>
        </p:nvSpPr>
        <p:spPr>
          <a:xfrm>
            <a:off x="497579" y="2595807"/>
            <a:ext cx="5218432" cy="813816"/>
          </a:xfrm>
          <a:prstGeom prst="rect">
            <a:avLst/>
          </a:prstGeom>
          <a:noFill/>
        </p:spPr>
        <p:txBody>
          <a:bodyPr wrap="square" lIns="95250" tIns="95250" rIns="95250" bIns="95250" rtlCol="0" anchor="t"/>
          <a:lstStyle/>
          <a:p>
            <a:pPr marL="0" indent="0">
              <a:lnSpc>
                <a:spcPct val="113000"/>
              </a:lnSpc>
              <a:spcBef>
                <a:spcPts val="375"/>
              </a:spcBef>
              <a:buNone/>
            </a:pPr>
            <a:r>
              <a:rPr lang="en-US" sz="3310" b="1" dirty="0">
                <a:solidFill>
                  <a:srgbClr val="272245"/>
                </a:solidFill>
                <a:latin typeface="微软雅黑" panose="020B0503020204020204" pitchFamily="34" charset="-122"/>
                <a:ea typeface="微软雅黑" panose="020B0503020204020204" pitchFamily="34" charset="-122"/>
                <a:cs typeface="微软雅黑" panose="020B0503020204020204" pitchFamily="34" charset="-120"/>
              </a:rPr>
              <a:t>需求分析重要性</a:t>
            </a:r>
            <a:endParaRPr lang="en-US" sz="1440" dirty="0"/>
          </a:p>
        </p:txBody>
      </p:sp>
      <p:pic>
        <p:nvPicPr>
          <p:cNvPr id="4" name="Image 0" descr="https://sgw-dx.xf-yun.com/api/v1/sparkdesk/_19052329831_fVPc9i1733712667757-005544323224029091.png?authorization=c2ltcGxlLWp3dCBhaz1zcGFya2Rlc2s4MDAwMDAwMDAwMDE7ZXhwPTMzMTA1MTI2Nzk7YWxnbz1obWFjLXNoYTI1NjtzaWc9a2pCNm01T2o4VEJER0o1Q3FOV2VJYUpvODByWkFQclRoZVRqRnpXRnY1Yz0=&amp;x_location=7YfmxI7B7uKO7jlRxIftd60Ye5D="/>
          <p:cNvPicPr>
            <a:picLocks noChangeAspect="1"/>
          </p:cNvPicPr>
          <p:nvPr/>
        </p:nvPicPr>
        <p:blipFill>
          <a:blip r:embed="rId4"/>
          <a:stretch>
            <a:fillRect/>
          </a:stretch>
        </p:blipFill>
        <p:spPr>
          <a:xfrm>
            <a:off x="590374" y="2550087"/>
            <a:ext cx="2848105" cy="182880"/>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283641" y="190697"/>
            <a:ext cx="8088253" cy="566928"/>
          </a:xfrm>
          <a:prstGeom prst="rect">
            <a:avLst/>
          </a:prstGeom>
          <a:noFill/>
        </p:spPr>
        <p:txBody>
          <a:bodyPr wrap="square" lIns="95250" tIns="95250" rIns="95250" bIns="95250" rtlCol="0" anchor="t"/>
          <a:lstStyle/>
          <a:p>
            <a:pPr marL="0" indent="0">
              <a:lnSpc>
                <a:spcPct val="113000"/>
              </a:lnSpc>
              <a:spcBef>
                <a:spcPts val="375"/>
              </a:spcBef>
              <a:buNone/>
            </a:pPr>
            <a:r>
              <a:rPr lang="en-US" sz="2015"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识别核心需求</a:t>
            </a:r>
            <a:endParaRPr lang="en-US" sz="1440" dirty="0"/>
          </a:p>
        </p:txBody>
      </p:sp>
      <p:pic>
        <p:nvPicPr>
          <p:cNvPr id="3" name="Image 0" descr="preencoded.png"/>
          <p:cNvPicPr>
            <a:picLocks noChangeAspect="1"/>
          </p:cNvPicPr>
          <p:nvPr/>
        </p:nvPicPr>
        <p:blipFill>
          <a:blip r:embed="rId4">
            <a:alphaModFix amt="20000"/>
          </a:blip>
          <a:stretch>
            <a:fillRect/>
          </a:stretch>
        </p:blipFill>
        <p:spPr>
          <a:xfrm>
            <a:off x="527244" y="1583071"/>
            <a:ext cx="2321789" cy="619144"/>
          </a:xfrm>
          <a:prstGeom prst="rect">
            <a:avLst/>
          </a:prstGeom>
        </p:spPr>
      </p:pic>
      <p:pic>
        <p:nvPicPr>
          <p:cNvPr id="4" name="Image 1" descr="preencoded.png"/>
          <p:cNvPicPr>
            <a:picLocks noChangeAspect="1"/>
          </p:cNvPicPr>
          <p:nvPr/>
        </p:nvPicPr>
        <p:blipFill>
          <a:blip r:embed="rId5"/>
          <a:stretch>
            <a:fillRect/>
          </a:stretch>
        </p:blipFill>
        <p:spPr>
          <a:xfrm>
            <a:off x="527244" y="1583071"/>
            <a:ext cx="1550096" cy="619144"/>
          </a:xfrm>
          <a:prstGeom prst="rect">
            <a:avLst/>
          </a:prstGeom>
        </p:spPr>
      </p:pic>
      <p:sp>
        <p:nvSpPr>
          <p:cNvPr id="5" name="Text 1"/>
          <p:cNvSpPr/>
          <p:nvPr/>
        </p:nvSpPr>
        <p:spPr>
          <a:xfrm>
            <a:off x="527244" y="914234"/>
            <a:ext cx="1720645" cy="923544"/>
          </a:xfrm>
          <a:prstGeom prst="rect">
            <a:avLst/>
          </a:prstGeom>
          <a:noFill/>
        </p:spPr>
        <p:txBody>
          <a:bodyPr wrap="square" lIns="95250" tIns="95250" rIns="95250" bIns="95250" rtlCol="0" anchor="t">
            <a:spAutoFit/>
          </a:bodyPr>
          <a:lstStyle/>
          <a:p>
            <a:pPr marL="0" indent="0">
              <a:lnSpc>
                <a:spcPct val="113000"/>
              </a:lnSpc>
              <a:spcBef>
                <a:spcPts val="375"/>
              </a:spcBef>
              <a:buNone/>
            </a:pPr>
            <a:r>
              <a:rPr lang="en-US" sz="3890" b="1" i="1" dirty="0">
                <a:solidFill>
                  <a:srgbClr val="2A5899"/>
                </a:solidFill>
                <a:latin typeface="Noto Sans" pitchFamily="34" charset="0"/>
                <a:ea typeface="Noto Sans" pitchFamily="34" charset="-122"/>
                <a:cs typeface="Noto Sans" pitchFamily="34" charset="-120"/>
              </a:rPr>
              <a:t>70%</a:t>
            </a:r>
            <a:endParaRPr lang="en-US" sz="1440" dirty="0"/>
          </a:p>
        </p:txBody>
      </p:sp>
      <p:sp>
        <p:nvSpPr>
          <p:cNvPr id="6" name="Shape 2"/>
          <p:cNvSpPr/>
          <p:nvPr/>
        </p:nvSpPr>
        <p:spPr>
          <a:xfrm>
            <a:off x="527244" y="2774350"/>
            <a:ext cx="2169687" cy="0"/>
          </a:xfrm>
          <a:custGeom>
            <a:avLst/>
            <a:gdLst/>
            <a:ahLst/>
            <a:cxnLst/>
            <a:rect l="l" t="t" r="r" b="b"/>
            <a:pathLst>
              <a:path w="2169687">
                <a:moveTo>
                  <a:pt x="0" y="0"/>
                </a:moveTo>
                <a:moveTo>
                  <a:pt x="0" y="0"/>
                </a:moveTo>
                <a:lnTo>
                  <a:pt x="2169687" y="0"/>
                </a:lnTo>
              </a:path>
            </a:pathLst>
          </a:custGeom>
          <a:noFill/>
          <a:ln w="9525">
            <a:solidFill>
              <a:srgbClr val="E1E1E1"/>
            </a:solidFill>
            <a:prstDash val="solid"/>
            <a:headEnd type="none"/>
            <a:tailEnd type="none"/>
          </a:ln>
        </p:spPr>
      </p:sp>
      <p:pic>
        <p:nvPicPr>
          <p:cNvPr id="7" name="Image 2" descr="preencoded.png"/>
          <p:cNvPicPr>
            <a:picLocks noChangeAspect="1"/>
          </p:cNvPicPr>
          <p:nvPr/>
        </p:nvPicPr>
        <p:blipFill>
          <a:blip r:embed="rId6">
            <a:alphaModFix amt="20000"/>
          </a:blip>
          <a:stretch>
            <a:fillRect/>
          </a:stretch>
        </p:blipFill>
        <p:spPr>
          <a:xfrm>
            <a:off x="3411106" y="1583071"/>
            <a:ext cx="2321789" cy="619144"/>
          </a:xfrm>
          <a:prstGeom prst="rect">
            <a:avLst/>
          </a:prstGeom>
        </p:spPr>
      </p:pic>
      <p:pic>
        <p:nvPicPr>
          <p:cNvPr id="8" name="Image 3" descr="preencoded.png"/>
          <p:cNvPicPr>
            <a:picLocks noChangeAspect="1"/>
          </p:cNvPicPr>
          <p:nvPr/>
        </p:nvPicPr>
        <p:blipFill>
          <a:blip r:embed="rId7"/>
          <a:stretch>
            <a:fillRect/>
          </a:stretch>
        </p:blipFill>
        <p:spPr>
          <a:xfrm>
            <a:off x="3411106" y="1583071"/>
            <a:ext cx="1997454" cy="619144"/>
          </a:xfrm>
          <a:prstGeom prst="rect">
            <a:avLst/>
          </a:prstGeom>
        </p:spPr>
      </p:pic>
      <p:sp>
        <p:nvSpPr>
          <p:cNvPr id="9" name="Text 3"/>
          <p:cNvSpPr/>
          <p:nvPr/>
        </p:nvSpPr>
        <p:spPr>
          <a:xfrm>
            <a:off x="3504657" y="914234"/>
            <a:ext cx="1720645" cy="923544"/>
          </a:xfrm>
          <a:prstGeom prst="rect">
            <a:avLst/>
          </a:prstGeom>
          <a:noFill/>
        </p:spPr>
        <p:txBody>
          <a:bodyPr wrap="square" lIns="95250" tIns="95250" rIns="95250" bIns="95250" rtlCol="0" anchor="t">
            <a:spAutoFit/>
          </a:bodyPr>
          <a:lstStyle/>
          <a:p>
            <a:pPr marL="0" indent="0">
              <a:lnSpc>
                <a:spcPct val="113000"/>
              </a:lnSpc>
              <a:spcBef>
                <a:spcPts val="375"/>
              </a:spcBef>
              <a:buNone/>
            </a:pPr>
            <a:r>
              <a:rPr lang="en-US" sz="3890" b="1" i="1" dirty="0">
                <a:solidFill>
                  <a:srgbClr val="459DF3"/>
                </a:solidFill>
                <a:latin typeface="Noto Sans" pitchFamily="34" charset="0"/>
                <a:ea typeface="Noto Sans" pitchFamily="34" charset="-122"/>
                <a:cs typeface="Noto Sans" pitchFamily="34" charset="-120"/>
              </a:rPr>
              <a:t>90%</a:t>
            </a:r>
            <a:endParaRPr lang="en-US" sz="1440" dirty="0"/>
          </a:p>
        </p:txBody>
      </p:sp>
      <p:sp>
        <p:nvSpPr>
          <p:cNvPr id="10" name="Shape 4"/>
          <p:cNvSpPr/>
          <p:nvPr/>
        </p:nvSpPr>
        <p:spPr>
          <a:xfrm>
            <a:off x="3411106" y="2774350"/>
            <a:ext cx="2169687" cy="0"/>
          </a:xfrm>
          <a:custGeom>
            <a:avLst/>
            <a:gdLst/>
            <a:ahLst/>
            <a:cxnLst/>
            <a:rect l="l" t="t" r="r" b="b"/>
            <a:pathLst>
              <a:path w="2169687">
                <a:moveTo>
                  <a:pt x="0" y="0"/>
                </a:moveTo>
                <a:moveTo>
                  <a:pt x="0" y="0"/>
                </a:moveTo>
                <a:lnTo>
                  <a:pt x="2169687" y="0"/>
                </a:lnTo>
              </a:path>
            </a:pathLst>
          </a:custGeom>
          <a:noFill/>
          <a:ln w="9525">
            <a:solidFill>
              <a:srgbClr val="E1E1E1"/>
            </a:solidFill>
            <a:prstDash val="solid"/>
            <a:headEnd type="none"/>
            <a:tailEnd type="none"/>
          </a:ln>
        </p:spPr>
      </p:sp>
      <p:pic>
        <p:nvPicPr>
          <p:cNvPr id="11" name="Image 4" descr="preencoded.png"/>
          <p:cNvPicPr>
            <a:picLocks noChangeAspect="1"/>
          </p:cNvPicPr>
          <p:nvPr/>
        </p:nvPicPr>
        <p:blipFill>
          <a:blip r:embed="rId4">
            <a:alphaModFix amt="20000"/>
          </a:blip>
          <a:stretch>
            <a:fillRect/>
          </a:stretch>
        </p:blipFill>
        <p:spPr>
          <a:xfrm>
            <a:off x="6294967" y="1583071"/>
            <a:ext cx="2321789" cy="619144"/>
          </a:xfrm>
          <a:prstGeom prst="rect">
            <a:avLst/>
          </a:prstGeom>
        </p:spPr>
      </p:pic>
      <p:pic>
        <p:nvPicPr>
          <p:cNvPr id="12" name="Image 5" descr="preencoded.png"/>
          <p:cNvPicPr>
            <a:picLocks noChangeAspect="1"/>
          </p:cNvPicPr>
          <p:nvPr/>
        </p:nvPicPr>
        <p:blipFill>
          <a:blip r:embed="rId8"/>
          <a:stretch>
            <a:fillRect/>
          </a:stretch>
        </p:blipFill>
        <p:spPr>
          <a:xfrm>
            <a:off x="6294967" y="1583071"/>
            <a:ext cx="1348785" cy="619144"/>
          </a:xfrm>
          <a:prstGeom prst="rect">
            <a:avLst/>
          </a:prstGeom>
        </p:spPr>
      </p:pic>
      <p:sp>
        <p:nvSpPr>
          <p:cNvPr id="13" name="Text 5"/>
          <p:cNvSpPr/>
          <p:nvPr/>
        </p:nvSpPr>
        <p:spPr>
          <a:xfrm>
            <a:off x="6294967" y="914234"/>
            <a:ext cx="1720645" cy="923544"/>
          </a:xfrm>
          <a:prstGeom prst="rect">
            <a:avLst/>
          </a:prstGeom>
          <a:noFill/>
        </p:spPr>
        <p:txBody>
          <a:bodyPr wrap="square" lIns="95250" tIns="95250" rIns="95250" bIns="95250" rtlCol="0" anchor="t">
            <a:spAutoFit/>
          </a:bodyPr>
          <a:lstStyle/>
          <a:p>
            <a:pPr marL="0" indent="0">
              <a:lnSpc>
                <a:spcPct val="113000"/>
              </a:lnSpc>
              <a:spcBef>
                <a:spcPts val="375"/>
              </a:spcBef>
              <a:buNone/>
            </a:pPr>
            <a:r>
              <a:rPr lang="en-US" sz="3890" b="1" i="1" dirty="0">
                <a:solidFill>
                  <a:srgbClr val="2A5899"/>
                </a:solidFill>
                <a:latin typeface="Noto Sans" pitchFamily="34" charset="0"/>
                <a:ea typeface="Noto Sans" pitchFamily="34" charset="-122"/>
                <a:cs typeface="Noto Sans" pitchFamily="34" charset="-120"/>
              </a:rPr>
              <a:t>50%</a:t>
            </a:r>
            <a:endParaRPr lang="en-US" sz="1440" dirty="0"/>
          </a:p>
        </p:txBody>
      </p:sp>
      <p:sp>
        <p:nvSpPr>
          <p:cNvPr id="14" name="Shape 6"/>
          <p:cNvSpPr/>
          <p:nvPr/>
        </p:nvSpPr>
        <p:spPr>
          <a:xfrm>
            <a:off x="6294967" y="2774350"/>
            <a:ext cx="2169687" cy="0"/>
          </a:xfrm>
          <a:custGeom>
            <a:avLst/>
            <a:gdLst/>
            <a:ahLst/>
            <a:cxnLst/>
            <a:rect l="l" t="t" r="r" b="b"/>
            <a:pathLst>
              <a:path w="2169687">
                <a:moveTo>
                  <a:pt x="0" y="0"/>
                </a:moveTo>
                <a:moveTo>
                  <a:pt x="0" y="0"/>
                </a:moveTo>
                <a:lnTo>
                  <a:pt x="2169687" y="0"/>
                </a:lnTo>
              </a:path>
            </a:pathLst>
          </a:custGeom>
          <a:noFill/>
          <a:ln w="9525">
            <a:solidFill>
              <a:srgbClr val="E1E1E1"/>
            </a:solidFill>
            <a:prstDash val="solid"/>
            <a:headEnd type="none"/>
            <a:tailEnd type="none"/>
          </a:ln>
        </p:spPr>
      </p:sp>
      <p:sp>
        <p:nvSpPr>
          <p:cNvPr id="15" name="Text 7"/>
          <p:cNvSpPr/>
          <p:nvPr/>
        </p:nvSpPr>
        <p:spPr>
          <a:xfrm>
            <a:off x="527244" y="2120585"/>
            <a:ext cx="2321789" cy="374904"/>
          </a:xfrm>
          <a:prstGeom prst="rect">
            <a:avLst/>
          </a:prstGeom>
          <a:noFill/>
        </p:spPr>
        <p:txBody>
          <a:bodyPr wrap="square" lIns="95250" tIns="95250" rIns="95250" bIns="95250" rtlCol="0" anchor="t"/>
          <a:lstStyle/>
          <a:p>
            <a:pPr marL="0" indent="0">
              <a:lnSpc>
                <a:spcPct val="100000"/>
              </a:lnSpc>
              <a:spcBef>
                <a:spcPts val="375"/>
              </a:spcBef>
              <a:buNone/>
            </a:pPr>
            <a:r>
              <a:rPr lang="en-US" sz="1440" b="1" dirty="0">
                <a:solidFill>
                  <a:srgbClr val="272245"/>
                </a:solidFill>
                <a:latin typeface="Noto Sans" pitchFamily="34" charset="0"/>
                <a:ea typeface="Noto Sans" pitchFamily="34" charset="-122"/>
                <a:cs typeface="Noto Sans" pitchFamily="34" charset="-120"/>
              </a:rPr>
              <a:t>深度理解用户需求</a:t>
            </a:r>
            <a:endParaRPr lang="en-US" sz="1440" dirty="0"/>
          </a:p>
        </p:txBody>
      </p:sp>
      <p:sp>
        <p:nvSpPr>
          <p:cNvPr id="16" name="Text 8"/>
          <p:cNvSpPr/>
          <p:nvPr/>
        </p:nvSpPr>
        <p:spPr>
          <a:xfrm>
            <a:off x="527244" y="2801782"/>
            <a:ext cx="2321789" cy="1024128"/>
          </a:xfrm>
          <a:prstGeom prst="rect">
            <a:avLst/>
          </a:prstGeom>
          <a:noFill/>
        </p:spPr>
        <p:txBody>
          <a:bodyPr wrap="square" lIns="95250" tIns="95250" rIns="95250" bIns="95250" rtlCol="0" anchor="t">
            <a:spAutoFit/>
          </a:bodyPr>
          <a:lstStyle/>
          <a:p>
            <a:pPr marL="0" indent="0">
              <a:lnSpc>
                <a:spcPct val="100000"/>
              </a:lnSpc>
              <a:spcBef>
                <a:spcPts val="375"/>
              </a:spcBef>
              <a:buNone/>
            </a:pPr>
            <a:r>
              <a:rPr lang="en-US" sz="1150" dirty="0">
                <a:solidFill>
                  <a:srgbClr val="272245"/>
                </a:solidFill>
                <a:latin typeface="Noto Sans" pitchFamily="34" charset="0"/>
                <a:ea typeface="Noto Sans" pitchFamily="34" charset="-122"/>
                <a:cs typeface="Noto Sans" pitchFamily="34" charset="-120"/>
              </a:rPr>
              <a:t>构建智能平台的首要任务是深度理解用户需求，通过收集和分析用户的浏览行为、偏好设置及历史订单数据，为精准推送打下基础。</a:t>
            </a:r>
            <a:endParaRPr lang="en-US" sz="1440" dirty="0"/>
          </a:p>
        </p:txBody>
      </p:sp>
      <p:sp>
        <p:nvSpPr>
          <p:cNvPr id="17" name="Text 9"/>
          <p:cNvSpPr/>
          <p:nvPr/>
        </p:nvSpPr>
        <p:spPr>
          <a:xfrm>
            <a:off x="3411106" y="2120585"/>
            <a:ext cx="2321789" cy="374904"/>
          </a:xfrm>
          <a:prstGeom prst="rect">
            <a:avLst/>
          </a:prstGeom>
          <a:noFill/>
        </p:spPr>
        <p:txBody>
          <a:bodyPr wrap="square" lIns="95250" tIns="95250" rIns="95250" bIns="95250" rtlCol="0" anchor="t"/>
          <a:lstStyle/>
          <a:p>
            <a:pPr marL="0" indent="0">
              <a:lnSpc>
                <a:spcPct val="100000"/>
              </a:lnSpc>
              <a:spcBef>
                <a:spcPts val="375"/>
              </a:spcBef>
              <a:buNone/>
            </a:pPr>
            <a:r>
              <a:rPr lang="en-US" sz="1440" b="1" dirty="0">
                <a:solidFill>
                  <a:srgbClr val="272245"/>
                </a:solidFill>
                <a:latin typeface="Noto Sans" pitchFamily="34" charset="0"/>
                <a:ea typeface="Noto Sans" pitchFamily="34" charset="-122"/>
                <a:cs typeface="Noto Sans" pitchFamily="34" charset="-120"/>
              </a:rPr>
              <a:t>个性化设计方案推送</a:t>
            </a:r>
            <a:endParaRPr lang="en-US" sz="1440" dirty="0"/>
          </a:p>
        </p:txBody>
      </p:sp>
      <p:sp>
        <p:nvSpPr>
          <p:cNvPr id="18" name="Text 10"/>
          <p:cNvSpPr/>
          <p:nvPr/>
        </p:nvSpPr>
        <p:spPr>
          <a:xfrm>
            <a:off x="3411106" y="2801782"/>
            <a:ext cx="2321789" cy="1024128"/>
          </a:xfrm>
          <a:prstGeom prst="rect">
            <a:avLst/>
          </a:prstGeom>
          <a:noFill/>
        </p:spPr>
        <p:txBody>
          <a:bodyPr wrap="square" lIns="95250" tIns="95250" rIns="95250" bIns="95250" rtlCol="0" anchor="t">
            <a:spAutoFit/>
          </a:bodyPr>
          <a:lstStyle/>
          <a:p>
            <a:pPr marL="0" indent="0">
              <a:lnSpc>
                <a:spcPct val="100000"/>
              </a:lnSpc>
              <a:spcBef>
                <a:spcPts val="375"/>
              </a:spcBef>
              <a:buNone/>
            </a:pPr>
            <a:r>
              <a:rPr lang="en-US" sz="1150" dirty="0">
                <a:solidFill>
                  <a:srgbClr val="272245"/>
                </a:solidFill>
                <a:latin typeface="Noto Sans" pitchFamily="34" charset="0"/>
                <a:ea typeface="Noto Sans" pitchFamily="34" charset="-122"/>
                <a:cs typeface="Noto Sans" pitchFamily="34" charset="-120"/>
              </a:rPr>
              <a:t>根据用户的具体需求和喜好，智能平台能够提供个性化的设计方案，确保每一位用户都能获得符合其预期的装修建议和家具选择。</a:t>
            </a:r>
            <a:endParaRPr lang="en-US" sz="1440" dirty="0"/>
          </a:p>
        </p:txBody>
      </p:sp>
      <p:sp>
        <p:nvSpPr>
          <p:cNvPr id="19" name="Text 11"/>
          <p:cNvSpPr/>
          <p:nvPr/>
        </p:nvSpPr>
        <p:spPr>
          <a:xfrm>
            <a:off x="6294967" y="2120585"/>
            <a:ext cx="2321789" cy="374904"/>
          </a:xfrm>
          <a:prstGeom prst="rect">
            <a:avLst/>
          </a:prstGeom>
          <a:noFill/>
        </p:spPr>
        <p:txBody>
          <a:bodyPr wrap="square" lIns="95250" tIns="95250" rIns="95250" bIns="95250" rtlCol="0" anchor="t"/>
          <a:lstStyle/>
          <a:p>
            <a:pPr marL="0" indent="0">
              <a:lnSpc>
                <a:spcPct val="100000"/>
              </a:lnSpc>
              <a:spcBef>
                <a:spcPts val="375"/>
              </a:spcBef>
              <a:buNone/>
            </a:pPr>
            <a:r>
              <a:rPr lang="en-US" sz="1440" b="1" dirty="0">
                <a:solidFill>
                  <a:srgbClr val="272245"/>
                </a:solidFill>
                <a:latin typeface="Noto Sans" pitchFamily="34" charset="0"/>
                <a:ea typeface="Noto Sans" pitchFamily="34" charset="-122"/>
                <a:cs typeface="Noto Sans" pitchFamily="34" charset="-120"/>
              </a:rPr>
              <a:t>精准推送装修材料与家具</a:t>
            </a:r>
            <a:endParaRPr lang="en-US" sz="1440" dirty="0"/>
          </a:p>
        </p:txBody>
      </p:sp>
      <p:sp>
        <p:nvSpPr>
          <p:cNvPr id="20" name="Text 12"/>
          <p:cNvSpPr/>
          <p:nvPr/>
        </p:nvSpPr>
        <p:spPr>
          <a:xfrm>
            <a:off x="6294967" y="2801782"/>
            <a:ext cx="2321789" cy="1024128"/>
          </a:xfrm>
          <a:prstGeom prst="rect">
            <a:avLst/>
          </a:prstGeom>
          <a:noFill/>
        </p:spPr>
        <p:txBody>
          <a:bodyPr wrap="square" lIns="95250" tIns="95250" rIns="95250" bIns="95250" rtlCol="0" anchor="t">
            <a:spAutoFit/>
          </a:bodyPr>
          <a:lstStyle/>
          <a:p>
            <a:pPr marL="0" indent="0">
              <a:lnSpc>
                <a:spcPct val="100000"/>
              </a:lnSpc>
              <a:spcBef>
                <a:spcPts val="375"/>
              </a:spcBef>
              <a:buNone/>
            </a:pPr>
            <a:r>
              <a:rPr lang="en-US" sz="1150" dirty="0">
                <a:solidFill>
                  <a:srgbClr val="272245"/>
                </a:solidFill>
                <a:latin typeface="Noto Sans" pitchFamily="34" charset="0"/>
                <a:ea typeface="Noto Sans" pitchFamily="34" charset="-122"/>
                <a:cs typeface="Noto Sans" pitchFamily="34" charset="-120"/>
              </a:rPr>
              <a:t>利用大数据分析技术，智能平台可以精确识别用户的购买倾向和风格偏好，从而向用户推荐最合适的装修材料和家具商品，提升购物体验。</a:t>
            </a:r>
            <a:endParaRPr lang="en-US" sz="144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283641" y="190697"/>
            <a:ext cx="8088253" cy="566928"/>
          </a:xfrm>
          <a:prstGeom prst="rect">
            <a:avLst/>
          </a:prstGeom>
          <a:noFill/>
        </p:spPr>
        <p:txBody>
          <a:bodyPr wrap="square" lIns="95250" tIns="95250" rIns="95250" bIns="95250" rtlCol="0" anchor="t"/>
          <a:lstStyle/>
          <a:p>
            <a:pPr marL="0" indent="0">
              <a:lnSpc>
                <a:spcPct val="113000"/>
              </a:lnSpc>
              <a:spcBef>
                <a:spcPts val="375"/>
              </a:spcBef>
              <a:buNone/>
            </a:pPr>
            <a:r>
              <a:rPr lang="en-US" sz="2015"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确保产品实用</a:t>
            </a:r>
            <a:endParaRPr lang="en-US" sz="1440" dirty="0"/>
          </a:p>
        </p:txBody>
      </p:sp>
      <p:sp>
        <p:nvSpPr>
          <p:cNvPr id="3" name="Text 1"/>
          <p:cNvSpPr/>
          <p:nvPr/>
        </p:nvSpPr>
        <p:spPr>
          <a:xfrm>
            <a:off x="3339648" y="1020931"/>
            <a:ext cx="5480411" cy="420624"/>
          </a:xfrm>
          <a:prstGeom prst="rect">
            <a:avLst/>
          </a:prstGeom>
          <a:noFill/>
        </p:spPr>
        <p:txBody>
          <a:bodyPr wrap="square" lIns="95250" tIns="95250" rIns="95250" bIns="95250" rtlCol="0" anchor="b"/>
          <a:lstStyle/>
          <a:p>
            <a:pPr marL="0" indent="0">
              <a:lnSpc>
                <a:spcPct val="100000"/>
              </a:lnSpc>
              <a:spcBef>
                <a:spcPts val="375"/>
              </a:spcBef>
              <a:buNone/>
            </a:pPr>
            <a:r>
              <a:rPr lang="en-US" sz="1585" b="1" dirty="0">
                <a:solidFill>
                  <a:srgbClr val="2A5899"/>
                </a:solidFill>
                <a:latin typeface="Noto Sans" pitchFamily="34" charset="0"/>
                <a:ea typeface="Noto Sans" pitchFamily="34" charset="-122"/>
                <a:cs typeface="Noto Sans" pitchFamily="34" charset="-120"/>
              </a:rPr>
              <a:t>用户需求分析</a:t>
            </a:r>
            <a:endParaRPr lang="en-US" sz="1440" dirty="0"/>
          </a:p>
        </p:txBody>
      </p:sp>
      <p:pic>
        <p:nvPicPr>
          <p:cNvPr id="4" name="Image 0" descr="https://sgw-dx.xf-yun.com/api/v1/sparkdesk/_17441171159917f8a804c76c4477fa170e6340325dba6.jpg?authorization=c2ltcGxlLWp3dCBhaz1zcGFya2Rlc2s4MDAwMDAwMDAwMDE7ZXhwPTMzMjA5MTcxMTY7YWxnbz1obWFjLXNoYTI1NjtzaWc9OU1FUUI1M1E4NEVpWkVLbVJlcUNjOUw4U0JmanJjREhtNzdGYWVXTzE3az0=&amp;x_location=7YfmxI7B7uKO7jlRxIftd6UoePD="/>
          <p:cNvPicPr>
            <a:picLocks noChangeAspect="1"/>
          </p:cNvPicPr>
          <p:nvPr/>
        </p:nvPicPr>
        <p:blipFill>
          <a:blip r:embed="rId4"/>
          <a:srcRect/>
          <a:stretch>
            <a:fillRect/>
          </a:stretch>
        </p:blipFill>
        <p:spPr>
          <a:xfrm>
            <a:off x="320040" y="1446751"/>
            <a:ext cx="2831897" cy="2831897"/>
          </a:xfrm>
          <a:prstGeom prst="rect">
            <a:avLst/>
          </a:prstGeom>
        </p:spPr>
      </p:pic>
      <p:sp>
        <p:nvSpPr>
          <p:cNvPr id="5" name="Text 2"/>
          <p:cNvSpPr/>
          <p:nvPr/>
        </p:nvSpPr>
        <p:spPr>
          <a:xfrm>
            <a:off x="3339648" y="1271795"/>
            <a:ext cx="5480411" cy="621792"/>
          </a:xfrm>
          <a:prstGeom prst="rect">
            <a:avLst/>
          </a:prstGeom>
          <a:noFill/>
        </p:spPr>
        <p:txBody>
          <a:bodyPr wrap="square" lIns="95250" tIns="95250" rIns="95250" bIns="95250" rtlCol="0" anchor="t">
            <a:spAutoFit/>
          </a:bodyPr>
          <a:lstStyle/>
          <a:p>
            <a:pPr marL="0" indent="0" algn="just">
              <a:lnSpc>
                <a:spcPct val="100000"/>
              </a:lnSpc>
              <a:spcBef>
                <a:spcPts val="375"/>
              </a:spcBef>
              <a:buNone/>
            </a:pPr>
            <a:r>
              <a:rPr lang="en-US" sz="1150" dirty="0">
                <a:solidFill>
                  <a:srgbClr val="272245"/>
                </a:solidFill>
                <a:latin typeface="Noto Sans" pitchFamily="34" charset="0"/>
                <a:ea typeface="Noto Sans" pitchFamily="34" charset="-122"/>
                <a:cs typeface="Noto Sans" pitchFamily="34" charset="-120"/>
              </a:rPr>
              <a:t>深入理解目标用户的实际需求是确保产品实用性的首要步骤。通过市场调研、用户访谈和数据分析，可以准确把握用户的痛点和期望，为产品设计提供坚实的基础。</a:t>
            </a:r>
            <a:endParaRPr lang="en-US" sz="1440" dirty="0"/>
          </a:p>
        </p:txBody>
      </p:sp>
      <p:sp>
        <p:nvSpPr>
          <p:cNvPr id="6" name="Text 3"/>
          <p:cNvSpPr/>
          <p:nvPr/>
        </p:nvSpPr>
        <p:spPr>
          <a:xfrm>
            <a:off x="3339648" y="2350635"/>
            <a:ext cx="5480411" cy="420624"/>
          </a:xfrm>
          <a:prstGeom prst="rect">
            <a:avLst/>
          </a:prstGeom>
          <a:noFill/>
        </p:spPr>
        <p:txBody>
          <a:bodyPr wrap="square" lIns="95250" tIns="95250" rIns="95250" bIns="95250" rtlCol="0" anchor="b"/>
          <a:lstStyle/>
          <a:p>
            <a:pPr marL="0" indent="0">
              <a:lnSpc>
                <a:spcPct val="100000"/>
              </a:lnSpc>
              <a:spcBef>
                <a:spcPts val="375"/>
              </a:spcBef>
              <a:buNone/>
            </a:pPr>
            <a:r>
              <a:rPr lang="en-US" sz="1585" b="1" dirty="0">
                <a:solidFill>
                  <a:srgbClr val="2A5899"/>
                </a:solidFill>
                <a:latin typeface="Noto Sans" pitchFamily="34" charset="0"/>
                <a:ea typeface="Noto Sans" pitchFamily="34" charset="-122"/>
                <a:cs typeface="Noto Sans" pitchFamily="34" charset="-120"/>
              </a:rPr>
              <a:t>功能优化迭代</a:t>
            </a:r>
            <a:endParaRPr lang="en-US" sz="1440" dirty="0"/>
          </a:p>
        </p:txBody>
      </p:sp>
      <p:sp>
        <p:nvSpPr>
          <p:cNvPr id="7" name="Text 4"/>
          <p:cNvSpPr/>
          <p:nvPr/>
        </p:nvSpPr>
        <p:spPr>
          <a:xfrm>
            <a:off x="3339648" y="2609554"/>
            <a:ext cx="5480411" cy="621792"/>
          </a:xfrm>
          <a:prstGeom prst="rect">
            <a:avLst/>
          </a:prstGeom>
          <a:noFill/>
        </p:spPr>
        <p:txBody>
          <a:bodyPr wrap="square" lIns="95250" tIns="95250" rIns="95250" bIns="95250" rtlCol="0" anchor="t">
            <a:spAutoFit/>
          </a:bodyPr>
          <a:lstStyle/>
          <a:p>
            <a:pPr marL="0" indent="0" algn="just">
              <a:lnSpc>
                <a:spcPct val="100000"/>
              </a:lnSpc>
              <a:spcBef>
                <a:spcPts val="375"/>
              </a:spcBef>
              <a:buNone/>
            </a:pPr>
            <a:r>
              <a:rPr lang="en-US" sz="1150" dirty="0">
                <a:solidFill>
                  <a:srgbClr val="272245"/>
                </a:solidFill>
                <a:latin typeface="Noto Sans" pitchFamily="34" charset="0"/>
                <a:ea typeface="Noto Sans" pitchFamily="34" charset="-122"/>
                <a:cs typeface="Noto Sans" pitchFamily="34" charset="-120"/>
              </a:rPr>
              <a:t>产品的实用性不仅体现在初次发布时的功能完整性，更在于后续的持续优化和迭代。定期收集用户反馈，对产品进行细致的调整和更新，确保其始终满足用户的实际需求。</a:t>
            </a:r>
            <a:endParaRPr lang="en-US" sz="1440" dirty="0"/>
          </a:p>
        </p:txBody>
      </p:sp>
      <p:sp>
        <p:nvSpPr>
          <p:cNvPr id="8" name="Text 5"/>
          <p:cNvSpPr/>
          <p:nvPr/>
        </p:nvSpPr>
        <p:spPr>
          <a:xfrm>
            <a:off x="3339648" y="3688394"/>
            <a:ext cx="5480411" cy="420624"/>
          </a:xfrm>
          <a:prstGeom prst="rect">
            <a:avLst/>
          </a:prstGeom>
          <a:noFill/>
        </p:spPr>
        <p:txBody>
          <a:bodyPr wrap="square" lIns="95250" tIns="95250" rIns="95250" bIns="95250" rtlCol="0" anchor="b"/>
          <a:lstStyle/>
          <a:p>
            <a:pPr marL="0" indent="0">
              <a:lnSpc>
                <a:spcPct val="100000"/>
              </a:lnSpc>
              <a:spcBef>
                <a:spcPts val="375"/>
              </a:spcBef>
              <a:buNone/>
            </a:pPr>
            <a:r>
              <a:rPr lang="en-US" sz="1585" b="1" dirty="0">
                <a:solidFill>
                  <a:srgbClr val="2A5899"/>
                </a:solidFill>
                <a:latin typeface="Noto Sans" pitchFamily="34" charset="0"/>
                <a:ea typeface="Noto Sans" pitchFamily="34" charset="-122"/>
                <a:cs typeface="Noto Sans" pitchFamily="34" charset="-120"/>
              </a:rPr>
              <a:t>性能稳定性测试</a:t>
            </a:r>
            <a:endParaRPr lang="en-US" sz="1440" dirty="0"/>
          </a:p>
        </p:txBody>
      </p:sp>
      <p:sp>
        <p:nvSpPr>
          <p:cNvPr id="9" name="Text 6"/>
          <p:cNvSpPr/>
          <p:nvPr/>
        </p:nvSpPr>
        <p:spPr>
          <a:xfrm>
            <a:off x="3339648" y="3939114"/>
            <a:ext cx="5482133" cy="621792"/>
          </a:xfrm>
          <a:prstGeom prst="rect">
            <a:avLst/>
          </a:prstGeom>
          <a:noFill/>
        </p:spPr>
        <p:txBody>
          <a:bodyPr wrap="square" lIns="95250" tIns="95250" rIns="95250" bIns="95250" rtlCol="0" anchor="t">
            <a:spAutoFit/>
          </a:bodyPr>
          <a:lstStyle/>
          <a:p>
            <a:pPr marL="0" indent="0" algn="just">
              <a:lnSpc>
                <a:spcPct val="100000"/>
              </a:lnSpc>
              <a:spcBef>
                <a:spcPts val="375"/>
              </a:spcBef>
              <a:buNone/>
            </a:pPr>
            <a:r>
              <a:rPr lang="en-US" sz="1150" dirty="0">
                <a:solidFill>
                  <a:srgbClr val="272245"/>
                </a:solidFill>
                <a:latin typeface="Noto Sans" pitchFamily="34" charset="0"/>
                <a:ea typeface="Noto Sans" pitchFamily="34" charset="-122"/>
                <a:cs typeface="Noto Sans" pitchFamily="34" charset="-120"/>
              </a:rPr>
              <a:t>在产品开发过程中，进行全面的性能和稳定性测试是确保产品实用的关键。通过模拟各种使用场景，及时发现并解决潜在的问题，保证产品在各种环境下都能稳定运行。</a:t>
            </a:r>
            <a:endParaRPr lang="en-US" sz="144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246639" y="1071087"/>
            <a:ext cx="2055531" cy="1883664"/>
          </a:xfrm>
          <a:prstGeom prst="rect">
            <a:avLst/>
          </a:prstGeom>
          <a:noFill/>
        </p:spPr>
        <p:txBody>
          <a:bodyPr wrap="square" lIns="95250" tIns="95250" rIns="95250" bIns="95250" rtlCol="0" anchor="t"/>
          <a:lstStyle/>
          <a:p>
            <a:pPr marL="0" indent="0" algn="ctr">
              <a:lnSpc>
                <a:spcPct val="113000"/>
              </a:lnSpc>
              <a:spcBef>
                <a:spcPts val="375"/>
              </a:spcBef>
              <a:buNone/>
            </a:pPr>
            <a:r>
              <a:rPr lang="en-US" sz="8930" b="1" dirty="0">
                <a:solidFill>
                  <a:srgbClr val="2A5899"/>
                </a:solidFill>
                <a:latin typeface="微软雅黑" panose="020B0503020204020204" pitchFamily="34" charset="-122"/>
                <a:ea typeface="微软雅黑" panose="020B0503020204020204" pitchFamily="34" charset="-122"/>
                <a:cs typeface="微软雅黑" panose="020B0503020204020204" pitchFamily="34" charset="-120"/>
              </a:rPr>
              <a:t>09</a:t>
            </a:r>
            <a:endParaRPr lang="en-US" sz="1440" dirty="0"/>
          </a:p>
        </p:txBody>
      </p:sp>
      <p:sp>
        <p:nvSpPr>
          <p:cNvPr id="3" name="Text 1"/>
          <p:cNvSpPr/>
          <p:nvPr/>
        </p:nvSpPr>
        <p:spPr>
          <a:xfrm>
            <a:off x="497579" y="2595807"/>
            <a:ext cx="5218432" cy="813816"/>
          </a:xfrm>
          <a:prstGeom prst="rect">
            <a:avLst/>
          </a:prstGeom>
          <a:noFill/>
        </p:spPr>
        <p:txBody>
          <a:bodyPr wrap="square" lIns="95250" tIns="95250" rIns="95250" bIns="95250" rtlCol="0" anchor="t"/>
          <a:lstStyle/>
          <a:p>
            <a:pPr marL="0" indent="0">
              <a:lnSpc>
                <a:spcPct val="113000"/>
              </a:lnSpc>
              <a:spcBef>
                <a:spcPts val="375"/>
              </a:spcBef>
              <a:buNone/>
            </a:pPr>
            <a:r>
              <a:rPr lang="en-US" sz="3310" b="1" dirty="0">
                <a:solidFill>
                  <a:srgbClr val="272245"/>
                </a:solidFill>
                <a:latin typeface="微软雅黑" panose="020B0503020204020204" pitchFamily="34" charset="-122"/>
                <a:ea typeface="微软雅黑" panose="020B0503020204020204" pitchFamily="34" charset="-122"/>
                <a:cs typeface="微软雅黑" panose="020B0503020204020204" pitchFamily="34" charset="-120"/>
              </a:rPr>
              <a:t>数据库表结构设计</a:t>
            </a:r>
            <a:endParaRPr lang="en-US" sz="1440" dirty="0"/>
          </a:p>
        </p:txBody>
      </p:sp>
      <p:pic>
        <p:nvPicPr>
          <p:cNvPr id="4" name="Image 0" descr="https://sgw-dx.xf-yun.com/api/v1/sparkdesk/_19052329831_fVPc9i1733712667757-005544323224029091.png?authorization=c2ltcGxlLWp3dCBhaz1zcGFya2Rlc2s4MDAwMDAwMDAwMDE7ZXhwPTMzMTA1MTI2Nzk7YWxnbz1obWFjLXNoYTI1NjtzaWc9a2pCNm01T2o4VEJER0o1Q3FOV2VJYUpvODByWkFQclRoZVRqRnpXRnY1Yz0=&amp;x_location=7YfmxI7B7uKO7jlRxIftd60Ye5D="/>
          <p:cNvPicPr>
            <a:picLocks noChangeAspect="1"/>
          </p:cNvPicPr>
          <p:nvPr/>
        </p:nvPicPr>
        <p:blipFill>
          <a:blip r:embed="rId4"/>
          <a:stretch>
            <a:fillRect/>
          </a:stretch>
        </p:blipFill>
        <p:spPr>
          <a:xfrm>
            <a:off x="590374" y="2550087"/>
            <a:ext cx="2848105" cy="182880"/>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283641" y="190697"/>
            <a:ext cx="8088253" cy="566928"/>
          </a:xfrm>
          <a:prstGeom prst="rect">
            <a:avLst/>
          </a:prstGeom>
          <a:noFill/>
        </p:spPr>
        <p:txBody>
          <a:bodyPr wrap="square" lIns="95250" tIns="95250" rIns="95250" bIns="95250" rtlCol="0" anchor="t"/>
          <a:lstStyle/>
          <a:p>
            <a:pPr marL="0" indent="0">
              <a:lnSpc>
                <a:spcPct val="113000"/>
              </a:lnSpc>
              <a:spcBef>
                <a:spcPts val="375"/>
              </a:spcBef>
              <a:buNone/>
            </a:pPr>
            <a:r>
              <a:rPr lang="en-US" sz="2015"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多表全面构建</a:t>
            </a:r>
            <a:endParaRPr lang="en-US" sz="1440" dirty="0"/>
          </a:p>
        </p:txBody>
      </p:sp>
      <p:pic>
        <p:nvPicPr>
          <p:cNvPr id="3" name="Image 0" descr="https://sgw-dx.xf-yun.com/api/v1/sparkdesk/_174411714052452643ac5b265488495fbb9f9132db4e2.jpg?authorization=c2ltcGxlLWp3dCBhaz1zcGFya2Rlc2s4MDAwMDAwMDAwMDE7ZXhwPTMzMjA5MTcxNDA7YWxnbz1obWFjLXNoYTI1NjtzaWc9OFZHVjdvZ1gwbnhrdVFuVytZVmNZTjRiSjNUT0Jxc2ZvbWhKYkVzSWVkND0=&amp;x_location=7YfmxI7B7uKO7jlRxIftd6UoePD="/>
          <p:cNvPicPr>
            <a:picLocks noChangeAspect="1"/>
          </p:cNvPicPr>
          <p:nvPr/>
        </p:nvPicPr>
        <p:blipFill>
          <a:blip r:embed="rId4"/>
          <a:srcRect/>
          <a:stretch>
            <a:fillRect/>
          </a:stretch>
        </p:blipFill>
        <p:spPr>
          <a:xfrm>
            <a:off x="309938" y="2926026"/>
            <a:ext cx="2631493" cy="1480215"/>
          </a:xfrm>
          <a:prstGeom prst="rect">
            <a:avLst/>
          </a:prstGeom>
        </p:spPr>
      </p:pic>
      <p:sp>
        <p:nvSpPr>
          <p:cNvPr id="4" name="Text 1"/>
          <p:cNvSpPr/>
          <p:nvPr/>
        </p:nvSpPr>
        <p:spPr>
          <a:xfrm>
            <a:off x="258251" y="958797"/>
            <a:ext cx="2734868" cy="420624"/>
          </a:xfrm>
          <a:prstGeom prst="rect">
            <a:avLst/>
          </a:prstGeom>
          <a:noFill/>
        </p:spPr>
        <p:txBody>
          <a:bodyPr wrap="square" lIns="95250" tIns="95250" rIns="95250" bIns="95250" rtlCol="0" anchor="t">
            <a:spAutoFit/>
          </a:bodyPr>
          <a:lstStyle/>
          <a:p>
            <a:pPr marL="0" indent="0">
              <a:lnSpc>
                <a:spcPct val="100000"/>
              </a:lnSpc>
              <a:spcBef>
                <a:spcPts val="375"/>
              </a:spcBef>
              <a:buNone/>
            </a:pPr>
            <a:r>
              <a:rPr lang="en-US" sz="1585" b="1" dirty="0">
                <a:solidFill>
                  <a:srgbClr val="2A5899"/>
                </a:solidFill>
                <a:latin typeface="微软雅黑" panose="020B0503020204020204" pitchFamily="34" charset="-122"/>
                <a:ea typeface="微软雅黑" panose="020B0503020204020204" pitchFamily="34" charset="-122"/>
                <a:cs typeface="微软雅黑" panose="020B0503020204020204" pitchFamily="34" charset="-120"/>
              </a:rPr>
              <a:t>数据库设计原则</a:t>
            </a:r>
            <a:endParaRPr lang="en-US" sz="1440" dirty="0"/>
          </a:p>
        </p:txBody>
      </p:sp>
      <p:sp>
        <p:nvSpPr>
          <p:cNvPr id="5" name="Text 2"/>
          <p:cNvSpPr/>
          <p:nvPr/>
        </p:nvSpPr>
        <p:spPr>
          <a:xfrm>
            <a:off x="3178199" y="1471053"/>
            <a:ext cx="2734868" cy="1060704"/>
          </a:xfrm>
          <a:prstGeom prst="rect">
            <a:avLst/>
          </a:prstGeom>
          <a:noFill/>
        </p:spPr>
        <p:txBody>
          <a:bodyPr wrap="square" lIns="95250" tIns="95250" rIns="95250" bIns="95250" rtlCol="0" anchor="t">
            <a:spAutoFit/>
          </a:bodyPr>
          <a:lstStyle/>
          <a:p>
            <a:pPr marL="0" indent="0" algn="just">
              <a:lnSpc>
                <a:spcPct val="100000"/>
              </a:lnSpc>
              <a:spcBef>
                <a:spcPts val="375"/>
              </a:spcBef>
              <a:buNone/>
            </a:pPr>
            <a:r>
              <a:rPr lang="en-US" sz="1010" dirty="0">
                <a:solidFill>
                  <a:srgbClr val="272245"/>
                </a:solidFill>
                <a:latin typeface="微软雅黑" panose="020B0503020204020204" pitchFamily="34" charset="-122"/>
                <a:ea typeface="微软雅黑" panose="020B0503020204020204" pitchFamily="34" charset="-122"/>
                <a:cs typeface="微软雅黑" panose="020B0503020204020204" pitchFamily="34" charset="-120"/>
              </a:rPr>
              <a:t>文档详细列出了多个关键表格的设计，包括装修材料评论表、精选家装评论表、精选工装评论表、家具商品评论表等。这些表格通过外键关联，确保数据的完整性和一致性。</a:t>
            </a:r>
            <a:endParaRPr lang="en-US" sz="1440" dirty="0"/>
          </a:p>
        </p:txBody>
      </p:sp>
      <p:pic>
        <p:nvPicPr>
          <p:cNvPr id="6" name="Image 1" descr="https://sgw-dx.xf-yun.com/api/v1/sparkdesk/_174411714379400e1687abba8421cb8245bfc975aa784.jpg?authorization=c2ltcGxlLWp3dCBhaz1zcGFya2Rlc2s4MDAwMDAwMDAwMDE7ZXhwPTMzMjA5MTcxNDM7YWxnbz1obWFjLXNoYTI1NjtzaWc9YUtydDZqQ29IUWVDMjdGdCtqdUZpYjFLMC8vSGl2LzhNSHYyUnZIV0M3Yz0=&amp;x_location=7YfmxI7B7uKO7jlRxIftd6UoePD="/>
          <p:cNvPicPr>
            <a:picLocks noChangeAspect="1"/>
          </p:cNvPicPr>
          <p:nvPr/>
        </p:nvPicPr>
        <p:blipFill>
          <a:blip r:embed="rId5"/>
          <a:srcRect l="154" r="154"/>
          <a:stretch>
            <a:fillRect/>
          </a:stretch>
        </p:blipFill>
        <p:spPr>
          <a:xfrm>
            <a:off x="3229886" y="2926026"/>
            <a:ext cx="2631493" cy="1480215"/>
          </a:xfrm>
          <a:prstGeom prst="rect">
            <a:avLst/>
          </a:prstGeom>
        </p:spPr>
      </p:pic>
      <p:sp>
        <p:nvSpPr>
          <p:cNvPr id="7" name="Text 3"/>
          <p:cNvSpPr/>
          <p:nvPr/>
        </p:nvSpPr>
        <p:spPr>
          <a:xfrm>
            <a:off x="3178199" y="958797"/>
            <a:ext cx="2734868" cy="420624"/>
          </a:xfrm>
          <a:prstGeom prst="rect">
            <a:avLst/>
          </a:prstGeom>
          <a:noFill/>
        </p:spPr>
        <p:txBody>
          <a:bodyPr wrap="square" lIns="95250" tIns="95250" rIns="95250" bIns="95250" rtlCol="0" anchor="t">
            <a:spAutoFit/>
          </a:bodyPr>
          <a:lstStyle/>
          <a:p>
            <a:pPr marL="0" indent="0">
              <a:lnSpc>
                <a:spcPct val="100000"/>
              </a:lnSpc>
              <a:spcBef>
                <a:spcPts val="375"/>
              </a:spcBef>
              <a:buNone/>
            </a:pPr>
            <a:r>
              <a:rPr lang="en-US" sz="1585" b="1" dirty="0">
                <a:solidFill>
                  <a:srgbClr val="2A5899"/>
                </a:solidFill>
                <a:latin typeface="微软雅黑" panose="020B0503020204020204" pitchFamily="34" charset="-122"/>
                <a:ea typeface="微软雅黑" panose="020B0503020204020204" pitchFamily="34" charset="-122"/>
                <a:cs typeface="微软雅黑" panose="020B0503020204020204" pitchFamily="34" charset="-120"/>
              </a:rPr>
              <a:t>表结构设计</a:t>
            </a:r>
            <a:endParaRPr lang="en-US" sz="1440" dirty="0"/>
          </a:p>
        </p:txBody>
      </p:sp>
      <p:sp>
        <p:nvSpPr>
          <p:cNvPr id="8" name="Text 4"/>
          <p:cNvSpPr/>
          <p:nvPr/>
        </p:nvSpPr>
        <p:spPr>
          <a:xfrm>
            <a:off x="6089068" y="1471053"/>
            <a:ext cx="2778709" cy="1060704"/>
          </a:xfrm>
          <a:prstGeom prst="rect">
            <a:avLst/>
          </a:prstGeom>
          <a:noFill/>
        </p:spPr>
        <p:txBody>
          <a:bodyPr wrap="square" lIns="95250" tIns="95250" rIns="95250" bIns="95250" rtlCol="0" anchor="t">
            <a:spAutoFit/>
          </a:bodyPr>
          <a:lstStyle/>
          <a:p>
            <a:pPr marL="0" indent="0" algn="just">
              <a:lnSpc>
                <a:spcPct val="100000"/>
              </a:lnSpc>
              <a:spcBef>
                <a:spcPts val="375"/>
              </a:spcBef>
              <a:buNone/>
            </a:pPr>
            <a:r>
              <a:rPr lang="en-US" sz="1010" dirty="0">
                <a:solidFill>
                  <a:srgbClr val="272245"/>
                </a:solidFill>
                <a:latin typeface="微软雅黑" panose="020B0503020204020204" pitchFamily="34" charset="-122"/>
                <a:ea typeface="微软雅黑" panose="020B0503020204020204" pitchFamily="34" charset="-122"/>
                <a:cs typeface="微软雅黑" panose="020B0503020204020204" pitchFamily="34" charset="-120"/>
              </a:rPr>
              <a:t>安全性是多表构建中不可忽视的一部分。文档中提到了多层安全措施，包括前端使用JS-MD5对敏感数据进行加密，后端使用Django框架提供的跨站点请求伪造防护、SQL注入防护等。</a:t>
            </a:r>
            <a:endParaRPr lang="en-US" sz="1440" dirty="0"/>
          </a:p>
        </p:txBody>
      </p:sp>
      <p:pic>
        <p:nvPicPr>
          <p:cNvPr id="9" name="Image 2" descr="https://sgw-dx.xf-yun.com/api/v1/sparkdesk/_17441171470634d0f9ab396c5403aa82aeb59d2285a50.jpg?authorization=c2ltcGxlLWp3dCBhaz1zcGFya2Rlc2s4MDAwMDAwMDAwMDE7ZXhwPTMzMjA5MTcxNDc7YWxnbz1obWFjLXNoYTI1NjtzaWc9T1pySm94RkVIVW9aY1F6U0h6eUpJcWVoVUk5clFlelZ5bUhCWVF6VUNEQT0=&amp;x_location=7YfmxI7B7uKO7jlRxIftd6UoePD="/>
          <p:cNvPicPr>
            <a:picLocks noChangeAspect="1"/>
          </p:cNvPicPr>
          <p:nvPr/>
        </p:nvPicPr>
        <p:blipFill>
          <a:blip r:embed="rId6"/>
          <a:srcRect l="154" r="154"/>
          <a:stretch>
            <a:fillRect/>
          </a:stretch>
        </p:blipFill>
        <p:spPr>
          <a:xfrm>
            <a:off x="6162676" y="2926026"/>
            <a:ext cx="2631493" cy="1480215"/>
          </a:xfrm>
          <a:prstGeom prst="rect">
            <a:avLst/>
          </a:prstGeom>
        </p:spPr>
      </p:pic>
      <p:sp>
        <p:nvSpPr>
          <p:cNvPr id="10" name="Text 5"/>
          <p:cNvSpPr/>
          <p:nvPr/>
        </p:nvSpPr>
        <p:spPr>
          <a:xfrm>
            <a:off x="6089068" y="958797"/>
            <a:ext cx="2778709" cy="420624"/>
          </a:xfrm>
          <a:prstGeom prst="rect">
            <a:avLst/>
          </a:prstGeom>
          <a:noFill/>
        </p:spPr>
        <p:txBody>
          <a:bodyPr wrap="square" lIns="95250" tIns="95250" rIns="95250" bIns="95250" rtlCol="0" anchor="t">
            <a:spAutoFit/>
          </a:bodyPr>
          <a:lstStyle/>
          <a:p>
            <a:pPr marL="0" indent="0">
              <a:lnSpc>
                <a:spcPct val="100000"/>
              </a:lnSpc>
              <a:spcBef>
                <a:spcPts val="375"/>
              </a:spcBef>
              <a:buNone/>
            </a:pPr>
            <a:r>
              <a:rPr lang="en-US" sz="1585" b="1" dirty="0">
                <a:solidFill>
                  <a:srgbClr val="2A5899"/>
                </a:solidFill>
                <a:latin typeface="微软雅黑" panose="020B0503020204020204" pitchFamily="34" charset="-122"/>
                <a:ea typeface="微软雅黑" panose="020B0503020204020204" pitchFamily="34" charset="-122"/>
                <a:cs typeface="微软雅黑" panose="020B0503020204020204" pitchFamily="34" charset="-120"/>
              </a:rPr>
              <a:t>安全性和权限管理</a:t>
            </a:r>
            <a:endParaRPr lang="en-US" sz="1440" dirty="0"/>
          </a:p>
        </p:txBody>
      </p:sp>
      <p:sp>
        <p:nvSpPr>
          <p:cNvPr id="11" name="Text 6"/>
          <p:cNvSpPr/>
          <p:nvPr/>
        </p:nvSpPr>
        <p:spPr>
          <a:xfrm>
            <a:off x="258251" y="1471053"/>
            <a:ext cx="2734868" cy="1060704"/>
          </a:xfrm>
          <a:prstGeom prst="rect">
            <a:avLst/>
          </a:prstGeom>
          <a:noFill/>
        </p:spPr>
        <p:txBody>
          <a:bodyPr wrap="square" lIns="95250" tIns="95250" rIns="95250" bIns="95250" rtlCol="0" anchor="t">
            <a:spAutoFit/>
          </a:bodyPr>
          <a:lstStyle/>
          <a:p>
            <a:pPr marL="0" indent="0" algn="just">
              <a:lnSpc>
                <a:spcPct val="100000"/>
              </a:lnSpc>
              <a:spcBef>
                <a:spcPts val="375"/>
              </a:spcBef>
              <a:buNone/>
            </a:pPr>
            <a:r>
              <a:rPr lang="en-US" sz="1010" dirty="0">
                <a:solidFill>
                  <a:srgbClr val="272245"/>
                </a:solidFill>
                <a:latin typeface="微软雅黑" panose="020B0503020204020204" pitchFamily="34" charset="-122"/>
                <a:ea typeface="微软雅黑" panose="020B0503020204020204" pitchFamily="34" charset="-122"/>
                <a:cs typeface="微软雅黑" panose="020B0503020204020204" pitchFamily="34" charset="-120"/>
              </a:rPr>
              <a:t>在多表构建过程中，遵循数据库设计的三大范式（第一范式、第二范式和第三范式）是非常重要的。这些范式帮助减少数据冗余，提高数据的一致性和完整性。</a:t>
            </a:r>
            <a:endParaRPr lang="en-US" sz="144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283641" y="190697"/>
            <a:ext cx="8088253" cy="566928"/>
          </a:xfrm>
          <a:prstGeom prst="rect">
            <a:avLst/>
          </a:prstGeom>
          <a:noFill/>
        </p:spPr>
        <p:txBody>
          <a:bodyPr wrap="square" lIns="95250" tIns="95250" rIns="95250" bIns="95250" rtlCol="0" anchor="t"/>
          <a:lstStyle/>
          <a:p>
            <a:pPr marL="0" indent="0">
              <a:lnSpc>
                <a:spcPct val="113000"/>
              </a:lnSpc>
              <a:spcBef>
                <a:spcPts val="375"/>
              </a:spcBef>
              <a:buNone/>
            </a:pPr>
            <a:r>
              <a:rPr lang="en-US" sz="2015"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支持数据管理</a:t>
            </a:r>
            <a:endParaRPr lang="en-US" sz="1440" dirty="0"/>
          </a:p>
        </p:txBody>
      </p:sp>
      <p:pic>
        <p:nvPicPr>
          <p:cNvPr id="3" name="Image 0" descr="preencoded.png"/>
          <p:cNvPicPr>
            <a:picLocks noChangeAspect="1"/>
          </p:cNvPicPr>
          <p:nvPr/>
        </p:nvPicPr>
        <p:blipFill>
          <a:blip r:embed="rId4">
            <a:alphaModFix amt="40000"/>
          </a:blip>
          <a:stretch>
            <a:fillRect/>
          </a:stretch>
        </p:blipFill>
        <p:spPr>
          <a:xfrm>
            <a:off x="2602916" y="1833635"/>
            <a:ext cx="6312484" cy="2662437"/>
          </a:xfrm>
          <a:prstGeom prst="rect">
            <a:avLst/>
          </a:prstGeom>
        </p:spPr>
      </p:pic>
      <p:sp>
        <p:nvSpPr>
          <p:cNvPr id="4" name="Shape 1"/>
          <p:cNvSpPr/>
          <p:nvPr/>
        </p:nvSpPr>
        <p:spPr>
          <a:xfrm>
            <a:off x="287145" y="1457198"/>
            <a:ext cx="2975372" cy="3038875"/>
          </a:xfrm>
          <a:custGeom>
            <a:avLst/>
            <a:gdLst/>
            <a:ahLst/>
            <a:cxnLst/>
            <a:rect l="l" t="t" r="r" b="b"/>
            <a:pathLst>
              <a:path w="2975372" h="3038875">
                <a:moveTo>
                  <a:pt x="426003" y="0"/>
                </a:moveTo>
                <a:moveTo>
                  <a:pt x="426003" y="0"/>
                </a:moveTo>
                <a:lnTo>
                  <a:pt x="2549369" y="0"/>
                </a:lnTo>
                <a:quadBezTo>
                  <a:pt x="2975372" y="0"/>
                  <a:pt x="2975372" y="426003"/>
                </a:quadBezTo>
                <a:lnTo>
                  <a:pt x="2975372" y="2612872"/>
                </a:lnTo>
                <a:quadBezTo>
                  <a:pt x="2975372" y="3038875"/>
                  <a:pt x="2549369" y="3038875"/>
                </a:quadBezTo>
                <a:lnTo>
                  <a:pt x="426003" y="3038875"/>
                </a:lnTo>
                <a:quadBezTo>
                  <a:pt x="0" y="3038875"/>
                  <a:pt x="0" y="2612872"/>
                </a:quadBezTo>
                <a:lnTo>
                  <a:pt x="0" y="426003"/>
                </a:lnTo>
                <a:quadBezTo>
                  <a:pt x="0" y="0"/>
                  <a:pt x="426003" y="0"/>
                </a:quadBezTo>
                <a:close/>
              </a:path>
            </a:pathLst>
          </a:custGeom>
          <a:solidFill>
            <a:srgbClr val="FFFFFF"/>
          </a:solidFill>
          <a:ln w="19050">
            <a:solidFill>
              <a:srgbClr val="2A5899"/>
            </a:solidFill>
            <a:prstDash val="solid"/>
          </a:ln>
        </p:spPr>
      </p:sp>
      <p:sp>
        <p:nvSpPr>
          <p:cNvPr id="5" name="Shape 2"/>
          <p:cNvSpPr/>
          <p:nvPr/>
        </p:nvSpPr>
        <p:spPr>
          <a:xfrm>
            <a:off x="580006" y="1073576"/>
            <a:ext cx="2431855" cy="649248"/>
          </a:xfrm>
          <a:custGeom>
            <a:avLst/>
            <a:gdLst/>
            <a:ahLst/>
            <a:cxnLst/>
            <a:rect l="l" t="t" r="r" b="b"/>
            <a:pathLst>
              <a:path w="2431855" h="649248">
                <a:moveTo>
                  <a:pt x="161595" y="0"/>
                </a:moveTo>
                <a:moveTo>
                  <a:pt x="161595" y="0"/>
                </a:moveTo>
                <a:lnTo>
                  <a:pt x="2270260" y="0"/>
                </a:lnTo>
                <a:quadBezTo>
                  <a:pt x="2431855" y="0"/>
                  <a:pt x="2431855" y="161595"/>
                </a:quadBezTo>
                <a:lnTo>
                  <a:pt x="2431855" y="487653"/>
                </a:lnTo>
                <a:quadBezTo>
                  <a:pt x="2431855" y="649248"/>
                  <a:pt x="2270260" y="649248"/>
                </a:quadBezTo>
                <a:lnTo>
                  <a:pt x="161595" y="649248"/>
                </a:lnTo>
                <a:quadBezTo>
                  <a:pt x="0" y="649248"/>
                  <a:pt x="0" y="487653"/>
                </a:quadBezTo>
                <a:lnTo>
                  <a:pt x="0" y="161595"/>
                </a:lnTo>
                <a:quadBezTo>
                  <a:pt x="0" y="0"/>
                  <a:pt x="161595" y="0"/>
                </a:quadBezTo>
                <a:close/>
              </a:path>
            </a:pathLst>
          </a:custGeom>
          <a:solidFill>
            <a:srgbClr val="0084FF"/>
          </a:solidFill>
        </p:spPr>
      </p:sp>
      <p:sp>
        <p:nvSpPr>
          <p:cNvPr id="6" name="Shape 3"/>
          <p:cNvSpPr/>
          <p:nvPr/>
        </p:nvSpPr>
        <p:spPr>
          <a:xfrm>
            <a:off x="3380991" y="1932994"/>
            <a:ext cx="5422275" cy="493149"/>
          </a:xfrm>
          <a:custGeom>
            <a:avLst/>
            <a:gdLst/>
            <a:ahLst/>
            <a:cxnLst/>
            <a:rect l="l" t="t" r="r" b="b"/>
            <a:pathLst>
              <a:path w="5422275" h="493149">
                <a:moveTo>
                  <a:pt x="163994" y="0"/>
                </a:moveTo>
                <a:moveTo>
                  <a:pt x="163994" y="0"/>
                </a:moveTo>
                <a:lnTo>
                  <a:pt x="5258282" y="0"/>
                </a:lnTo>
                <a:quadBezTo>
                  <a:pt x="5422275" y="0"/>
                  <a:pt x="5422275" y="138948"/>
                </a:quadBezTo>
                <a:lnTo>
                  <a:pt x="5422275" y="354201"/>
                </a:lnTo>
                <a:quadBezTo>
                  <a:pt x="5422275" y="493149"/>
                  <a:pt x="5258282" y="493149"/>
                </a:quadBezTo>
                <a:lnTo>
                  <a:pt x="163994" y="493149"/>
                </a:lnTo>
                <a:quadBezTo>
                  <a:pt x="0" y="493149"/>
                  <a:pt x="0" y="354201"/>
                </a:quadBezTo>
                <a:lnTo>
                  <a:pt x="0" y="138948"/>
                </a:lnTo>
                <a:quadBezTo>
                  <a:pt x="0" y="0"/>
                  <a:pt x="163994" y="0"/>
                </a:quadBezTo>
                <a:close/>
              </a:path>
            </a:pathLst>
          </a:custGeom>
          <a:solidFill>
            <a:srgbClr val="FFFFFF"/>
          </a:solidFill>
        </p:spPr>
      </p:sp>
      <p:pic>
        <p:nvPicPr>
          <p:cNvPr id="7" name="Image 1" descr="preencoded.png"/>
          <p:cNvPicPr>
            <a:picLocks noChangeAspect="1"/>
          </p:cNvPicPr>
          <p:nvPr/>
        </p:nvPicPr>
        <p:blipFill>
          <a:blip r:embed="rId5"/>
          <a:stretch>
            <a:fillRect/>
          </a:stretch>
        </p:blipFill>
        <p:spPr>
          <a:xfrm>
            <a:off x="3685190" y="2061925"/>
            <a:ext cx="254203" cy="254203"/>
          </a:xfrm>
          <a:prstGeom prst="rect">
            <a:avLst/>
          </a:prstGeom>
        </p:spPr>
      </p:pic>
      <p:sp>
        <p:nvSpPr>
          <p:cNvPr id="8" name="Shape 4"/>
          <p:cNvSpPr/>
          <p:nvPr/>
        </p:nvSpPr>
        <p:spPr>
          <a:xfrm>
            <a:off x="3380991" y="3155397"/>
            <a:ext cx="5422275" cy="493149"/>
          </a:xfrm>
          <a:custGeom>
            <a:avLst/>
            <a:gdLst/>
            <a:ahLst/>
            <a:cxnLst/>
            <a:rect l="l" t="t" r="r" b="b"/>
            <a:pathLst>
              <a:path w="5422275" h="493149">
                <a:moveTo>
                  <a:pt x="163994" y="0"/>
                </a:moveTo>
                <a:moveTo>
                  <a:pt x="163994" y="0"/>
                </a:moveTo>
                <a:lnTo>
                  <a:pt x="5258282" y="0"/>
                </a:lnTo>
                <a:quadBezTo>
                  <a:pt x="5422275" y="0"/>
                  <a:pt x="5422275" y="138948"/>
                </a:quadBezTo>
                <a:lnTo>
                  <a:pt x="5422275" y="354201"/>
                </a:lnTo>
                <a:quadBezTo>
                  <a:pt x="5422275" y="493149"/>
                  <a:pt x="5258282" y="493149"/>
                </a:quadBezTo>
                <a:lnTo>
                  <a:pt x="163994" y="493149"/>
                </a:lnTo>
                <a:quadBezTo>
                  <a:pt x="0" y="493149"/>
                  <a:pt x="0" y="354201"/>
                </a:quadBezTo>
                <a:lnTo>
                  <a:pt x="0" y="138948"/>
                </a:lnTo>
                <a:quadBezTo>
                  <a:pt x="0" y="0"/>
                  <a:pt x="163994" y="0"/>
                </a:quadBezTo>
                <a:close/>
              </a:path>
            </a:pathLst>
          </a:custGeom>
          <a:solidFill>
            <a:srgbClr val="FFFFFF"/>
          </a:solidFill>
        </p:spPr>
      </p:sp>
      <p:pic>
        <p:nvPicPr>
          <p:cNvPr id="9" name="Image 2" descr="preencoded.png"/>
          <p:cNvPicPr>
            <a:picLocks noChangeAspect="1"/>
          </p:cNvPicPr>
          <p:nvPr/>
        </p:nvPicPr>
        <p:blipFill>
          <a:blip r:embed="rId5"/>
          <a:stretch>
            <a:fillRect/>
          </a:stretch>
        </p:blipFill>
        <p:spPr>
          <a:xfrm>
            <a:off x="3685190" y="3284327"/>
            <a:ext cx="254203" cy="254203"/>
          </a:xfrm>
          <a:prstGeom prst="rect">
            <a:avLst/>
          </a:prstGeom>
        </p:spPr>
      </p:pic>
      <p:sp>
        <p:nvSpPr>
          <p:cNvPr id="10" name="Text 5"/>
          <p:cNvSpPr/>
          <p:nvPr/>
        </p:nvSpPr>
        <p:spPr>
          <a:xfrm>
            <a:off x="580006" y="1210748"/>
            <a:ext cx="2431855" cy="374904"/>
          </a:xfrm>
          <a:prstGeom prst="rect">
            <a:avLst/>
          </a:prstGeom>
          <a:noFill/>
        </p:spPr>
        <p:txBody>
          <a:bodyPr wrap="square" lIns="95250" tIns="95250" rIns="95250" bIns="95250" rtlCol="0" anchor="ctr"/>
          <a:lstStyle/>
          <a:p>
            <a:pPr marL="0" indent="0" algn="ctr">
              <a:lnSpc>
                <a:spcPct val="100000"/>
              </a:lnSpc>
              <a:spcBef>
                <a:spcPts val="375"/>
              </a:spcBef>
              <a:buNone/>
            </a:pPr>
            <a:r>
              <a:rPr lang="en-US" sz="1585" b="1" dirty="0">
                <a:solidFill>
                  <a:srgbClr val="FFFFFF"/>
                </a:solidFill>
                <a:latin typeface="Noto Sans" pitchFamily="34" charset="0"/>
                <a:ea typeface="Noto Sans" pitchFamily="34" charset="-122"/>
                <a:cs typeface="Noto Sans" pitchFamily="34" charset="-120"/>
              </a:rPr>
              <a:t>数据管理的重要性</a:t>
            </a:r>
            <a:endParaRPr lang="en-US" sz="1440" dirty="0"/>
          </a:p>
        </p:txBody>
      </p:sp>
      <p:sp>
        <p:nvSpPr>
          <p:cNvPr id="11" name="Text 6"/>
          <p:cNvSpPr/>
          <p:nvPr/>
        </p:nvSpPr>
        <p:spPr>
          <a:xfrm>
            <a:off x="484365" y="2226827"/>
            <a:ext cx="2580932" cy="1499616"/>
          </a:xfrm>
          <a:prstGeom prst="rect">
            <a:avLst/>
          </a:prstGeom>
          <a:noFill/>
        </p:spPr>
        <p:txBody>
          <a:bodyPr wrap="square" lIns="95250" tIns="95250" rIns="95250" bIns="95250" rtlCol="0" anchor="ctr"/>
          <a:lstStyle/>
          <a:p>
            <a:pPr marL="0" indent="0" algn="ctr">
              <a:lnSpc>
                <a:spcPct val="101000"/>
              </a:lnSpc>
              <a:spcBef>
                <a:spcPts val="375"/>
              </a:spcBef>
              <a:buNone/>
            </a:pPr>
            <a:r>
              <a:rPr lang="en-US" sz="1150" dirty="0">
                <a:solidFill>
                  <a:srgbClr val="272245"/>
                </a:solidFill>
                <a:latin typeface="Noto Sans" pitchFamily="34" charset="0"/>
                <a:ea typeface="Noto Sans" pitchFamily="34" charset="-122"/>
                <a:cs typeface="Noto Sans" pitchFamily="34" charset="-120"/>
              </a:rPr>
              <a:t>数据管理是企业运营的核心，它涉及到数据的收集、存储、处理和分析，通过有效的数据管理，企业可以更好地理解市场趋势，优化决策过程。</a:t>
            </a:r>
            <a:endParaRPr lang="en-US" sz="1440" dirty="0"/>
          </a:p>
        </p:txBody>
      </p:sp>
      <p:sp>
        <p:nvSpPr>
          <p:cNvPr id="12" name="Text 7"/>
          <p:cNvSpPr/>
          <p:nvPr/>
        </p:nvSpPr>
        <p:spPr>
          <a:xfrm>
            <a:off x="4028865" y="1997002"/>
            <a:ext cx="4683645" cy="374904"/>
          </a:xfrm>
          <a:prstGeom prst="rect">
            <a:avLst/>
          </a:prstGeom>
          <a:noFill/>
        </p:spPr>
        <p:txBody>
          <a:bodyPr wrap="square" lIns="95250" tIns="95250" rIns="95250" bIns="95250" rtlCol="0" anchor="ctr"/>
          <a:lstStyle/>
          <a:p>
            <a:pPr marL="0" indent="0">
              <a:lnSpc>
                <a:spcPct val="100000"/>
              </a:lnSpc>
              <a:spcBef>
                <a:spcPts val="375"/>
              </a:spcBef>
              <a:buNone/>
            </a:pPr>
            <a:r>
              <a:rPr lang="en-US" sz="1585" b="1" dirty="0">
                <a:solidFill>
                  <a:srgbClr val="2A5899"/>
                </a:solidFill>
                <a:latin typeface="Noto Sans" pitchFamily="34" charset="0"/>
                <a:ea typeface="Noto Sans" pitchFamily="34" charset="-122"/>
                <a:cs typeface="Noto Sans" pitchFamily="34" charset="-120"/>
              </a:rPr>
              <a:t>数据管理的挑战</a:t>
            </a:r>
            <a:endParaRPr lang="en-US" sz="1440" dirty="0"/>
          </a:p>
        </p:txBody>
      </p:sp>
      <p:sp>
        <p:nvSpPr>
          <p:cNvPr id="13" name="Text 8"/>
          <p:cNvSpPr/>
          <p:nvPr/>
        </p:nvSpPr>
        <p:spPr>
          <a:xfrm>
            <a:off x="3523549" y="2440225"/>
            <a:ext cx="5279717" cy="603504"/>
          </a:xfrm>
          <a:prstGeom prst="rect">
            <a:avLst/>
          </a:prstGeom>
          <a:noFill/>
        </p:spPr>
        <p:txBody>
          <a:bodyPr wrap="square" lIns="95250" tIns="95250" rIns="95250" bIns="95250" rtlCol="0" anchor="t">
            <a:spAutoFit/>
          </a:bodyPr>
          <a:lstStyle/>
          <a:p>
            <a:pPr marL="0" indent="0">
              <a:lnSpc>
                <a:spcPct val="100000"/>
              </a:lnSpc>
              <a:spcBef>
                <a:spcPts val="375"/>
              </a:spcBef>
              <a:buNone/>
            </a:pPr>
            <a:r>
              <a:rPr lang="en-US" sz="1010" dirty="0">
                <a:solidFill>
                  <a:srgbClr val="272245"/>
                </a:solidFill>
                <a:latin typeface="Noto Sans" pitchFamily="34" charset="0"/>
                <a:ea typeface="Noto Sans" pitchFamily="34" charset="-122"/>
                <a:cs typeface="Noto Sans" pitchFamily="34" charset="-120"/>
              </a:rPr>
              <a:t>随着大数据时代的到来，数据管理面临着前所未有的挑战，包括数据的海量增长、数据的多样性以及数据的安全性等问题。</a:t>
            </a:r>
            <a:endParaRPr lang="en-US" sz="1440" dirty="0"/>
          </a:p>
        </p:txBody>
      </p:sp>
      <p:sp>
        <p:nvSpPr>
          <p:cNvPr id="14" name="Text 9"/>
          <p:cNvSpPr/>
          <p:nvPr/>
        </p:nvSpPr>
        <p:spPr>
          <a:xfrm>
            <a:off x="4028865" y="3219405"/>
            <a:ext cx="4683645" cy="374904"/>
          </a:xfrm>
          <a:prstGeom prst="rect">
            <a:avLst/>
          </a:prstGeom>
          <a:noFill/>
        </p:spPr>
        <p:txBody>
          <a:bodyPr wrap="square" lIns="95250" tIns="95250" rIns="95250" bIns="95250" rtlCol="0" anchor="ctr"/>
          <a:lstStyle/>
          <a:p>
            <a:pPr marL="0" indent="0">
              <a:lnSpc>
                <a:spcPct val="100000"/>
              </a:lnSpc>
              <a:spcBef>
                <a:spcPts val="375"/>
              </a:spcBef>
              <a:buNone/>
            </a:pPr>
            <a:r>
              <a:rPr lang="en-US" sz="1585" b="1" dirty="0">
                <a:solidFill>
                  <a:srgbClr val="2A5899"/>
                </a:solidFill>
                <a:latin typeface="Noto Sans" pitchFamily="34" charset="0"/>
                <a:ea typeface="Noto Sans" pitchFamily="34" charset="-122"/>
                <a:cs typeface="Noto Sans" pitchFamily="34" charset="-120"/>
              </a:rPr>
              <a:t>数据管理的解决方案</a:t>
            </a:r>
            <a:endParaRPr lang="en-US" sz="1440" dirty="0"/>
          </a:p>
        </p:txBody>
      </p:sp>
      <p:sp>
        <p:nvSpPr>
          <p:cNvPr id="15" name="Text 10"/>
          <p:cNvSpPr/>
          <p:nvPr/>
        </p:nvSpPr>
        <p:spPr>
          <a:xfrm>
            <a:off x="3523549" y="3662627"/>
            <a:ext cx="5279717" cy="603504"/>
          </a:xfrm>
          <a:prstGeom prst="rect">
            <a:avLst/>
          </a:prstGeom>
          <a:noFill/>
        </p:spPr>
        <p:txBody>
          <a:bodyPr wrap="square" lIns="95250" tIns="95250" rIns="95250" bIns="95250" rtlCol="0" anchor="t">
            <a:spAutoFit/>
          </a:bodyPr>
          <a:lstStyle/>
          <a:p>
            <a:pPr marL="0" indent="0">
              <a:lnSpc>
                <a:spcPct val="100000"/>
              </a:lnSpc>
              <a:spcBef>
                <a:spcPts val="375"/>
              </a:spcBef>
              <a:buNone/>
            </a:pPr>
            <a:r>
              <a:rPr lang="en-US" sz="1010" dirty="0">
                <a:solidFill>
                  <a:srgbClr val="272245"/>
                </a:solidFill>
                <a:latin typeface="Noto Sans" pitchFamily="34" charset="0"/>
                <a:ea typeface="Noto Sans" pitchFamily="34" charset="-122"/>
                <a:cs typeface="Noto Sans" pitchFamily="34" charset="-120"/>
              </a:rPr>
              <a:t>为了应对数据管理的挑战，企业需要采用先进的技术和工具，如云计算、人工智能等，以提高数据处理的效率和准确性。</a:t>
            </a:r>
            <a:endParaRPr lang="en-US" sz="144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246639" y="1071087"/>
            <a:ext cx="2055531" cy="1883664"/>
          </a:xfrm>
          <a:prstGeom prst="rect">
            <a:avLst/>
          </a:prstGeom>
          <a:noFill/>
        </p:spPr>
        <p:txBody>
          <a:bodyPr wrap="square" lIns="95250" tIns="95250" rIns="95250" bIns="95250" rtlCol="0" anchor="t"/>
          <a:lstStyle/>
          <a:p>
            <a:pPr marL="0" indent="0" algn="ctr">
              <a:lnSpc>
                <a:spcPct val="113000"/>
              </a:lnSpc>
              <a:spcBef>
                <a:spcPts val="375"/>
              </a:spcBef>
              <a:buNone/>
            </a:pPr>
            <a:r>
              <a:rPr lang="en-US" sz="8930" b="1" dirty="0">
                <a:solidFill>
                  <a:srgbClr val="2A5899"/>
                </a:solidFill>
                <a:latin typeface="微软雅黑" panose="020B0503020204020204" pitchFamily="34" charset="-122"/>
                <a:ea typeface="微软雅黑" panose="020B0503020204020204" pitchFamily="34" charset="-122"/>
                <a:cs typeface="微软雅黑" panose="020B0503020204020204" pitchFamily="34" charset="-120"/>
              </a:rPr>
              <a:t>10</a:t>
            </a:r>
            <a:endParaRPr lang="en-US" sz="1440" dirty="0"/>
          </a:p>
        </p:txBody>
      </p:sp>
      <p:sp>
        <p:nvSpPr>
          <p:cNvPr id="3" name="Text 1"/>
          <p:cNvSpPr/>
          <p:nvPr/>
        </p:nvSpPr>
        <p:spPr>
          <a:xfrm>
            <a:off x="497579" y="2595807"/>
            <a:ext cx="5218432" cy="813816"/>
          </a:xfrm>
          <a:prstGeom prst="rect">
            <a:avLst/>
          </a:prstGeom>
          <a:noFill/>
        </p:spPr>
        <p:txBody>
          <a:bodyPr wrap="square" lIns="95250" tIns="95250" rIns="95250" bIns="95250" rtlCol="0" anchor="t"/>
          <a:lstStyle/>
          <a:p>
            <a:pPr marL="0" indent="0">
              <a:lnSpc>
                <a:spcPct val="113000"/>
              </a:lnSpc>
              <a:spcBef>
                <a:spcPts val="375"/>
              </a:spcBef>
              <a:buNone/>
            </a:pPr>
            <a:r>
              <a:rPr lang="en-US" sz="3310" b="1" dirty="0">
                <a:solidFill>
                  <a:srgbClr val="272245"/>
                </a:solidFill>
                <a:latin typeface="微软雅黑" panose="020B0503020204020204" pitchFamily="34" charset="-122"/>
                <a:ea typeface="微软雅黑" panose="020B0503020204020204" pitchFamily="34" charset="-122"/>
                <a:cs typeface="微软雅黑" panose="020B0503020204020204" pitchFamily="34" charset="-120"/>
              </a:rPr>
              <a:t>系统测试与保障</a:t>
            </a:r>
            <a:endParaRPr lang="en-US" sz="1440" dirty="0"/>
          </a:p>
        </p:txBody>
      </p:sp>
      <p:pic>
        <p:nvPicPr>
          <p:cNvPr id="4" name="Image 0" descr="https://sgw-dx.xf-yun.com/api/v1/sparkdesk/_19052329831_fVPc9i1733712667757-005544323224029091.png?authorization=c2ltcGxlLWp3dCBhaz1zcGFya2Rlc2s4MDAwMDAwMDAwMDE7ZXhwPTMzMTA1MTI2Nzk7YWxnbz1obWFjLXNoYTI1NjtzaWc9a2pCNm01T2o4VEJER0o1Q3FOV2VJYUpvODByWkFQclRoZVRqRnpXRnY1Yz0=&amp;x_location=7YfmxI7B7uKO7jlRxIftd60Ye5D="/>
          <p:cNvPicPr>
            <a:picLocks noChangeAspect="1"/>
          </p:cNvPicPr>
          <p:nvPr/>
        </p:nvPicPr>
        <p:blipFill>
          <a:blip r:embed="rId4"/>
          <a:stretch>
            <a:fillRect/>
          </a:stretch>
        </p:blipFill>
        <p:spPr>
          <a:xfrm>
            <a:off x="590374" y="2550087"/>
            <a:ext cx="2848105" cy="182880"/>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283641" y="190697"/>
            <a:ext cx="8088253" cy="566928"/>
          </a:xfrm>
          <a:prstGeom prst="rect">
            <a:avLst/>
          </a:prstGeom>
          <a:noFill/>
        </p:spPr>
        <p:txBody>
          <a:bodyPr wrap="square" lIns="95250" tIns="95250" rIns="95250" bIns="95250" rtlCol="0" anchor="t"/>
          <a:lstStyle/>
          <a:p>
            <a:pPr marL="0" indent="0">
              <a:lnSpc>
                <a:spcPct val="113000"/>
              </a:lnSpc>
              <a:spcBef>
                <a:spcPts val="375"/>
              </a:spcBef>
              <a:buNone/>
            </a:pPr>
            <a:r>
              <a:rPr lang="en-US" sz="2015"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遵循测试原则</a:t>
            </a:r>
            <a:endParaRPr lang="en-US" sz="1440" dirty="0"/>
          </a:p>
        </p:txBody>
      </p:sp>
      <p:pic>
        <p:nvPicPr>
          <p:cNvPr id="3" name="Image 0" descr="preencoded.png"/>
          <p:cNvPicPr>
            <a:picLocks noChangeAspect="1"/>
          </p:cNvPicPr>
          <p:nvPr/>
        </p:nvPicPr>
        <p:blipFill>
          <a:blip r:embed="rId4"/>
          <a:stretch>
            <a:fillRect/>
          </a:stretch>
        </p:blipFill>
        <p:spPr>
          <a:xfrm>
            <a:off x="1225275" y="1225417"/>
            <a:ext cx="7517281" cy="3418820"/>
          </a:xfrm>
          <a:prstGeom prst="rect">
            <a:avLst/>
          </a:prstGeom>
        </p:spPr>
      </p:pic>
      <p:sp>
        <p:nvSpPr>
          <p:cNvPr id="4" name="Shape 1"/>
          <p:cNvSpPr/>
          <p:nvPr/>
        </p:nvSpPr>
        <p:spPr>
          <a:xfrm>
            <a:off x="374013" y="1330352"/>
            <a:ext cx="2296081" cy="3412609"/>
          </a:xfrm>
          <a:custGeom>
            <a:avLst/>
            <a:gdLst/>
            <a:ahLst/>
            <a:cxnLst/>
            <a:rect l="l" t="t" r="r" b="b"/>
            <a:pathLst>
              <a:path w="2296081" h="3412609">
                <a:moveTo>
                  <a:pt x="89935" y="0"/>
                </a:moveTo>
                <a:moveTo>
                  <a:pt x="89935" y="0"/>
                </a:moveTo>
                <a:lnTo>
                  <a:pt x="2206146" y="0"/>
                </a:lnTo>
                <a:quadBezTo>
                  <a:pt x="2296081" y="0"/>
                  <a:pt x="2296081" y="89935"/>
                </a:quadBezTo>
                <a:lnTo>
                  <a:pt x="2296081" y="3322674"/>
                </a:lnTo>
                <a:quadBezTo>
                  <a:pt x="2296081" y="3412609"/>
                  <a:pt x="2206146" y="3412609"/>
                </a:quadBezTo>
                <a:lnTo>
                  <a:pt x="89935" y="3412609"/>
                </a:lnTo>
                <a:quadBezTo>
                  <a:pt x="0" y="3412609"/>
                  <a:pt x="0" y="3322674"/>
                </a:quadBezTo>
                <a:lnTo>
                  <a:pt x="0" y="89935"/>
                </a:lnTo>
                <a:quadBezTo>
                  <a:pt x="0" y="0"/>
                  <a:pt x="89935" y="0"/>
                </a:quadBezTo>
                <a:close/>
              </a:path>
            </a:pathLst>
          </a:custGeom>
          <a:solidFill>
            <a:srgbClr val="0084FF"/>
          </a:solidFill>
        </p:spPr>
      </p:sp>
      <p:sp>
        <p:nvSpPr>
          <p:cNvPr id="5" name="Shape 2"/>
          <p:cNvSpPr/>
          <p:nvPr/>
        </p:nvSpPr>
        <p:spPr>
          <a:xfrm>
            <a:off x="8760843" y="2084400"/>
            <a:ext cx="0" cy="1252603"/>
          </a:xfrm>
          <a:custGeom>
            <a:avLst/>
            <a:gdLst/>
            <a:ahLst/>
            <a:cxnLst/>
            <a:rect l="l" t="t" r="r" b="b"/>
            <a:pathLst>
              <a:path h="1252603">
                <a:moveTo>
                  <a:pt x="0" y="0"/>
                </a:moveTo>
                <a:moveTo>
                  <a:pt x="0" y="0"/>
                </a:moveTo>
                <a:lnTo>
                  <a:pt x="0" y="1252603"/>
                </a:lnTo>
              </a:path>
            </a:pathLst>
          </a:custGeom>
          <a:noFill/>
          <a:ln w="38100">
            <a:solidFill>
              <a:srgbClr val="2A5899">
                <a:alpha val="36863"/>
              </a:srgbClr>
            </a:solidFill>
            <a:prstDash val="solid"/>
            <a:headEnd type="none"/>
            <a:tailEnd type="none"/>
          </a:ln>
        </p:spPr>
      </p:sp>
      <p:sp>
        <p:nvSpPr>
          <p:cNvPr id="6" name="Shape 3"/>
          <p:cNvSpPr/>
          <p:nvPr/>
        </p:nvSpPr>
        <p:spPr>
          <a:xfrm>
            <a:off x="3813303" y="1722506"/>
            <a:ext cx="3936751" cy="0"/>
          </a:xfrm>
          <a:custGeom>
            <a:avLst/>
            <a:gdLst/>
            <a:ahLst/>
            <a:cxnLst/>
            <a:rect l="l" t="t" r="r" b="b"/>
            <a:pathLst>
              <a:path w="3936751">
                <a:moveTo>
                  <a:pt x="0" y="0"/>
                </a:moveTo>
                <a:moveTo>
                  <a:pt x="0" y="0"/>
                </a:moveTo>
                <a:lnTo>
                  <a:pt x="3936751" y="0"/>
                </a:lnTo>
              </a:path>
            </a:pathLst>
          </a:custGeom>
          <a:noFill/>
          <a:ln w="9525">
            <a:solidFill>
              <a:srgbClr val="2A5899">
                <a:alpha val="58824"/>
              </a:srgbClr>
            </a:solidFill>
            <a:prstDash val="solid"/>
            <a:headEnd type="none"/>
            <a:tailEnd type="none"/>
          </a:ln>
        </p:spPr>
      </p:sp>
      <p:sp>
        <p:nvSpPr>
          <p:cNvPr id="7" name="Shape 4"/>
          <p:cNvSpPr/>
          <p:nvPr/>
        </p:nvSpPr>
        <p:spPr>
          <a:xfrm>
            <a:off x="3785871" y="1722506"/>
            <a:ext cx="805245" cy="0"/>
          </a:xfrm>
          <a:custGeom>
            <a:avLst/>
            <a:gdLst/>
            <a:ahLst/>
            <a:cxnLst/>
            <a:rect l="l" t="t" r="r" b="b"/>
            <a:pathLst>
              <a:path w="805245">
                <a:moveTo>
                  <a:pt x="0" y="0"/>
                </a:moveTo>
                <a:moveTo>
                  <a:pt x="0" y="0"/>
                </a:moveTo>
                <a:lnTo>
                  <a:pt x="805245" y="0"/>
                </a:lnTo>
              </a:path>
            </a:pathLst>
          </a:custGeom>
          <a:noFill/>
          <a:ln w="38100">
            <a:solidFill>
              <a:srgbClr val="2A5899"/>
            </a:solidFill>
            <a:prstDash val="solid"/>
            <a:headEnd type="none"/>
            <a:tailEnd type="none"/>
          </a:ln>
        </p:spPr>
      </p:sp>
      <p:sp>
        <p:nvSpPr>
          <p:cNvPr id="8" name="Shape 5"/>
          <p:cNvSpPr/>
          <p:nvPr/>
        </p:nvSpPr>
        <p:spPr>
          <a:xfrm>
            <a:off x="3023708" y="1359760"/>
            <a:ext cx="577486" cy="577486"/>
          </a:xfrm>
          <a:custGeom>
            <a:avLst/>
            <a:gdLst/>
            <a:ahLst/>
            <a:cxnLst/>
            <a:rect l="l" t="t" r="r" b="b"/>
            <a:pathLst>
              <a:path w="577486" h="577486">
                <a:moveTo>
                  <a:pt x="288743" y="0"/>
                </a:moveTo>
                <a:moveTo>
                  <a:pt x="288743" y="0"/>
                </a:moveTo>
                <a:cubicBezTo>
                  <a:pt x="448104" y="0"/>
                  <a:pt x="577486" y="129381"/>
                  <a:pt x="577486" y="288743"/>
                </a:cubicBezTo>
                <a:cubicBezTo>
                  <a:pt x="577486" y="448104"/>
                  <a:pt x="448104" y="577486"/>
                  <a:pt x="288743" y="577486"/>
                </a:cubicBezTo>
                <a:cubicBezTo>
                  <a:pt x="129381" y="577486"/>
                  <a:pt x="0" y="448104"/>
                  <a:pt x="0" y="288743"/>
                </a:cubicBezTo>
                <a:cubicBezTo>
                  <a:pt x="0" y="129381"/>
                  <a:pt x="129381" y="0"/>
                  <a:pt x="288743" y="0"/>
                </a:cubicBezTo>
                <a:close/>
              </a:path>
            </a:pathLst>
          </a:custGeom>
          <a:solidFill>
            <a:srgbClr val="0084FF"/>
          </a:solidFill>
        </p:spPr>
      </p:sp>
      <p:pic>
        <p:nvPicPr>
          <p:cNvPr id="9" name="Image 1" descr="preencoded.png"/>
          <p:cNvPicPr>
            <a:picLocks noChangeAspect="1"/>
          </p:cNvPicPr>
          <p:nvPr/>
        </p:nvPicPr>
        <p:blipFill>
          <a:blip r:embed="rId5"/>
          <a:stretch>
            <a:fillRect/>
          </a:stretch>
        </p:blipFill>
        <p:spPr>
          <a:xfrm>
            <a:off x="3157217" y="1493270"/>
            <a:ext cx="310467" cy="310467"/>
          </a:xfrm>
          <a:prstGeom prst="rect">
            <a:avLst/>
          </a:prstGeom>
        </p:spPr>
      </p:pic>
      <p:sp>
        <p:nvSpPr>
          <p:cNvPr id="10" name="Shape 6"/>
          <p:cNvSpPr/>
          <p:nvPr/>
        </p:nvSpPr>
        <p:spPr>
          <a:xfrm>
            <a:off x="3813303" y="2854188"/>
            <a:ext cx="3936751" cy="0"/>
          </a:xfrm>
          <a:custGeom>
            <a:avLst/>
            <a:gdLst/>
            <a:ahLst/>
            <a:cxnLst/>
            <a:rect l="l" t="t" r="r" b="b"/>
            <a:pathLst>
              <a:path w="3936751">
                <a:moveTo>
                  <a:pt x="0" y="0"/>
                </a:moveTo>
                <a:moveTo>
                  <a:pt x="0" y="0"/>
                </a:moveTo>
                <a:lnTo>
                  <a:pt x="3936751" y="0"/>
                </a:lnTo>
              </a:path>
            </a:pathLst>
          </a:custGeom>
          <a:noFill/>
          <a:ln w="9525">
            <a:solidFill>
              <a:srgbClr val="2A5899">
                <a:alpha val="56863"/>
              </a:srgbClr>
            </a:solidFill>
            <a:prstDash val="solid"/>
            <a:headEnd type="none"/>
            <a:tailEnd type="none"/>
          </a:ln>
        </p:spPr>
      </p:sp>
      <p:sp>
        <p:nvSpPr>
          <p:cNvPr id="11" name="Shape 7"/>
          <p:cNvSpPr/>
          <p:nvPr/>
        </p:nvSpPr>
        <p:spPr>
          <a:xfrm>
            <a:off x="3785871" y="2854188"/>
            <a:ext cx="805245" cy="0"/>
          </a:xfrm>
          <a:custGeom>
            <a:avLst/>
            <a:gdLst/>
            <a:ahLst/>
            <a:cxnLst/>
            <a:rect l="l" t="t" r="r" b="b"/>
            <a:pathLst>
              <a:path w="805245">
                <a:moveTo>
                  <a:pt x="0" y="0"/>
                </a:moveTo>
                <a:moveTo>
                  <a:pt x="0" y="0"/>
                </a:moveTo>
                <a:lnTo>
                  <a:pt x="805245" y="0"/>
                </a:lnTo>
              </a:path>
            </a:pathLst>
          </a:custGeom>
          <a:noFill/>
          <a:ln w="38100">
            <a:solidFill>
              <a:srgbClr val="2A5899"/>
            </a:solidFill>
            <a:prstDash val="solid"/>
            <a:headEnd type="none"/>
            <a:tailEnd type="none"/>
          </a:ln>
        </p:spPr>
      </p:sp>
      <p:sp>
        <p:nvSpPr>
          <p:cNvPr id="12" name="Shape 8"/>
          <p:cNvSpPr/>
          <p:nvPr/>
        </p:nvSpPr>
        <p:spPr>
          <a:xfrm>
            <a:off x="3023708" y="2491442"/>
            <a:ext cx="577486" cy="577486"/>
          </a:xfrm>
          <a:custGeom>
            <a:avLst/>
            <a:gdLst/>
            <a:ahLst/>
            <a:cxnLst/>
            <a:rect l="l" t="t" r="r" b="b"/>
            <a:pathLst>
              <a:path w="577486" h="577486">
                <a:moveTo>
                  <a:pt x="288743" y="0"/>
                </a:moveTo>
                <a:moveTo>
                  <a:pt x="288743" y="0"/>
                </a:moveTo>
                <a:cubicBezTo>
                  <a:pt x="448104" y="0"/>
                  <a:pt x="577486" y="129381"/>
                  <a:pt x="577486" y="288743"/>
                </a:cubicBezTo>
                <a:cubicBezTo>
                  <a:pt x="577486" y="448104"/>
                  <a:pt x="448104" y="577486"/>
                  <a:pt x="288743" y="577486"/>
                </a:cubicBezTo>
                <a:cubicBezTo>
                  <a:pt x="129381" y="577486"/>
                  <a:pt x="0" y="448104"/>
                  <a:pt x="0" y="288743"/>
                </a:cubicBezTo>
                <a:cubicBezTo>
                  <a:pt x="0" y="129381"/>
                  <a:pt x="129381" y="0"/>
                  <a:pt x="288743" y="0"/>
                </a:cubicBezTo>
                <a:close/>
              </a:path>
            </a:pathLst>
          </a:custGeom>
          <a:solidFill>
            <a:srgbClr val="0084FF"/>
          </a:solidFill>
        </p:spPr>
      </p:sp>
      <p:pic>
        <p:nvPicPr>
          <p:cNvPr id="13" name="Image 2" descr="preencoded.png"/>
          <p:cNvPicPr>
            <a:picLocks noChangeAspect="1"/>
          </p:cNvPicPr>
          <p:nvPr/>
        </p:nvPicPr>
        <p:blipFill>
          <a:blip r:embed="rId6"/>
          <a:stretch>
            <a:fillRect/>
          </a:stretch>
        </p:blipFill>
        <p:spPr>
          <a:xfrm>
            <a:off x="3185349" y="2653083"/>
            <a:ext cx="254203" cy="254203"/>
          </a:xfrm>
          <a:prstGeom prst="rect">
            <a:avLst/>
          </a:prstGeom>
        </p:spPr>
      </p:pic>
      <p:sp>
        <p:nvSpPr>
          <p:cNvPr id="14" name="Shape 9"/>
          <p:cNvSpPr/>
          <p:nvPr/>
        </p:nvSpPr>
        <p:spPr>
          <a:xfrm>
            <a:off x="3813303" y="3985870"/>
            <a:ext cx="3936751" cy="0"/>
          </a:xfrm>
          <a:custGeom>
            <a:avLst/>
            <a:gdLst/>
            <a:ahLst/>
            <a:cxnLst/>
            <a:rect l="l" t="t" r="r" b="b"/>
            <a:pathLst>
              <a:path w="3936751">
                <a:moveTo>
                  <a:pt x="0" y="0"/>
                </a:moveTo>
                <a:moveTo>
                  <a:pt x="0" y="0"/>
                </a:moveTo>
                <a:lnTo>
                  <a:pt x="3936751" y="0"/>
                </a:lnTo>
              </a:path>
            </a:pathLst>
          </a:custGeom>
          <a:noFill/>
          <a:ln w="9525">
            <a:solidFill>
              <a:srgbClr val="2A5899">
                <a:alpha val="58824"/>
              </a:srgbClr>
            </a:solidFill>
            <a:prstDash val="solid"/>
            <a:headEnd type="none"/>
            <a:tailEnd type="none"/>
          </a:ln>
        </p:spPr>
      </p:sp>
      <p:sp>
        <p:nvSpPr>
          <p:cNvPr id="15" name="Shape 10"/>
          <p:cNvSpPr/>
          <p:nvPr/>
        </p:nvSpPr>
        <p:spPr>
          <a:xfrm>
            <a:off x="3785871" y="3985870"/>
            <a:ext cx="805245" cy="0"/>
          </a:xfrm>
          <a:custGeom>
            <a:avLst/>
            <a:gdLst/>
            <a:ahLst/>
            <a:cxnLst/>
            <a:rect l="l" t="t" r="r" b="b"/>
            <a:pathLst>
              <a:path w="805245">
                <a:moveTo>
                  <a:pt x="0" y="0"/>
                </a:moveTo>
                <a:moveTo>
                  <a:pt x="0" y="0"/>
                </a:moveTo>
                <a:lnTo>
                  <a:pt x="805245" y="0"/>
                </a:lnTo>
              </a:path>
            </a:pathLst>
          </a:custGeom>
          <a:noFill/>
          <a:ln w="38100">
            <a:solidFill>
              <a:srgbClr val="2A5899"/>
            </a:solidFill>
            <a:prstDash val="solid"/>
            <a:headEnd type="none"/>
            <a:tailEnd type="none"/>
          </a:ln>
        </p:spPr>
      </p:sp>
      <p:sp>
        <p:nvSpPr>
          <p:cNvPr id="16" name="Shape 11"/>
          <p:cNvSpPr/>
          <p:nvPr/>
        </p:nvSpPr>
        <p:spPr>
          <a:xfrm>
            <a:off x="3023708" y="3623124"/>
            <a:ext cx="577486" cy="577486"/>
          </a:xfrm>
          <a:custGeom>
            <a:avLst/>
            <a:gdLst/>
            <a:ahLst/>
            <a:cxnLst/>
            <a:rect l="l" t="t" r="r" b="b"/>
            <a:pathLst>
              <a:path w="577486" h="577486">
                <a:moveTo>
                  <a:pt x="288743" y="0"/>
                </a:moveTo>
                <a:moveTo>
                  <a:pt x="288743" y="0"/>
                </a:moveTo>
                <a:cubicBezTo>
                  <a:pt x="448104" y="0"/>
                  <a:pt x="577486" y="129381"/>
                  <a:pt x="577486" y="288743"/>
                </a:cubicBezTo>
                <a:cubicBezTo>
                  <a:pt x="577486" y="448104"/>
                  <a:pt x="448104" y="577486"/>
                  <a:pt x="288743" y="577486"/>
                </a:cubicBezTo>
                <a:cubicBezTo>
                  <a:pt x="129381" y="577486"/>
                  <a:pt x="0" y="448104"/>
                  <a:pt x="0" y="288743"/>
                </a:cubicBezTo>
                <a:cubicBezTo>
                  <a:pt x="0" y="129381"/>
                  <a:pt x="129381" y="0"/>
                  <a:pt x="288743" y="0"/>
                </a:cubicBezTo>
                <a:close/>
              </a:path>
            </a:pathLst>
          </a:custGeom>
          <a:solidFill>
            <a:srgbClr val="0084FF"/>
          </a:solidFill>
        </p:spPr>
      </p:sp>
      <p:pic>
        <p:nvPicPr>
          <p:cNvPr id="17" name="Image 3" descr="preencoded.png"/>
          <p:cNvPicPr>
            <a:picLocks noChangeAspect="1"/>
          </p:cNvPicPr>
          <p:nvPr/>
        </p:nvPicPr>
        <p:blipFill>
          <a:blip r:embed="rId7"/>
          <a:stretch>
            <a:fillRect/>
          </a:stretch>
        </p:blipFill>
        <p:spPr>
          <a:xfrm>
            <a:off x="3175291" y="3774707"/>
            <a:ext cx="274320" cy="274320"/>
          </a:xfrm>
          <a:prstGeom prst="rect">
            <a:avLst/>
          </a:prstGeom>
        </p:spPr>
      </p:pic>
      <p:sp>
        <p:nvSpPr>
          <p:cNvPr id="18" name="Text 12"/>
          <p:cNvSpPr/>
          <p:nvPr/>
        </p:nvSpPr>
        <p:spPr>
          <a:xfrm>
            <a:off x="3690665" y="1320170"/>
            <a:ext cx="4865020" cy="384048"/>
          </a:xfrm>
          <a:prstGeom prst="rect">
            <a:avLst/>
          </a:prstGeom>
          <a:noFill/>
        </p:spPr>
        <p:txBody>
          <a:bodyPr wrap="square" lIns="95250" tIns="95250" rIns="95250" bIns="95250" rtlCol="0" anchor="t">
            <a:spAutoFit/>
          </a:bodyPr>
          <a:lstStyle/>
          <a:p>
            <a:pPr marL="0" indent="0">
              <a:lnSpc>
                <a:spcPct val="100000"/>
              </a:lnSpc>
              <a:spcBef>
                <a:spcPts val="375"/>
              </a:spcBef>
              <a:buNone/>
            </a:pPr>
            <a:r>
              <a:rPr lang="en-US" sz="1585" b="1" dirty="0">
                <a:solidFill>
                  <a:srgbClr val="272245"/>
                </a:solidFill>
                <a:latin typeface="Noto Sans" pitchFamily="34" charset="0"/>
                <a:ea typeface="Noto Sans" pitchFamily="34" charset="-122"/>
                <a:cs typeface="Noto Sans" pitchFamily="34" charset="-120"/>
              </a:rPr>
              <a:t>测试原则的重要性</a:t>
            </a:r>
            <a:endParaRPr lang="en-US" sz="1440" dirty="0"/>
          </a:p>
        </p:txBody>
      </p:sp>
      <p:pic>
        <p:nvPicPr>
          <p:cNvPr id="19" name="Image 4" descr="https://sgw-dx.xf-yun.com/api/v1/sparkdesk/_1744117128278530812d5d7744ce0995c064cd406a85b.jpg?authorization=c2ltcGxlLWp3dCBhaz1zcGFya2Rlc2s4MDAwMDAwMDAwMDE7ZXhwPTMzMjA5MTcxMjg7YWxnbz1obWFjLXNoYTI1NjtzaWc9VmJFSWd1TFdrZENmYTJqMUN2N2JxRFBhbUxpeXNFNDMzK2hQQmw1MUtWbz0=&amp;x_location=7YfmxI7B7uKO7jlRxIftd6UoePD="/>
          <p:cNvPicPr>
            <a:picLocks noChangeAspect="1"/>
          </p:cNvPicPr>
          <p:nvPr/>
        </p:nvPicPr>
        <p:blipFill>
          <a:blip r:embed="rId8"/>
          <a:srcRect l="16621" r="16621"/>
          <a:stretch>
            <a:fillRect/>
          </a:stretch>
        </p:blipFill>
        <p:spPr>
          <a:xfrm>
            <a:off x="487254" y="1091878"/>
            <a:ext cx="2364650" cy="3546975"/>
          </a:xfrm>
          <a:prstGeom prst="rect">
            <a:avLst/>
          </a:prstGeom>
        </p:spPr>
      </p:pic>
      <p:sp>
        <p:nvSpPr>
          <p:cNvPr id="20" name="Text 13"/>
          <p:cNvSpPr/>
          <p:nvPr/>
        </p:nvSpPr>
        <p:spPr>
          <a:xfrm>
            <a:off x="3690665" y="1695074"/>
            <a:ext cx="4876204" cy="603504"/>
          </a:xfrm>
          <a:prstGeom prst="rect">
            <a:avLst/>
          </a:prstGeom>
          <a:noFill/>
        </p:spPr>
        <p:txBody>
          <a:bodyPr wrap="square" lIns="95250" tIns="95250" rIns="95250" bIns="95250" rtlCol="0" anchor="t">
            <a:spAutoFit/>
          </a:bodyPr>
          <a:lstStyle/>
          <a:p>
            <a:pPr marL="0" indent="0">
              <a:lnSpc>
                <a:spcPct val="100000"/>
              </a:lnSpc>
              <a:spcBef>
                <a:spcPts val="375"/>
              </a:spcBef>
              <a:buNone/>
            </a:pPr>
            <a:r>
              <a:rPr lang="en-US" sz="1010" dirty="0">
                <a:solidFill>
                  <a:srgbClr val="272245"/>
                </a:solidFill>
                <a:latin typeface="Noto Sans" pitchFamily="34" charset="0"/>
                <a:ea typeface="Noto Sans" pitchFamily="34" charset="-122"/>
                <a:cs typeface="Noto Sans" pitchFamily="34" charset="-120"/>
              </a:rPr>
              <a:t>遵循测试原则是确保软件质量的关键，它帮助开发团队在早期发现并修复缺陷，提高产品的稳定性和用户满意度。</a:t>
            </a:r>
            <a:endParaRPr lang="en-US" sz="1440" dirty="0"/>
          </a:p>
        </p:txBody>
      </p:sp>
      <p:sp>
        <p:nvSpPr>
          <p:cNvPr id="21" name="Text 14"/>
          <p:cNvSpPr/>
          <p:nvPr/>
        </p:nvSpPr>
        <p:spPr>
          <a:xfrm>
            <a:off x="3690665" y="2451852"/>
            <a:ext cx="4865020" cy="384048"/>
          </a:xfrm>
          <a:prstGeom prst="rect">
            <a:avLst/>
          </a:prstGeom>
          <a:noFill/>
        </p:spPr>
        <p:txBody>
          <a:bodyPr wrap="square" lIns="95250" tIns="95250" rIns="95250" bIns="95250" rtlCol="0" anchor="t">
            <a:spAutoFit/>
          </a:bodyPr>
          <a:lstStyle/>
          <a:p>
            <a:pPr marL="0" indent="0">
              <a:lnSpc>
                <a:spcPct val="100000"/>
              </a:lnSpc>
              <a:spcBef>
                <a:spcPts val="375"/>
              </a:spcBef>
              <a:buNone/>
            </a:pPr>
            <a:r>
              <a:rPr lang="en-US" sz="1585" b="1" dirty="0">
                <a:solidFill>
                  <a:srgbClr val="272245"/>
                </a:solidFill>
                <a:latin typeface="Noto Sans" pitchFamily="34" charset="0"/>
                <a:ea typeface="Noto Sans" pitchFamily="34" charset="-122"/>
                <a:cs typeface="Noto Sans" pitchFamily="34" charset="-120"/>
              </a:rPr>
              <a:t>常见的测试原则</a:t>
            </a:r>
            <a:endParaRPr lang="en-US" sz="1440" dirty="0"/>
          </a:p>
        </p:txBody>
      </p:sp>
      <p:sp>
        <p:nvSpPr>
          <p:cNvPr id="22" name="Text 15"/>
          <p:cNvSpPr/>
          <p:nvPr/>
        </p:nvSpPr>
        <p:spPr>
          <a:xfrm>
            <a:off x="3690665" y="2826756"/>
            <a:ext cx="4876204" cy="603504"/>
          </a:xfrm>
          <a:prstGeom prst="rect">
            <a:avLst/>
          </a:prstGeom>
          <a:noFill/>
        </p:spPr>
        <p:txBody>
          <a:bodyPr wrap="square" lIns="95250" tIns="95250" rIns="95250" bIns="95250" rtlCol="0" anchor="t">
            <a:spAutoFit/>
          </a:bodyPr>
          <a:lstStyle/>
          <a:p>
            <a:pPr marL="0" indent="0">
              <a:lnSpc>
                <a:spcPct val="100000"/>
              </a:lnSpc>
              <a:spcBef>
                <a:spcPts val="375"/>
              </a:spcBef>
              <a:buNone/>
            </a:pPr>
            <a:r>
              <a:rPr lang="en-US" sz="1010" dirty="0">
                <a:solidFill>
                  <a:srgbClr val="272245"/>
                </a:solidFill>
                <a:latin typeface="Noto Sans" pitchFamily="34" charset="0"/>
                <a:ea typeface="Noto Sans" pitchFamily="34" charset="-122"/>
                <a:cs typeface="Noto Sans" pitchFamily="34" charset="-120"/>
              </a:rPr>
              <a:t>包括自动化测试、持续集成、测试驱动开发等，这些原则旨在通过系统化的测试方法来提升软件开发的效率和质量。</a:t>
            </a:r>
            <a:endParaRPr lang="en-US" sz="1440" dirty="0"/>
          </a:p>
        </p:txBody>
      </p:sp>
      <p:sp>
        <p:nvSpPr>
          <p:cNvPr id="23" name="Text 16"/>
          <p:cNvSpPr/>
          <p:nvPr/>
        </p:nvSpPr>
        <p:spPr>
          <a:xfrm>
            <a:off x="3690665" y="3583534"/>
            <a:ext cx="4865020" cy="384048"/>
          </a:xfrm>
          <a:prstGeom prst="rect">
            <a:avLst/>
          </a:prstGeom>
          <a:noFill/>
        </p:spPr>
        <p:txBody>
          <a:bodyPr wrap="square" lIns="95250" tIns="95250" rIns="95250" bIns="95250" rtlCol="0" anchor="t">
            <a:spAutoFit/>
          </a:bodyPr>
          <a:lstStyle/>
          <a:p>
            <a:pPr marL="0" indent="0">
              <a:lnSpc>
                <a:spcPct val="100000"/>
              </a:lnSpc>
              <a:spcBef>
                <a:spcPts val="375"/>
              </a:spcBef>
              <a:buNone/>
            </a:pPr>
            <a:r>
              <a:rPr lang="en-US" sz="1585" b="1" dirty="0">
                <a:solidFill>
                  <a:srgbClr val="272245"/>
                </a:solidFill>
                <a:latin typeface="Noto Sans" pitchFamily="34" charset="0"/>
                <a:ea typeface="Noto Sans" pitchFamily="34" charset="-122"/>
                <a:cs typeface="Noto Sans" pitchFamily="34" charset="-120"/>
              </a:rPr>
              <a:t>实施测试原则的挑战</a:t>
            </a:r>
            <a:endParaRPr lang="en-US" sz="1440" dirty="0"/>
          </a:p>
        </p:txBody>
      </p:sp>
      <p:sp>
        <p:nvSpPr>
          <p:cNvPr id="24" name="Text 17"/>
          <p:cNvSpPr/>
          <p:nvPr/>
        </p:nvSpPr>
        <p:spPr>
          <a:xfrm>
            <a:off x="3690665" y="3958438"/>
            <a:ext cx="4876204" cy="603504"/>
          </a:xfrm>
          <a:prstGeom prst="rect">
            <a:avLst/>
          </a:prstGeom>
          <a:noFill/>
        </p:spPr>
        <p:txBody>
          <a:bodyPr wrap="square" lIns="95250" tIns="95250" rIns="95250" bIns="95250" rtlCol="0" anchor="t">
            <a:spAutoFit/>
          </a:bodyPr>
          <a:lstStyle/>
          <a:p>
            <a:pPr marL="0" indent="0">
              <a:lnSpc>
                <a:spcPct val="100000"/>
              </a:lnSpc>
              <a:spcBef>
                <a:spcPts val="375"/>
              </a:spcBef>
              <a:buNone/>
            </a:pPr>
            <a:r>
              <a:rPr lang="en-US" sz="1010" dirty="0">
                <a:solidFill>
                  <a:srgbClr val="272245"/>
                </a:solidFill>
                <a:latin typeface="Noto Sans" pitchFamily="34" charset="0"/>
                <a:ea typeface="Noto Sans" pitchFamily="34" charset="-122"/>
                <a:cs typeface="Noto Sans" pitchFamily="34" charset="-120"/>
              </a:rPr>
              <a:t>尽管测试原则对软件开发至关重要，但在实际操作中，团队可能会面临资源限制、技术障碍等问题，需要灵活调整策略以适应项目需求。</a:t>
            </a:r>
            <a:endParaRPr lang="en-US" sz="144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283641" y="190697"/>
            <a:ext cx="8088253" cy="566928"/>
          </a:xfrm>
          <a:prstGeom prst="rect">
            <a:avLst/>
          </a:prstGeom>
          <a:noFill/>
        </p:spPr>
        <p:txBody>
          <a:bodyPr wrap="square" lIns="95250" tIns="95250" rIns="95250" bIns="95250" rtlCol="0" anchor="t"/>
          <a:lstStyle/>
          <a:p>
            <a:pPr marL="0" indent="0">
              <a:lnSpc>
                <a:spcPct val="113000"/>
              </a:lnSpc>
              <a:spcBef>
                <a:spcPts val="375"/>
              </a:spcBef>
              <a:buNone/>
            </a:pPr>
            <a:r>
              <a:rPr lang="en-US" sz="2015"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提升软件质量</a:t>
            </a:r>
            <a:endParaRPr lang="en-US" sz="1440" dirty="0"/>
          </a:p>
        </p:txBody>
      </p:sp>
      <p:sp>
        <p:nvSpPr>
          <p:cNvPr id="3" name="Text 1"/>
          <p:cNvSpPr/>
          <p:nvPr/>
        </p:nvSpPr>
        <p:spPr>
          <a:xfrm>
            <a:off x="3452602" y="758952"/>
            <a:ext cx="714089" cy="1170432"/>
          </a:xfrm>
          <a:prstGeom prst="rect">
            <a:avLst/>
          </a:prstGeom>
          <a:noFill/>
        </p:spPr>
        <p:txBody>
          <a:bodyPr wrap="square" lIns="95250" tIns="95250" rIns="95250" bIns="95250" rtlCol="0" anchor="t">
            <a:spAutoFit/>
          </a:bodyPr>
          <a:lstStyle/>
          <a:p>
            <a:pPr marL="0" indent="0" algn="ctr">
              <a:lnSpc>
                <a:spcPct val="113000"/>
              </a:lnSpc>
              <a:spcBef>
                <a:spcPts val="375"/>
              </a:spcBef>
              <a:buNone/>
            </a:pPr>
            <a:r>
              <a:rPr lang="en-US" sz="5185" b="1" i="1" dirty="0">
                <a:solidFill>
                  <a:srgbClr val="2A5899"/>
                </a:solidFill>
                <a:latin typeface="Noto Sans" pitchFamily="34" charset="0"/>
                <a:ea typeface="Noto Sans" pitchFamily="34" charset="-122"/>
                <a:cs typeface="Noto Sans" pitchFamily="34" charset="-120"/>
              </a:rPr>
              <a:t>1</a:t>
            </a:r>
            <a:endParaRPr lang="en-US" sz="1440" dirty="0"/>
          </a:p>
        </p:txBody>
      </p:sp>
      <p:sp>
        <p:nvSpPr>
          <p:cNvPr id="4" name="Shape 2"/>
          <p:cNvSpPr/>
          <p:nvPr/>
        </p:nvSpPr>
        <p:spPr>
          <a:xfrm>
            <a:off x="3615896" y="2050927"/>
            <a:ext cx="5095803" cy="0"/>
          </a:xfrm>
          <a:custGeom>
            <a:avLst/>
            <a:gdLst/>
            <a:ahLst/>
            <a:cxnLst/>
            <a:rect l="l" t="t" r="r" b="b"/>
            <a:pathLst>
              <a:path w="5095803">
                <a:moveTo>
                  <a:pt x="0" y="0"/>
                </a:moveTo>
                <a:moveTo>
                  <a:pt x="0" y="0"/>
                </a:moveTo>
                <a:lnTo>
                  <a:pt x="5095803" y="0"/>
                </a:lnTo>
              </a:path>
            </a:pathLst>
          </a:custGeom>
          <a:noFill/>
          <a:ln w="10384">
            <a:solidFill>
              <a:srgbClr val="E1E1E1"/>
            </a:solidFill>
            <a:prstDash val="solid"/>
            <a:headEnd type="none"/>
            <a:tailEnd type="none"/>
          </a:ln>
        </p:spPr>
      </p:sp>
      <p:sp>
        <p:nvSpPr>
          <p:cNvPr id="5" name="Text 3"/>
          <p:cNvSpPr/>
          <p:nvPr/>
        </p:nvSpPr>
        <p:spPr>
          <a:xfrm>
            <a:off x="3452602" y="2059686"/>
            <a:ext cx="714089" cy="1170432"/>
          </a:xfrm>
          <a:prstGeom prst="rect">
            <a:avLst/>
          </a:prstGeom>
          <a:noFill/>
        </p:spPr>
        <p:txBody>
          <a:bodyPr wrap="square" lIns="95250" tIns="95250" rIns="95250" bIns="95250" rtlCol="0" anchor="t">
            <a:spAutoFit/>
          </a:bodyPr>
          <a:lstStyle/>
          <a:p>
            <a:pPr marL="0" indent="0" algn="ctr">
              <a:lnSpc>
                <a:spcPct val="113000"/>
              </a:lnSpc>
              <a:spcBef>
                <a:spcPts val="375"/>
              </a:spcBef>
              <a:buNone/>
            </a:pPr>
            <a:r>
              <a:rPr lang="en-US" sz="5185" b="1" i="1" dirty="0">
                <a:solidFill>
                  <a:srgbClr val="2A5899"/>
                </a:solidFill>
                <a:latin typeface="Noto Sans" pitchFamily="34" charset="0"/>
                <a:ea typeface="Noto Sans" pitchFamily="34" charset="-122"/>
                <a:cs typeface="Noto Sans" pitchFamily="34" charset="-120"/>
              </a:rPr>
              <a:t>2</a:t>
            </a:r>
            <a:endParaRPr lang="en-US" sz="1440" dirty="0"/>
          </a:p>
        </p:txBody>
      </p:sp>
      <p:sp>
        <p:nvSpPr>
          <p:cNvPr id="6" name="Shape 4"/>
          <p:cNvSpPr/>
          <p:nvPr/>
        </p:nvSpPr>
        <p:spPr>
          <a:xfrm>
            <a:off x="3615896" y="3561973"/>
            <a:ext cx="5048676" cy="0"/>
          </a:xfrm>
          <a:custGeom>
            <a:avLst/>
            <a:gdLst/>
            <a:ahLst/>
            <a:cxnLst/>
            <a:rect l="l" t="t" r="r" b="b"/>
            <a:pathLst>
              <a:path w="5048676">
                <a:moveTo>
                  <a:pt x="0" y="0"/>
                </a:moveTo>
                <a:moveTo>
                  <a:pt x="0" y="0"/>
                </a:moveTo>
                <a:lnTo>
                  <a:pt x="5048676" y="0"/>
                </a:lnTo>
              </a:path>
            </a:pathLst>
          </a:custGeom>
          <a:noFill/>
          <a:ln w="10384">
            <a:solidFill>
              <a:srgbClr val="E1E1E1"/>
            </a:solidFill>
            <a:prstDash val="solid"/>
            <a:headEnd type="none"/>
            <a:tailEnd type="none"/>
          </a:ln>
        </p:spPr>
      </p:sp>
      <p:sp>
        <p:nvSpPr>
          <p:cNvPr id="7" name="Text 5"/>
          <p:cNvSpPr/>
          <p:nvPr/>
        </p:nvSpPr>
        <p:spPr>
          <a:xfrm>
            <a:off x="3452602" y="3488436"/>
            <a:ext cx="714089" cy="1170432"/>
          </a:xfrm>
          <a:prstGeom prst="rect">
            <a:avLst/>
          </a:prstGeom>
          <a:noFill/>
        </p:spPr>
        <p:txBody>
          <a:bodyPr wrap="square" lIns="95250" tIns="95250" rIns="95250" bIns="95250" rtlCol="0" anchor="t">
            <a:spAutoFit/>
          </a:bodyPr>
          <a:lstStyle/>
          <a:p>
            <a:pPr marL="0" indent="0" algn="ctr">
              <a:lnSpc>
                <a:spcPct val="113000"/>
              </a:lnSpc>
              <a:spcBef>
                <a:spcPts val="375"/>
              </a:spcBef>
              <a:buNone/>
            </a:pPr>
            <a:r>
              <a:rPr lang="en-US" sz="5185" b="1" i="1" dirty="0">
                <a:solidFill>
                  <a:srgbClr val="2A5899"/>
                </a:solidFill>
                <a:latin typeface="Noto Sans" pitchFamily="34" charset="0"/>
                <a:ea typeface="Noto Sans" pitchFamily="34" charset="-122"/>
                <a:cs typeface="Noto Sans" pitchFamily="34" charset="-120"/>
              </a:rPr>
              <a:t>3</a:t>
            </a:r>
            <a:endParaRPr lang="en-US" sz="1440" dirty="0"/>
          </a:p>
        </p:txBody>
      </p:sp>
      <p:sp>
        <p:nvSpPr>
          <p:cNvPr id="8" name="Text 6"/>
          <p:cNvSpPr/>
          <p:nvPr/>
        </p:nvSpPr>
        <p:spPr>
          <a:xfrm>
            <a:off x="4234035" y="978408"/>
            <a:ext cx="4649660" cy="374904"/>
          </a:xfrm>
          <a:prstGeom prst="rect">
            <a:avLst/>
          </a:prstGeom>
          <a:noFill/>
        </p:spPr>
        <p:txBody>
          <a:bodyPr wrap="square" lIns="95250" tIns="95250" rIns="95250" bIns="95250" rtlCol="0" anchor="ctr"/>
          <a:lstStyle/>
          <a:p>
            <a:pPr marL="0" indent="0">
              <a:lnSpc>
                <a:spcPct val="100000"/>
              </a:lnSpc>
              <a:spcBef>
                <a:spcPts val="375"/>
              </a:spcBef>
              <a:buNone/>
            </a:pPr>
            <a:r>
              <a:rPr lang="en-US" sz="1585" b="1" dirty="0">
                <a:solidFill>
                  <a:srgbClr val="272245"/>
                </a:solidFill>
                <a:latin typeface="Noto Sans" pitchFamily="34" charset="0"/>
                <a:ea typeface="Noto Sans" pitchFamily="34" charset="-122"/>
                <a:cs typeface="Noto Sans" pitchFamily="34" charset="-120"/>
              </a:rPr>
              <a:t>系统流程分析</a:t>
            </a:r>
            <a:endParaRPr lang="en-US" sz="1440" dirty="0"/>
          </a:p>
        </p:txBody>
      </p:sp>
      <p:pic>
        <p:nvPicPr>
          <p:cNvPr id="9" name="Image 0" descr="https://sgw-dx.xf-yun.com/api/v1/sparkdesk/_1744117147387875c0810d8554ae28fb59ff44921a43c.jpg?authorization=c2ltcGxlLWp3dCBhaz1zcGFya2Rlc2s4MDAwMDAwMDAwMDE7ZXhwPTMzMjA5MTcxNDc7YWxnbz1obWFjLXNoYTI1NjtzaWc9Ui9qcW85dmR6UlF0QjJQc2pXeFVYcjRmaFF4Z3VPS2lvcktMeDdPYitUWT0=&amp;x_location=7YfmxI7B7uKO7jlRxIftd6UoePD="/>
          <p:cNvPicPr>
            <a:picLocks noChangeAspect="1"/>
          </p:cNvPicPr>
          <p:nvPr/>
        </p:nvPicPr>
        <p:blipFill>
          <a:blip r:embed="rId4"/>
          <a:srcRect/>
          <a:stretch>
            <a:fillRect/>
          </a:stretch>
        </p:blipFill>
        <p:spPr>
          <a:xfrm>
            <a:off x="228600" y="1255014"/>
            <a:ext cx="3227058" cy="3227058"/>
          </a:xfrm>
          <a:prstGeom prst="rect">
            <a:avLst/>
          </a:prstGeom>
        </p:spPr>
      </p:pic>
      <p:sp>
        <p:nvSpPr>
          <p:cNvPr id="10" name="Text 7"/>
          <p:cNvSpPr/>
          <p:nvPr/>
        </p:nvSpPr>
        <p:spPr>
          <a:xfrm>
            <a:off x="4234035" y="1255014"/>
            <a:ext cx="4647734" cy="548640"/>
          </a:xfrm>
          <a:prstGeom prst="rect">
            <a:avLst/>
          </a:prstGeom>
          <a:noFill/>
        </p:spPr>
        <p:txBody>
          <a:bodyPr wrap="square" lIns="95250" tIns="95250" rIns="95250" bIns="95250" rtlCol="0" anchor="t">
            <a:spAutoFit/>
          </a:bodyPr>
          <a:lstStyle/>
          <a:p>
            <a:pPr marL="0" indent="0">
              <a:lnSpc>
                <a:spcPct val="100000"/>
              </a:lnSpc>
              <a:spcBef>
                <a:spcPts val="375"/>
              </a:spcBef>
              <a:buNone/>
            </a:pPr>
            <a:r>
              <a:rPr lang="en-US" sz="1010" dirty="0">
                <a:solidFill>
                  <a:srgbClr val="272245"/>
                </a:solidFill>
                <a:latin typeface="Noto Sans" pitchFamily="34" charset="0"/>
                <a:ea typeface="Noto Sans" pitchFamily="34" charset="-122"/>
                <a:cs typeface="Noto Sans" pitchFamily="34" charset="-120"/>
              </a:rPr>
              <a:t>通过详细解读系统的内部工作机制，明确模块间的交互顺序及数据流，确保信息高效准确传递。这有助于识别效率瓶颈和错误处理机制，为系统优化提供依据。</a:t>
            </a:r>
            <a:endParaRPr lang="en-US" sz="1440" dirty="0"/>
          </a:p>
        </p:txBody>
      </p:sp>
      <p:sp>
        <p:nvSpPr>
          <p:cNvPr id="11" name="Text 8"/>
          <p:cNvSpPr/>
          <p:nvPr/>
        </p:nvSpPr>
        <p:spPr>
          <a:xfrm>
            <a:off x="4234035" y="2297430"/>
            <a:ext cx="4649660" cy="374904"/>
          </a:xfrm>
          <a:prstGeom prst="rect">
            <a:avLst/>
          </a:prstGeom>
          <a:noFill/>
        </p:spPr>
        <p:txBody>
          <a:bodyPr wrap="square" lIns="95250" tIns="95250" rIns="95250" bIns="95250" rtlCol="0" anchor="ctr"/>
          <a:lstStyle/>
          <a:p>
            <a:pPr marL="0" indent="0">
              <a:lnSpc>
                <a:spcPct val="100000"/>
              </a:lnSpc>
              <a:spcBef>
                <a:spcPts val="375"/>
              </a:spcBef>
              <a:buNone/>
            </a:pPr>
            <a:r>
              <a:rPr lang="en-US" sz="1585" b="1" dirty="0">
                <a:solidFill>
                  <a:srgbClr val="272245"/>
                </a:solidFill>
                <a:latin typeface="Noto Sans" pitchFamily="34" charset="0"/>
                <a:ea typeface="Noto Sans" pitchFamily="34" charset="-122"/>
                <a:cs typeface="Noto Sans" pitchFamily="34" charset="-120"/>
              </a:rPr>
              <a:t>技术选型和组合</a:t>
            </a:r>
            <a:endParaRPr lang="en-US" sz="1440" dirty="0"/>
          </a:p>
        </p:txBody>
      </p:sp>
      <p:sp>
        <p:nvSpPr>
          <p:cNvPr id="12" name="Text 9"/>
          <p:cNvSpPr/>
          <p:nvPr/>
        </p:nvSpPr>
        <p:spPr>
          <a:xfrm>
            <a:off x="4234035" y="2574036"/>
            <a:ext cx="4647734" cy="548640"/>
          </a:xfrm>
          <a:prstGeom prst="rect">
            <a:avLst/>
          </a:prstGeom>
          <a:noFill/>
        </p:spPr>
        <p:txBody>
          <a:bodyPr wrap="square" lIns="95250" tIns="95250" rIns="95250" bIns="95250" rtlCol="0" anchor="t">
            <a:spAutoFit/>
          </a:bodyPr>
          <a:lstStyle/>
          <a:p>
            <a:pPr marL="0" indent="0">
              <a:lnSpc>
                <a:spcPct val="100000"/>
              </a:lnSpc>
              <a:spcBef>
                <a:spcPts val="375"/>
              </a:spcBef>
              <a:buNone/>
            </a:pPr>
            <a:r>
              <a:rPr lang="en-US" sz="1010" dirty="0">
                <a:solidFill>
                  <a:srgbClr val="272245"/>
                </a:solidFill>
                <a:latin typeface="Noto Sans" pitchFamily="34" charset="0"/>
                <a:ea typeface="Noto Sans" pitchFamily="34" charset="-122"/>
                <a:cs typeface="Noto Sans" pitchFamily="34" charset="-120"/>
              </a:rPr>
              <a:t>选择适合的技术栈（如Python、Django、MySQL、Vue.js等），这些技术在独立场景下表现优秀，且能相互兼容，形成一套稳健的技术解决方案。</a:t>
            </a:r>
            <a:endParaRPr lang="en-US" sz="1440" dirty="0"/>
          </a:p>
        </p:txBody>
      </p:sp>
      <p:sp>
        <p:nvSpPr>
          <p:cNvPr id="13" name="Text 10"/>
          <p:cNvSpPr/>
          <p:nvPr/>
        </p:nvSpPr>
        <p:spPr>
          <a:xfrm>
            <a:off x="4234035" y="3707892"/>
            <a:ext cx="4649660" cy="374904"/>
          </a:xfrm>
          <a:prstGeom prst="rect">
            <a:avLst/>
          </a:prstGeom>
          <a:noFill/>
        </p:spPr>
        <p:txBody>
          <a:bodyPr wrap="square" lIns="95250" tIns="95250" rIns="95250" bIns="95250" rtlCol="0" anchor="ctr"/>
          <a:lstStyle/>
          <a:p>
            <a:pPr marL="0" indent="0">
              <a:lnSpc>
                <a:spcPct val="100000"/>
              </a:lnSpc>
              <a:spcBef>
                <a:spcPts val="375"/>
              </a:spcBef>
              <a:buNone/>
            </a:pPr>
            <a:r>
              <a:rPr lang="en-US" sz="1585" b="1" dirty="0">
                <a:solidFill>
                  <a:srgbClr val="272245"/>
                </a:solidFill>
                <a:latin typeface="Noto Sans" pitchFamily="34" charset="0"/>
                <a:ea typeface="Noto Sans" pitchFamily="34" charset="-122"/>
                <a:cs typeface="Noto Sans" pitchFamily="34" charset="-120"/>
              </a:rPr>
              <a:t>数据库设计</a:t>
            </a:r>
            <a:endParaRPr lang="en-US" sz="1440" dirty="0"/>
          </a:p>
        </p:txBody>
      </p:sp>
      <p:sp>
        <p:nvSpPr>
          <p:cNvPr id="14" name="Text 11"/>
          <p:cNvSpPr/>
          <p:nvPr/>
        </p:nvSpPr>
        <p:spPr>
          <a:xfrm>
            <a:off x="4234035" y="3984498"/>
            <a:ext cx="4647734" cy="548640"/>
          </a:xfrm>
          <a:prstGeom prst="rect">
            <a:avLst/>
          </a:prstGeom>
          <a:noFill/>
        </p:spPr>
        <p:txBody>
          <a:bodyPr wrap="square" lIns="95250" tIns="95250" rIns="95250" bIns="95250" rtlCol="0" anchor="t">
            <a:spAutoFit/>
          </a:bodyPr>
          <a:lstStyle/>
          <a:p>
            <a:pPr marL="0" indent="0">
              <a:lnSpc>
                <a:spcPct val="100000"/>
              </a:lnSpc>
              <a:spcBef>
                <a:spcPts val="375"/>
              </a:spcBef>
              <a:buNone/>
            </a:pPr>
            <a:r>
              <a:rPr lang="en-US" sz="1010" dirty="0">
                <a:solidFill>
                  <a:srgbClr val="272245"/>
                </a:solidFill>
                <a:latin typeface="Noto Sans" pitchFamily="34" charset="0"/>
                <a:ea typeface="Noto Sans" pitchFamily="34" charset="-122"/>
                <a:cs typeface="Noto Sans" pitchFamily="34" charset="-120"/>
              </a:rPr>
              <a:t>合理的数据库设计，包括E-R模型结构设计和数据表设计，确保数据的有效管理和存取。这是提升软件质量的重要环节。</a:t>
            </a:r>
            <a:endParaRPr lang="en-US" sz="144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0" y="1892921"/>
            <a:ext cx="4714468" cy="1389888"/>
          </a:xfrm>
          <a:prstGeom prst="rect">
            <a:avLst/>
          </a:prstGeom>
          <a:noFill/>
        </p:spPr>
        <p:txBody>
          <a:bodyPr wrap="square" lIns="95250" tIns="95250" rIns="95250" bIns="95250" rtlCol="0" anchor="t"/>
          <a:lstStyle/>
          <a:p>
            <a:pPr marL="0" indent="0" algn="ctr">
              <a:lnSpc>
                <a:spcPct val="113000"/>
              </a:lnSpc>
              <a:spcBef>
                <a:spcPts val="375"/>
              </a:spcBef>
              <a:buNone/>
            </a:pPr>
            <a:r>
              <a:rPr lang="en-US" sz="6335" b="1" dirty="0">
                <a:solidFill>
                  <a:srgbClr val="FFFFFF">
                    <a:alpha val="10000"/>
                  </a:srgbClr>
                </a:solidFill>
                <a:latin typeface="微软雅黑" panose="020B0503020204020204" pitchFamily="34" charset="-122"/>
                <a:ea typeface="微软雅黑" panose="020B0503020204020204" pitchFamily="34" charset="-122"/>
                <a:cs typeface="微软雅黑" panose="020B0503020204020204" pitchFamily="34" charset="-120"/>
              </a:rPr>
              <a:t>THANKS</a:t>
            </a:r>
            <a:endParaRPr lang="en-US" sz="1440" dirty="0"/>
          </a:p>
        </p:txBody>
      </p:sp>
      <p:sp>
        <p:nvSpPr>
          <p:cNvPr id="3" name="Text 1"/>
          <p:cNvSpPr/>
          <p:nvPr/>
        </p:nvSpPr>
        <p:spPr>
          <a:xfrm>
            <a:off x="0" y="1528972"/>
            <a:ext cx="4714468" cy="1207008"/>
          </a:xfrm>
          <a:prstGeom prst="rect">
            <a:avLst/>
          </a:prstGeom>
          <a:noFill/>
        </p:spPr>
        <p:txBody>
          <a:bodyPr wrap="square" lIns="95250" tIns="95250" rIns="95250" bIns="95250" rtlCol="0" anchor="t"/>
          <a:lstStyle/>
          <a:p>
            <a:pPr marL="0" indent="0" algn="ctr">
              <a:lnSpc>
                <a:spcPct val="113000"/>
              </a:lnSpc>
              <a:spcBef>
                <a:spcPts val="375"/>
              </a:spcBef>
              <a:buNone/>
            </a:pPr>
            <a:r>
              <a:rPr lang="en-US" sz="5185"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感谢观看</a:t>
            </a:r>
            <a:endParaRPr lang="en-US" sz="1440" dirty="0"/>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DIAGRAM_VIRTUALLY_FRAME" val="{&quot;height&quot;:300.30023622047236,&quot;left&quot;:22.827716535433073,&quot;top&quot;:62.159763779527545,&quot;width&quot;:674.3445669291339}"/>
</p:tagLst>
</file>

<file path=ppt/tags/tag2.xml><?xml version="1.0" encoding="utf-8"?>
<p:tagLst xmlns:a="http://schemas.openxmlformats.org/drawingml/2006/main" xmlns:r="http://schemas.openxmlformats.org/officeDocument/2006/relationships" xmlns:p="http://schemas.openxmlformats.org/presentationml/2006/main">
  <p:tag name="KSO_WM_DIAGRAM_VIRTUALLY_FRAME" val="{&quot;height&quot;:300.30023622047236,&quot;left&quot;:22.827716535433073,&quot;top&quot;:62.159763779527545,&quot;width&quot;:674.3445669291339}"/>
</p:tagLst>
</file>

<file path=ppt/tags/tag3.xml><?xml version="1.0" encoding="utf-8"?>
<p:tagLst xmlns:a="http://schemas.openxmlformats.org/drawingml/2006/main" xmlns:r="http://schemas.openxmlformats.org/officeDocument/2006/relationships" xmlns:p="http://schemas.openxmlformats.org/presentationml/2006/main">
  <p:tag name="KSO_WM_DIAGRAM_VIRTUALLY_FRAME" val="{&quot;height&quot;:300.30023622047236,&quot;left&quot;:22.827716535433073,&quot;top&quot;:62.159763779527545,&quot;width&quot;:674.3445669291339}"/>
</p:tagLst>
</file>

<file path=ppt/tags/tag4.xml><?xml version="1.0" encoding="utf-8"?>
<p:tagLst xmlns:a="http://schemas.openxmlformats.org/drawingml/2006/main" xmlns:r="http://schemas.openxmlformats.org/officeDocument/2006/relationships" xmlns:p="http://schemas.openxmlformats.org/presentationml/2006/main">
  <p:tag name="KSO_WM_DIAGRAM_VIRTUALLY_FRAME" val="{&quot;height&quot;:300.30023622047236,&quot;left&quot;:22.827716535433073,&quot;top&quot;:62.159763779527545,&quot;width&quot;:674.3445669291339}"/>
</p:tagLst>
</file>

<file path=ppt/tags/tag5.xml><?xml version="1.0" encoding="utf-8"?>
<p:tagLst xmlns:a="http://schemas.openxmlformats.org/drawingml/2006/main" xmlns:r="http://schemas.openxmlformats.org/officeDocument/2006/relationships" xmlns:p="http://schemas.openxmlformats.org/presentationml/2006/main">
  <p:tag name="KSO_WM_DIAGRAM_VIRTUALLY_FRAME" val="{&quot;height&quot;:300.30023622047236,&quot;left&quot;:22.827716535433073,&quot;top&quot;:62.159763779527545,&quot;width&quot;:674.3445669291339}"/>
</p:tagLst>
</file>

<file path=ppt/tags/tag6.xml><?xml version="1.0" encoding="utf-8"?>
<p:tagLst xmlns:a="http://schemas.openxmlformats.org/drawingml/2006/main" xmlns:r="http://schemas.openxmlformats.org/officeDocument/2006/relationships" xmlns:p="http://schemas.openxmlformats.org/presentationml/2006/main">
  <p:tag name="KSO_WM_DIAGRAM_VIRTUALLY_FRAME" val="{&quot;height&quot;:300.30023622047236,&quot;left&quot;:22.827716535433073,&quot;top&quot;:62.159763779527545,&quot;width&quot;:674.3445669291339}"/>
</p:tagLst>
</file>

<file path=ppt/tags/tag7.xml><?xml version="1.0" encoding="utf-8"?>
<p:tagLst xmlns:a="http://schemas.openxmlformats.org/drawingml/2006/main" xmlns:r="http://schemas.openxmlformats.org/officeDocument/2006/relationships" xmlns:p="http://schemas.openxmlformats.org/presentationml/2006/main">
  <p:tag name="KSO_WM_DIAGRAM_VIRTUALLY_FRAME" val="{&quot;height&quot;:300.30023622047236,&quot;left&quot;:22.827716535433073,&quot;top&quot;:62.159763779527545,&quot;width&quot;:674.3445669291339}"/>
</p:tagLst>
</file>

<file path=ppt/tags/tag8.xml><?xml version="1.0" encoding="utf-8"?>
<p:tagLst xmlns:a="http://schemas.openxmlformats.org/drawingml/2006/main" xmlns:r="http://schemas.openxmlformats.org/officeDocument/2006/relationships" xmlns:p="http://schemas.openxmlformats.org/presentationml/2006/main">
  <p:tag name="KSO_WM_DIAGRAM_VIRTUALLY_FRAME" val="{&quot;height&quot;:300.30023622047236,&quot;left&quot;:22.827716535433073,&quot;top&quot;:62.159763779527545,&quot;width&quot;:674.3445669291339}"/>
</p:tagLst>
</file>

<file path=ppt/tags/tag9.xml><?xml version="1.0" encoding="utf-8"?>
<p:tagLst xmlns:a="http://schemas.openxmlformats.org/drawingml/2006/main" xmlns:r="http://schemas.openxmlformats.org/officeDocument/2006/relationships" xmlns:p="http://schemas.openxmlformats.org/presentationml/2006/main">
  <p:tag name="KSO_WM_DIAGRAM_VIRTUALLY_FRAME" val="{&quot;height&quot;:300.30023622047236,&quot;left&quot;:22.827716535433073,&quot;top&quot;:62.159763779527545,&quot;width&quot;:674.3445669291339}"/>
</p:tagLst>
</file>

<file path=ppt/tags/tag10.xml><?xml version="1.0" encoding="utf-8"?>
<p:tagLst xmlns:a="http://schemas.openxmlformats.org/drawingml/2006/main" xmlns:r="http://schemas.openxmlformats.org/officeDocument/2006/relationships" xmlns:p="http://schemas.openxmlformats.org/presentationml/2006/main">
  <p:tag name="KSO_WM_DIAGRAM_VIRTUALLY_FRAME" val="{&quot;height&quot;:300.30023622047236,&quot;left&quot;:22.827716535433073,&quot;top&quot;:62.159763779527545,&quot;width&quot;:674.3445669291339}"/>
</p:tagLst>
</file>

<file path=ppt/tags/tag11.xml><?xml version="1.0" encoding="utf-8"?>
<p:tagLst xmlns:a="http://schemas.openxmlformats.org/drawingml/2006/main" xmlns:r="http://schemas.openxmlformats.org/officeDocument/2006/relationships" xmlns:p="http://schemas.openxmlformats.org/presentationml/2006/main">
  <p:tag name="KSO_WM_DIAGRAM_VIRTUALLY_FRAME" val="{&quot;height&quot;:300.30023622047236,&quot;left&quot;:22.827716535433073,&quot;top&quot;:62.159763779527545,&quot;width&quot;:674.3445669291339}"/>
</p:tagLst>
</file>

<file path=ppt/tags/tag12.xml><?xml version="1.0" encoding="utf-8"?>
<p:tagLst xmlns:a="http://schemas.openxmlformats.org/drawingml/2006/main" xmlns:r="http://schemas.openxmlformats.org/officeDocument/2006/relationships" xmlns:p="http://schemas.openxmlformats.org/presentationml/2006/main">
  <p:tag name="KSO_WM_DIAGRAM_VIRTUALLY_FRAME" val="{&quot;height&quot;:300.30023622047236,&quot;left&quot;:22.827716535433073,&quot;top&quot;:62.159763779527545,&quot;width&quot;:674.3445669291339}"/>
</p:tagLst>
</file>

<file path=ppt/tags/tag13.xml><?xml version="1.0" encoding="utf-8"?>
<p:tagLst xmlns:a="http://schemas.openxmlformats.org/drawingml/2006/main" xmlns:r="http://schemas.openxmlformats.org/officeDocument/2006/relationships" xmlns:p="http://schemas.openxmlformats.org/presentationml/2006/main">
  <p:tag name="KSO_WM_DIAGRAM_VIRTUALLY_FRAME" val="{&quot;height&quot;:300.30023622047236,&quot;left&quot;:22.827716535433073,&quot;top&quot;:62.159763779527545,&quot;width&quot;:674.3445669291339}"/>
</p:tagLst>
</file>

<file path=ppt/tags/tag14.xml><?xml version="1.0" encoding="utf-8"?>
<p:tagLst xmlns:a="http://schemas.openxmlformats.org/drawingml/2006/main" xmlns:r="http://schemas.openxmlformats.org/officeDocument/2006/relationships" xmlns:p="http://schemas.openxmlformats.org/presentationml/2006/main">
  <p:tag name="KSO_WM_DIAGRAM_VIRTUALLY_FRAME" val="{&quot;height&quot;:300.30023622047236,&quot;left&quot;:22.827716535433073,&quot;top&quot;:62.159763779527545,&quot;width&quot;:674.3445669291339}"/>
</p:tagLst>
</file>

<file path=ppt/tags/tag15.xml><?xml version="1.0" encoding="utf-8"?>
<p:tagLst xmlns:a="http://schemas.openxmlformats.org/drawingml/2006/main" xmlns:r="http://schemas.openxmlformats.org/officeDocument/2006/relationships" xmlns:p="http://schemas.openxmlformats.org/presentationml/2006/main">
  <p:tag name="KSO_WM_DIAGRAM_VIRTUALLY_FRAME" val="{&quot;height&quot;:300.30023622047236,&quot;left&quot;:22.827716535433073,&quot;top&quot;:62.159763779527545,&quot;width&quot;:674.3445669291339}"/>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937</Words>
  <Application>Microsoft Office PowerPoint</Application>
  <PresentationFormat>全屏显示(16:9)</PresentationFormat>
  <Paragraphs>293</Paragraphs>
  <Slides>38</Slides>
  <Notes>38</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38</vt:i4>
      </vt:variant>
    </vt:vector>
  </HeadingPairs>
  <TitlesOfParts>
    <vt:vector size="43" baseType="lpstr">
      <vt:lpstr>微软雅黑</vt:lpstr>
      <vt:lpstr>Arial</vt:lpstr>
      <vt:lpstr>Calibri</vt:lpstr>
      <vt:lpstr>Noto Sans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A01</cp:lastModifiedBy>
  <cp:revision>2</cp:revision>
  <dcterms:created xsi:type="dcterms:W3CDTF">2025-04-08T12:59:00Z</dcterms:created>
  <dcterms:modified xsi:type="dcterms:W3CDTF">2025-04-08T13:41:50Z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30DE3B0F895E44D782F5E9956B91A9A9_12</vt:lpwstr>
  </property>
  <property fmtid="{D5CDD505-2E9C-101B-9397-08002B2CF9AE}" pid="3" name="KSOProductBuildVer">
    <vt:lpwstr>2052-12.1.0.20784</vt:lpwstr>
  </property>
</Properties>
</file>